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9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00FDFF"/>
    <a:srgbClr val="00B2A5"/>
    <a:srgbClr val="00D9C7"/>
    <a:srgbClr val="73FDD6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79922" autoAdjust="0"/>
  </p:normalViewPr>
  <p:slideViewPr>
    <p:cSldViewPr snapToGrid="0">
      <p:cViewPr varScale="1">
        <p:scale>
          <a:sx n="92" d="100"/>
          <a:sy n="92" d="100"/>
        </p:scale>
        <p:origin x="179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02455" y="6066229"/>
            <a:ext cx="2811352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https://www.youtube.com/@AmelOline/videos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8153" y="5809684"/>
            <a:ext cx="178239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https://github.com/siagianp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5399" y="6276607"/>
            <a:ext cx="402301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https://github.com/amelcharolinesgn2/IoT_simulator-mqtt-NodeRed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849474" y="332644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2132736"/>
            <a:ext cx="9347200" cy="771712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b="1" dirty="0" smtClean="0"/>
          </a:p>
        </p:txBody>
      </p:sp>
      <p:sp>
        <p:nvSpPr>
          <p:cNvPr id="5" name="Rectangle 4"/>
          <p:cNvSpPr/>
          <p:nvPr/>
        </p:nvSpPr>
        <p:spPr>
          <a:xfrm>
            <a:off x="8085399" y="6425847"/>
            <a:ext cx="3388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github.com/amelcharolinesgn2/ANJAR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1460" y="283215"/>
            <a:ext cx="87810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 smtClean="0">
                <a:solidFill>
                  <a:srgbClr val="002060"/>
                </a:solidFill>
              </a:rPr>
              <a:t>Komunikasi</a:t>
            </a:r>
            <a:r>
              <a:rPr lang="en-US" sz="3600" b="1" dirty="0" smtClean="0">
                <a:solidFill>
                  <a:srgbClr val="002060"/>
                </a:solidFill>
              </a:rPr>
              <a:t> Data  &amp;&amp;&amp; </a:t>
            </a:r>
            <a:r>
              <a:rPr lang="en-US" sz="3600" b="1" dirty="0" err="1" smtClean="0">
                <a:solidFill>
                  <a:srgbClr val="002060"/>
                </a:solidFill>
              </a:rPr>
              <a:t>Jaringan</a:t>
            </a:r>
            <a:r>
              <a:rPr lang="en-US" sz="3600" b="1" dirty="0" smtClean="0">
                <a:solidFill>
                  <a:srgbClr val="002060"/>
                </a:solidFill>
              </a:rPr>
              <a:t> </a:t>
            </a:r>
            <a:r>
              <a:rPr lang="en-US" sz="3600" b="1" dirty="0" err="1" smtClean="0">
                <a:solidFill>
                  <a:srgbClr val="002060"/>
                </a:solidFill>
              </a:rPr>
              <a:t>Komputer</a:t>
            </a:r>
            <a:endParaRPr lang="en-US" sz="3600" b="1" dirty="0" smtClean="0">
              <a:solidFill>
                <a:srgbClr val="002060"/>
              </a:solidFill>
            </a:endParaRPr>
          </a:p>
          <a:p>
            <a:pPr algn="ctr"/>
            <a:r>
              <a:rPr lang="en-US" sz="3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Network Communication</a:t>
            </a:r>
            <a:endParaRPr lang="en-US" sz="1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5202" y="883378"/>
            <a:ext cx="22955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Transmisi Data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b="1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Pengkodean Data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Teknik Komunikasi Data Digital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Link Control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Multiplexing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Switching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Medium Access Sublayer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Network Layer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68502" y="3100343"/>
            <a:ext cx="369440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en-US" sz="5400" dirty="0" smtClean="0">
                <a:solidFill>
                  <a:srgbClr val="002060"/>
                </a:solidFill>
              </a:rPr>
              <a:t>Multiplexing</a:t>
            </a:r>
            <a:endParaRPr lang="en-US" sz="5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991" y="181120"/>
            <a:ext cx="7620000" cy="715962"/>
          </a:xfrm>
        </p:spPr>
        <p:txBody>
          <a:bodyPr/>
          <a:lstStyle/>
          <a:p>
            <a:r>
              <a:rPr lang="en-US" dirty="0" smtClean="0"/>
              <a:t>Multiplexing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535" y="1066800"/>
            <a:ext cx="11211791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/>
              <a:t>Multiplex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mengkombinasikan</a:t>
            </a:r>
            <a:r>
              <a:rPr lang="en-US" dirty="0" smtClean="0"/>
              <a:t> </a:t>
            </a:r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(analog </a:t>
            </a:r>
            <a:r>
              <a:rPr lang="en-US" dirty="0" err="1" smtClean="0"/>
              <a:t>atau</a:t>
            </a:r>
            <a:r>
              <a:rPr lang="en-US" dirty="0" smtClean="0"/>
              <a:t> digital)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ditransmisikan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media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saluran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Cara </a:t>
            </a:r>
            <a:r>
              <a:rPr lang="en-US" dirty="0" err="1" smtClean="0"/>
              <a:t>umum</a:t>
            </a:r>
            <a:r>
              <a:rPr lang="en-US" dirty="0" smtClean="0"/>
              <a:t>  multiplexing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mengkombinasikan</a:t>
            </a:r>
            <a:r>
              <a:rPr lang="en-US" dirty="0" smtClean="0"/>
              <a:t> </a:t>
            </a:r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berkecepatan</a:t>
            </a:r>
            <a:r>
              <a:rPr lang="en-US" dirty="0" smtClean="0"/>
              <a:t> </a:t>
            </a:r>
            <a:r>
              <a:rPr lang="en-US" dirty="0" err="1" smtClean="0"/>
              <a:t>rendah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saluran</a:t>
            </a:r>
            <a:r>
              <a:rPr lang="en-US" dirty="0" smtClean="0"/>
              <a:t> </a:t>
            </a:r>
            <a:r>
              <a:rPr lang="en-US" dirty="0" err="1" smtClean="0"/>
              <a:t>berkecepatan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Multiplexer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sirkuit</a:t>
            </a:r>
            <a:r>
              <a:rPr lang="en-US" dirty="0" smtClean="0"/>
              <a:t> yang </a:t>
            </a:r>
            <a:r>
              <a:rPr lang="en-US" dirty="0" err="1" smtClean="0"/>
              <a:t>berfungsi</a:t>
            </a:r>
            <a:r>
              <a:rPr lang="en-US" dirty="0" smtClean="0"/>
              <a:t> </a:t>
            </a:r>
            <a:r>
              <a:rPr lang="en-US" dirty="0" err="1" smtClean="0"/>
              <a:t>menggabungkan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elektrik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1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tunggal</a:t>
            </a:r>
            <a:r>
              <a:rPr lang="en-US" dirty="0" smtClean="0"/>
              <a:t>.</a:t>
            </a:r>
          </a:p>
          <a:p>
            <a:pPr lvl="0" algn="just"/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b="1" dirty="0"/>
              <a:t>multiplex 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Menghemat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seefisien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Kapasitas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telekomunikasi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semaksimal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permintaan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penyaluran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terminal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yang </a:t>
            </a:r>
            <a:r>
              <a:rPr lang="en-US" dirty="0" err="1"/>
              <a:t>sama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A78CF-E13F-484E-A5A8-21E7A857CFA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4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457200"/>
            <a:ext cx="8153400" cy="5943600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lang="en-US" b="1" dirty="0" err="1"/>
              <a:t>Fungsi</a:t>
            </a:r>
            <a:r>
              <a:rPr lang="en-US" b="1" dirty="0"/>
              <a:t> multiplex: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mesin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Memetakan</a:t>
            </a:r>
            <a:r>
              <a:rPr lang="en-US" dirty="0"/>
              <a:t> 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b="1" dirty="0" err="1"/>
              <a:t>Keterangan</a:t>
            </a:r>
            <a:r>
              <a:rPr lang="en-US" b="1" dirty="0"/>
              <a:t>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/>
              <a:t>Multiplexer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demultiplexer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n channel yang </a:t>
            </a:r>
            <a:r>
              <a:rPr lang="en-US" dirty="0" err="1"/>
              <a:t>terpisah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/>
              <a:t>Multiplexer </a:t>
            </a:r>
            <a:r>
              <a:rPr lang="en-US" dirty="0" err="1"/>
              <a:t>menggabungkan</a:t>
            </a:r>
            <a:r>
              <a:rPr lang="en-US" dirty="0"/>
              <a:t> multiplexing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input n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mentransmisikannya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berkapasitas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Demultiplexer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 smtClean="0"/>
              <a:t>dimultiplexkan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memisahkan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channel,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 smtClean="0"/>
              <a:t>mengirimkannya</a:t>
            </a:r>
            <a:endParaRPr lang="en-US" dirty="0"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81200"/>
            <a:ext cx="516255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0DDB-E559-4959-BEC8-8B0F030C51E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6" y="235744"/>
            <a:ext cx="76200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Contoh</a:t>
            </a:r>
            <a:r>
              <a:rPr lang="en-US" dirty="0" smtClean="0"/>
              <a:t> FDM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18" y="762000"/>
            <a:ext cx="11180618" cy="5638800"/>
          </a:xfrm>
        </p:spPr>
        <p:txBody>
          <a:bodyPr>
            <a:normAutofit/>
          </a:bodyPr>
          <a:lstStyle/>
          <a:p>
            <a:pPr lvl="0" algn="just"/>
            <a:r>
              <a:rPr lang="en-US" sz="1800" dirty="0" err="1"/>
              <a:t>Misalkan</a:t>
            </a:r>
            <a:r>
              <a:rPr lang="en-US" sz="1800" dirty="0"/>
              <a:t> </a:t>
            </a:r>
            <a:r>
              <a:rPr lang="en-US" sz="1800" dirty="0" err="1"/>
              <a:t>diketahui</a:t>
            </a:r>
            <a:r>
              <a:rPr lang="en-US" sz="1800" dirty="0"/>
              <a:t> </a:t>
            </a:r>
            <a:r>
              <a:rPr lang="en-US" sz="1800" dirty="0" err="1"/>
              <a:t>kanal</a:t>
            </a:r>
            <a:r>
              <a:rPr lang="en-US" sz="1800" dirty="0"/>
              <a:t> </a:t>
            </a:r>
            <a:r>
              <a:rPr lang="en-US" sz="1800" dirty="0" err="1"/>
              <a:t>komunikasi</a:t>
            </a:r>
            <a:r>
              <a:rPr lang="en-US" sz="1800" dirty="0"/>
              <a:t> </a:t>
            </a:r>
            <a:r>
              <a:rPr lang="en-US" sz="1800" dirty="0" err="1"/>
              <a:t>suara</a:t>
            </a:r>
            <a:r>
              <a:rPr lang="en-US" sz="1800" dirty="0"/>
              <a:t> </a:t>
            </a:r>
            <a:r>
              <a:rPr lang="en-US" sz="1800" dirty="0" err="1"/>
              <a:t>berupa</a:t>
            </a:r>
            <a:r>
              <a:rPr lang="en-US" sz="1800" dirty="0"/>
              <a:t> </a:t>
            </a:r>
            <a:r>
              <a:rPr lang="en-US" sz="1800" dirty="0" err="1"/>
              <a:t>kabel</a:t>
            </a:r>
            <a:r>
              <a:rPr lang="en-US" sz="1800" dirty="0"/>
              <a:t> voice grade </a:t>
            </a:r>
            <a:r>
              <a:rPr lang="en-US" sz="1800" dirty="0" err="1"/>
              <a:t>mempunyai</a:t>
            </a:r>
            <a:r>
              <a:rPr lang="en-US" sz="1800" dirty="0"/>
              <a:t> </a:t>
            </a:r>
            <a:r>
              <a:rPr lang="en-US" sz="1800" dirty="0" err="1"/>
              <a:t>lebar</a:t>
            </a:r>
            <a:r>
              <a:rPr lang="en-US" sz="1800" dirty="0"/>
              <a:t> </a:t>
            </a:r>
            <a:r>
              <a:rPr lang="en-US" sz="1800" dirty="0" err="1"/>
              <a:t>frekuensi</a:t>
            </a:r>
            <a:r>
              <a:rPr lang="en-US" sz="1800" dirty="0"/>
              <a:t> 300 – 3000 Hz. Dg multiplexing FDM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1 terminal.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keperluan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4 </a:t>
            </a:r>
            <a:r>
              <a:rPr lang="en-US" sz="1800" dirty="0" err="1"/>
              <a:t>pembawa</a:t>
            </a:r>
            <a:r>
              <a:rPr lang="en-US" sz="1800" dirty="0"/>
              <a:t>, </a:t>
            </a:r>
            <a:r>
              <a:rPr lang="en-US" sz="1800" dirty="0" err="1"/>
              <a:t>misalnya</a:t>
            </a:r>
            <a:r>
              <a:rPr lang="en-US" sz="1800" dirty="0"/>
              <a:t> 600, 1200, 1800, 2400 Hz.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berarti</a:t>
            </a:r>
            <a:r>
              <a:rPr lang="en-US" sz="1800" dirty="0"/>
              <a:t> data </a:t>
            </a:r>
            <a:r>
              <a:rPr lang="en-US" sz="1800" dirty="0" err="1"/>
              <a:t>dari</a:t>
            </a:r>
            <a:r>
              <a:rPr lang="en-US" sz="1800" dirty="0"/>
              <a:t> 4 </a:t>
            </a:r>
            <a:r>
              <a:rPr lang="en-US" sz="1800" dirty="0" err="1"/>
              <a:t>buah</a:t>
            </a:r>
            <a:r>
              <a:rPr lang="en-US" sz="1800" dirty="0"/>
              <a:t> </a:t>
            </a:r>
            <a:r>
              <a:rPr lang="en-US" sz="1800" dirty="0" err="1"/>
              <a:t>sumber</a:t>
            </a:r>
            <a:r>
              <a:rPr lang="en-US" sz="1800" dirty="0"/>
              <a:t> </a:t>
            </a:r>
            <a:r>
              <a:rPr lang="en-US" sz="1800" dirty="0" err="1"/>
              <a:t>dpt</a:t>
            </a:r>
            <a:r>
              <a:rPr lang="en-US" sz="1800" dirty="0"/>
              <a:t> </a:t>
            </a:r>
            <a:r>
              <a:rPr lang="en-US" sz="1800" dirty="0" err="1"/>
              <a:t>dikirimkan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bersamaan</a:t>
            </a:r>
            <a:r>
              <a:rPr lang="en-US" sz="1800" dirty="0"/>
              <a:t>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dgn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saluran</a:t>
            </a:r>
            <a:r>
              <a:rPr lang="en-US" sz="1800" dirty="0"/>
              <a:t> voice grade. </a:t>
            </a:r>
            <a:r>
              <a:rPr lang="en-US" sz="1800" dirty="0" err="1"/>
              <a:t>Bilangan</a:t>
            </a:r>
            <a:r>
              <a:rPr lang="en-US" sz="1800" dirty="0"/>
              <a:t> </a:t>
            </a:r>
            <a:r>
              <a:rPr lang="en-US" sz="1800" dirty="0" err="1"/>
              <a:t>biner</a:t>
            </a:r>
            <a:r>
              <a:rPr lang="en-US" sz="1800" dirty="0"/>
              <a:t> “1” </a:t>
            </a:r>
            <a:r>
              <a:rPr lang="en-US" sz="1800" dirty="0" err="1"/>
              <a:t>diwakili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800, 1400, 2000, 2600 Hz, </a:t>
            </a:r>
            <a:r>
              <a:rPr lang="en-US" sz="1800" dirty="0" err="1"/>
              <a:t>sedangkan</a:t>
            </a:r>
            <a:r>
              <a:rPr lang="en-US" sz="1800" dirty="0"/>
              <a:t> </a:t>
            </a:r>
            <a:r>
              <a:rPr lang="en-US" sz="1800" dirty="0" err="1"/>
              <a:t>biner</a:t>
            </a:r>
            <a:r>
              <a:rPr lang="en-US" sz="1800" dirty="0"/>
              <a:t> “0” </a:t>
            </a:r>
            <a:r>
              <a:rPr lang="en-US" sz="1800" dirty="0" err="1"/>
              <a:t>diwakili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400, 1000, 1600, 2200 Hz. </a:t>
            </a:r>
            <a:r>
              <a:rPr lang="en-US" sz="1800" dirty="0" err="1"/>
              <a:t>Utk</a:t>
            </a:r>
            <a:r>
              <a:rPr lang="en-US" sz="1800" dirty="0"/>
              <a:t> </a:t>
            </a:r>
            <a:r>
              <a:rPr lang="en-US" sz="1800" dirty="0" err="1"/>
              <a:t>mencegah</a:t>
            </a:r>
            <a:r>
              <a:rPr lang="en-US" sz="1800" dirty="0"/>
              <a:t> </a:t>
            </a:r>
            <a:r>
              <a:rPr lang="en-US" sz="1800" dirty="0" err="1"/>
              <a:t>interferensi</a:t>
            </a:r>
            <a:r>
              <a:rPr lang="en-US" sz="1800" dirty="0"/>
              <a:t>, </a:t>
            </a:r>
            <a:r>
              <a:rPr lang="en-US" sz="1800" dirty="0" err="1"/>
              <a:t>tiap-tiap</a:t>
            </a:r>
            <a:r>
              <a:rPr lang="en-US" sz="1800" dirty="0"/>
              <a:t> band </a:t>
            </a:r>
            <a:r>
              <a:rPr lang="en-US" sz="1800" dirty="0" err="1"/>
              <a:t>dipisahkan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jalur</a:t>
            </a:r>
            <a:r>
              <a:rPr lang="en-US" sz="1800" dirty="0"/>
              <a:t> </a:t>
            </a:r>
            <a:r>
              <a:rPr lang="en-US" sz="1800" dirty="0" err="1"/>
              <a:t>selebar</a:t>
            </a:r>
            <a:r>
              <a:rPr lang="en-US" sz="1800" dirty="0"/>
              <a:t> 200 Hz.</a:t>
            </a:r>
          </a:p>
          <a:p>
            <a:pPr algn="just"/>
            <a:r>
              <a:rPr lang="en-US" sz="1800" dirty="0" err="1"/>
              <a:t>Jadi</a:t>
            </a:r>
            <a:r>
              <a:rPr lang="en-US" sz="1800" dirty="0"/>
              <a:t> </a:t>
            </a:r>
            <a:r>
              <a:rPr lang="en-US" sz="1800" dirty="0" err="1"/>
              <a:t>penerima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memisahkan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</a:t>
            </a:r>
            <a:r>
              <a:rPr lang="en-US" sz="1800" dirty="0" err="1"/>
              <a:t>yg</a:t>
            </a:r>
            <a:r>
              <a:rPr lang="en-US" sz="1800" dirty="0"/>
              <a:t> </a:t>
            </a:r>
            <a:r>
              <a:rPr lang="en-US" sz="1800" dirty="0" err="1"/>
              <a:t>diterima</a:t>
            </a:r>
            <a:r>
              <a:rPr lang="en-US" sz="1800" dirty="0"/>
              <a:t> </a:t>
            </a:r>
            <a:r>
              <a:rPr lang="en-US" sz="1800" dirty="0" err="1"/>
              <a:t>berdasarkan</a:t>
            </a:r>
            <a:r>
              <a:rPr lang="en-US" sz="1800" dirty="0"/>
              <a:t> </a:t>
            </a:r>
            <a:r>
              <a:rPr lang="en-US" sz="1800" dirty="0" err="1"/>
              <a:t>frekuensinya</a:t>
            </a:r>
            <a:r>
              <a:rPr lang="en-US" sz="1800" dirty="0"/>
              <a:t>, </a:t>
            </a:r>
            <a:r>
              <a:rPr lang="en-US" sz="1800" dirty="0" err="1"/>
              <a:t>lalu</a:t>
            </a:r>
            <a:r>
              <a:rPr lang="en-US" sz="1800" dirty="0"/>
              <a:t> </a:t>
            </a:r>
            <a:r>
              <a:rPr lang="en-US" sz="1800" dirty="0" err="1"/>
              <a:t>disalurkan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tempat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yg</a:t>
            </a:r>
            <a:r>
              <a:rPr lang="en-US" sz="1800" dirty="0"/>
              <a:t> </a:t>
            </a:r>
            <a:r>
              <a:rPr lang="en-US" sz="1800" dirty="0" err="1"/>
              <a:t>dikehendaki</a:t>
            </a:r>
            <a:r>
              <a:rPr lang="en-US" sz="1800" dirty="0"/>
              <a:t>.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3981450"/>
            <a:ext cx="44291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3A90-5873-49E2-9EA6-152DFB9EA81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0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873" y="205991"/>
            <a:ext cx="7620000" cy="715962"/>
          </a:xfrm>
        </p:spPr>
        <p:txBody>
          <a:bodyPr/>
          <a:lstStyle/>
          <a:p>
            <a:r>
              <a:rPr lang="en-US" dirty="0" err="1"/>
              <a:t>Teknik</a:t>
            </a:r>
            <a:r>
              <a:rPr lang="en-US" dirty="0"/>
              <a:t> Multiplexing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3" y="893065"/>
            <a:ext cx="11374581" cy="54102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 smtClean="0"/>
              <a:t>2. Time </a:t>
            </a:r>
            <a:r>
              <a:rPr lang="en-US" b="1" dirty="0"/>
              <a:t>Division Multiplexing (TDM)</a:t>
            </a:r>
          </a:p>
          <a:p>
            <a:pPr lvl="0" algn="just"/>
            <a:r>
              <a:rPr lang="en-US" dirty="0" err="1"/>
              <a:t>Metodenya</a:t>
            </a:r>
            <a:r>
              <a:rPr lang="en-US" dirty="0"/>
              <a:t> </a:t>
            </a:r>
            <a:r>
              <a:rPr lang="en-US" dirty="0" err="1"/>
              <a:t>melewatkan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segment / frame</a:t>
            </a:r>
          </a:p>
          <a:p>
            <a:pPr lvl="0" algn="just"/>
            <a:r>
              <a:rPr lang="en-US" dirty="0" err="1"/>
              <a:t>Pengiriman</a:t>
            </a:r>
            <a:r>
              <a:rPr lang="en-US" dirty="0"/>
              <a:t> data </a:t>
            </a:r>
            <a:r>
              <a:rPr lang="en-US" dirty="0" err="1"/>
              <a:t>menggunakan</a:t>
            </a:r>
            <a:r>
              <a:rPr lang="en-US" dirty="0"/>
              <a:t> TDM </a:t>
            </a:r>
            <a:r>
              <a:rPr lang="en-US" dirty="0" err="1"/>
              <a:t>dilakukan</a:t>
            </a:r>
            <a:r>
              <a:rPr lang="en-US" dirty="0"/>
              <a:t> dg </a:t>
            </a:r>
            <a:r>
              <a:rPr lang="en-US" dirty="0" err="1"/>
              <a:t>mencampur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data </a:t>
            </a:r>
            <a:r>
              <a:rPr lang="en-US" dirty="0" err="1"/>
              <a:t>tsb</a:t>
            </a:r>
            <a:r>
              <a:rPr lang="en-US" dirty="0"/>
              <a:t> </a:t>
            </a:r>
            <a:r>
              <a:rPr lang="en-US" dirty="0" err="1"/>
              <a:t>dikirimkan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 TDM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digital.</a:t>
            </a:r>
          </a:p>
          <a:p>
            <a:pPr lvl="0" algn="just"/>
            <a:r>
              <a:rPr lang="en-US" dirty="0" err="1"/>
              <a:t>Contoh</a:t>
            </a:r>
            <a:r>
              <a:rPr lang="en-US" dirty="0"/>
              <a:t> : GSM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telepon</a:t>
            </a:r>
            <a:endParaRPr lang="en-US" dirty="0"/>
          </a:p>
          <a:p>
            <a:endParaRPr lang="en-US" dirty="0"/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982" y="3816218"/>
            <a:ext cx="5410200" cy="251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8DDD-D0AC-4B09-B891-7635BC51CF9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3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55" y="183359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Jenis-Jenis</a:t>
            </a:r>
            <a:r>
              <a:rPr lang="en-US" dirty="0" smtClean="0"/>
              <a:t>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914400"/>
            <a:ext cx="9029700" cy="5486400"/>
          </a:xfrm>
        </p:spPr>
        <p:txBody>
          <a:bodyPr/>
          <a:lstStyle/>
          <a:p>
            <a:pPr marL="571500" indent="-457200">
              <a:buAutoNum type="arabicPeriod"/>
            </a:pPr>
            <a:r>
              <a:rPr lang="en-US" b="1" dirty="0" err="1" smtClean="0"/>
              <a:t>Syncronous</a:t>
            </a:r>
            <a:r>
              <a:rPr lang="en-US" b="1" dirty="0" smtClean="0"/>
              <a:t> TDM</a:t>
            </a:r>
          </a:p>
          <a:p>
            <a:r>
              <a:rPr lang="en-US" dirty="0" err="1" smtClean="0"/>
              <a:t>Kedudukan</a:t>
            </a:r>
            <a:r>
              <a:rPr lang="en-US" dirty="0" smtClean="0"/>
              <a:t> data yang </a:t>
            </a:r>
            <a:r>
              <a:rPr lang="en-US" dirty="0" err="1" smtClean="0"/>
              <a:t>dikirim</a:t>
            </a:r>
            <a:r>
              <a:rPr lang="en-US" dirty="0" smtClean="0"/>
              <a:t> </a:t>
            </a:r>
            <a:r>
              <a:rPr lang="en-US" dirty="0" err="1" smtClean="0"/>
              <a:t>bersifat</a:t>
            </a:r>
            <a:r>
              <a:rPr lang="en-US" dirty="0" smtClean="0"/>
              <a:t> </a:t>
            </a:r>
            <a:r>
              <a:rPr lang="en-US" dirty="0" err="1" smtClean="0"/>
              <a:t>tetap</a:t>
            </a:r>
            <a:endParaRPr lang="en-US" dirty="0"/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1"/>
            <a:ext cx="44005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15" y="3429000"/>
            <a:ext cx="4657589" cy="315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218FC-5D40-4ECE-B7BE-936406B6DF8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9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482" y="3508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Jenis-Jenis</a:t>
            </a:r>
            <a:r>
              <a:rPr lang="en-US" dirty="0" smtClean="0"/>
              <a:t>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118" y="914400"/>
            <a:ext cx="9279082" cy="5486400"/>
          </a:xfrm>
        </p:spPr>
        <p:txBody>
          <a:bodyPr/>
          <a:lstStyle/>
          <a:p>
            <a:pPr marL="571500" indent="-457200">
              <a:buFont typeface="+mj-lt"/>
              <a:buAutoNum type="arabicPeriod" startAt="2"/>
            </a:pPr>
            <a:r>
              <a:rPr lang="en-US" b="1" dirty="0" err="1" smtClean="0"/>
              <a:t>Asyncronous</a:t>
            </a:r>
            <a:r>
              <a:rPr lang="en-US" b="1" dirty="0" smtClean="0"/>
              <a:t> TDM</a:t>
            </a:r>
          </a:p>
          <a:p>
            <a:r>
              <a:rPr lang="en-US" dirty="0" err="1" smtClean="0"/>
              <a:t>Kedudukan</a:t>
            </a:r>
            <a:r>
              <a:rPr lang="en-US" dirty="0" smtClean="0"/>
              <a:t> data yang </a:t>
            </a:r>
            <a:r>
              <a:rPr lang="en-US" dirty="0" err="1" smtClean="0"/>
              <a:t>dikirim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bersifat</a:t>
            </a:r>
            <a:r>
              <a:rPr lang="en-US" dirty="0" smtClean="0"/>
              <a:t> </a:t>
            </a:r>
            <a:r>
              <a:rPr lang="en-US" dirty="0" err="1" smtClean="0"/>
              <a:t>tetap</a:t>
            </a:r>
            <a:endParaRPr lang="en-US" dirty="0"/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28801"/>
            <a:ext cx="5638800" cy="434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7682-651F-4B35-A3F9-524910600A33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6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746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409" y="838200"/>
            <a:ext cx="8925791" cy="5562600"/>
          </a:xfrm>
        </p:spPr>
        <p:txBody>
          <a:bodyPr>
            <a:normAutofit/>
          </a:bodyPr>
          <a:lstStyle/>
          <a:p>
            <a:pPr marL="571500" indent="-457200">
              <a:buAutoNum type="arabicPeriod"/>
            </a:pPr>
            <a:r>
              <a:rPr lang="en-US" sz="2000" dirty="0" err="1"/>
              <a:t>Ubahlah</a:t>
            </a:r>
            <a:r>
              <a:rPr lang="en-US" sz="2000" dirty="0"/>
              <a:t> data digital </a:t>
            </a:r>
            <a:r>
              <a:rPr lang="en-US" sz="2000" dirty="0" err="1"/>
              <a:t>berikut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teknik</a:t>
            </a:r>
            <a:r>
              <a:rPr lang="en-US" sz="2000" dirty="0"/>
              <a:t> NRZL, Bipolar-AMI, </a:t>
            </a:r>
            <a:r>
              <a:rPr lang="en-US" sz="2000" dirty="0" err="1"/>
              <a:t>Pseudoternary</a:t>
            </a:r>
            <a:r>
              <a:rPr lang="en-US" sz="2000" dirty="0"/>
              <a:t>, HDB3 </a:t>
            </a:r>
            <a:r>
              <a:rPr lang="en-US" sz="2000" dirty="0" err="1"/>
              <a:t>dan</a:t>
            </a:r>
            <a:r>
              <a:rPr lang="en-US" sz="2000" dirty="0"/>
              <a:t> B8ZS,ASK,FSK </a:t>
            </a:r>
            <a:r>
              <a:rPr lang="en-US" sz="2000" dirty="0" err="1"/>
              <a:t>dan</a:t>
            </a:r>
            <a:r>
              <a:rPr lang="en-US" sz="2000" dirty="0"/>
              <a:t> PSK.</a:t>
            </a:r>
          </a:p>
          <a:p>
            <a:pPr marL="571500" indent="-457200">
              <a:buAutoNum type="alphaLcPeriod"/>
            </a:pPr>
            <a:r>
              <a:rPr lang="en-US" sz="2000" dirty="0"/>
              <a:t>A = 61h</a:t>
            </a:r>
          </a:p>
          <a:p>
            <a:pPr marL="571500" indent="-457200">
              <a:buAutoNum type="alphaLcPeriod"/>
            </a:pPr>
            <a:r>
              <a:rPr lang="en-US" sz="2000" dirty="0"/>
              <a:t>1000001100011</a:t>
            </a:r>
          </a:p>
          <a:p>
            <a:pPr marL="571500" indent="-457200">
              <a:buAutoNum type="alphaLcPeriod"/>
            </a:pPr>
            <a:r>
              <a:rPr lang="en-US" sz="2000" dirty="0"/>
              <a:t>a = 41h</a:t>
            </a:r>
          </a:p>
          <a:p>
            <a:pPr marL="571500" indent="-457200">
              <a:buAutoNum type="alphaLcPeriod"/>
            </a:pPr>
            <a:r>
              <a:rPr lang="en-US" sz="2000" dirty="0"/>
              <a:t>1010000111000</a:t>
            </a:r>
          </a:p>
          <a:p>
            <a:pPr marL="571500" indent="-457200">
              <a:buAutoNum type="alphaLcPeriod"/>
            </a:pPr>
            <a:r>
              <a:rPr lang="en-US" sz="2000" dirty="0"/>
              <a:t>1000000001101</a:t>
            </a:r>
          </a:p>
          <a:p>
            <a:pPr marL="571500" indent="-457200">
              <a:buAutoNum type="alphaLcPeriod"/>
            </a:pPr>
            <a:r>
              <a:rPr lang="en-US" sz="2000" dirty="0"/>
              <a:t>10101010110000</a:t>
            </a:r>
          </a:p>
          <a:p>
            <a:pPr marL="571500" indent="-457200">
              <a:buFont typeface="+mj-lt"/>
              <a:buAutoNum type="arabicPeriod" startAt="2"/>
            </a:pPr>
            <a:r>
              <a:rPr lang="en-US" sz="2000" dirty="0" err="1"/>
              <a:t>Ubahlah</a:t>
            </a:r>
            <a:r>
              <a:rPr lang="en-US" sz="2000" dirty="0"/>
              <a:t> data analog </a:t>
            </a:r>
            <a:r>
              <a:rPr lang="en-US" sz="2000" dirty="0" err="1"/>
              <a:t>berikut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digital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Delta Modulation.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4343400"/>
            <a:ext cx="621982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571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057401"/>
            <a:ext cx="7543800" cy="1676399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/>
              <a:t>Multiplexing, Flow Control </a:t>
            </a:r>
            <a:r>
              <a:rPr lang="en-US" sz="4000" b="1" dirty="0" err="1"/>
              <a:t>dan</a:t>
            </a:r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 smtClean="0"/>
              <a:t>Error Detection</a:t>
            </a:r>
            <a:endParaRPr lang="en-US" sz="4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68-9376-4E54-9818-1C561A1E32A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15962"/>
          </a:xfrm>
        </p:spPr>
        <p:txBody>
          <a:bodyPr/>
          <a:lstStyle/>
          <a:p>
            <a:r>
              <a:rPr lang="en-US" dirty="0" smtClean="0"/>
              <a:t>Multiplexing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45" y="1066800"/>
            <a:ext cx="11118273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Multiplex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mengkombinasikan</a:t>
            </a:r>
            <a:r>
              <a:rPr lang="en-US" dirty="0" smtClean="0"/>
              <a:t> </a:t>
            </a:r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(analog </a:t>
            </a:r>
            <a:r>
              <a:rPr lang="en-US" dirty="0" err="1" smtClean="0"/>
              <a:t>atau</a:t>
            </a:r>
            <a:r>
              <a:rPr lang="en-US" dirty="0" smtClean="0"/>
              <a:t> digital)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ditransmisikan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media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saluran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Cara </a:t>
            </a:r>
            <a:r>
              <a:rPr lang="en-US" dirty="0" err="1" smtClean="0"/>
              <a:t>umum</a:t>
            </a:r>
            <a:r>
              <a:rPr lang="en-US" dirty="0" smtClean="0"/>
              <a:t>  multiplexing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mengkombinasikan</a:t>
            </a:r>
            <a:r>
              <a:rPr lang="en-US" dirty="0" smtClean="0"/>
              <a:t> </a:t>
            </a:r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berkecepatan</a:t>
            </a:r>
            <a:r>
              <a:rPr lang="en-US" dirty="0" smtClean="0"/>
              <a:t> </a:t>
            </a:r>
            <a:r>
              <a:rPr lang="en-US" dirty="0" err="1" smtClean="0"/>
              <a:t>rendah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saluran</a:t>
            </a:r>
            <a:r>
              <a:rPr lang="en-US" dirty="0" smtClean="0"/>
              <a:t> </a:t>
            </a:r>
            <a:r>
              <a:rPr lang="en-US" dirty="0" err="1" smtClean="0"/>
              <a:t>berkecepatan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Multiplexer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sirkuit</a:t>
            </a:r>
            <a:r>
              <a:rPr lang="en-US" dirty="0" smtClean="0"/>
              <a:t> yang </a:t>
            </a:r>
            <a:r>
              <a:rPr lang="en-US" dirty="0" err="1" smtClean="0"/>
              <a:t>berfungsi</a:t>
            </a:r>
            <a:r>
              <a:rPr lang="en-US" dirty="0" smtClean="0"/>
              <a:t> </a:t>
            </a:r>
            <a:r>
              <a:rPr lang="en-US" dirty="0" err="1" smtClean="0"/>
              <a:t>menggabungkan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elektrik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1 </a:t>
            </a:r>
            <a:r>
              <a:rPr lang="en-US" dirty="0" err="1" smtClean="0"/>
              <a:t>sinyal</a:t>
            </a:r>
            <a:r>
              <a:rPr lang="en-US" dirty="0" smtClean="0"/>
              <a:t> </a:t>
            </a:r>
            <a:r>
              <a:rPr lang="en-US" dirty="0" err="1" smtClean="0"/>
              <a:t>tunggal</a:t>
            </a:r>
            <a:r>
              <a:rPr lang="en-US" dirty="0" smtClean="0"/>
              <a:t>.</a:t>
            </a:r>
          </a:p>
          <a:p>
            <a:pPr lvl="0" algn="just"/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/>
              <a:t>penggunaan</a:t>
            </a:r>
            <a:r>
              <a:rPr lang="en-US" dirty="0"/>
              <a:t> multiplex 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Menghemat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seefisien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Kapasitas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telekomunikasi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semaksimal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permintaan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penyaluran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terminal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yang </a:t>
            </a:r>
            <a:r>
              <a:rPr lang="en-US" dirty="0" err="1"/>
              <a:t>sama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A78CF-E13F-484E-A5A8-21E7A857CFA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1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457200"/>
            <a:ext cx="8153400" cy="5943600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lang="en-US" b="1" dirty="0" err="1"/>
              <a:t>Fungsi</a:t>
            </a:r>
            <a:r>
              <a:rPr lang="en-US" b="1" dirty="0"/>
              <a:t> multiplex: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mesin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Memetakan</a:t>
            </a:r>
            <a:r>
              <a:rPr lang="en-US" dirty="0"/>
              <a:t> 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b="1" dirty="0" err="1"/>
              <a:t>Keterangan</a:t>
            </a:r>
            <a:r>
              <a:rPr lang="en-US" b="1" dirty="0"/>
              <a:t>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/>
              <a:t>Multiplexer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demultiplexer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Saluran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saluran</a:t>
            </a:r>
            <a:r>
              <a:rPr lang="en-US" dirty="0"/>
              <a:t> n channel yang </a:t>
            </a:r>
            <a:r>
              <a:rPr lang="en-US" dirty="0" err="1"/>
              <a:t>terpisah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/>
              <a:t>Multiplexer </a:t>
            </a:r>
            <a:r>
              <a:rPr lang="en-US" dirty="0" err="1"/>
              <a:t>menggabungkan</a:t>
            </a:r>
            <a:r>
              <a:rPr lang="en-US" dirty="0"/>
              <a:t> multiplexing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input n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mentransmisikannya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berkapasitas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err="1"/>
              <a:t>Demultiplexer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 smtClean="0"/>
              <a:t>dimultiplexkan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memisahkan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channel,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 smtClean="0"/>
              <a:t>mengirimkannya</a:t>
            </a:r>
            <a:endParaRPr lang="en-US" dirty="0"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81200"/>
            <a:ext cx="516255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0DDB-E559-4959-BEC8-8B0F030C51E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1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Teknik</a:t>
            </a:r>
            <a:r>
              <a:rPr lang="en-US" dirty="0" smtClean="0"/>
              <a:t> Multiplexing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066800"/>
            <a:ext cx="11398828" cy="5334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pengiriman</a:t>
            </a:r>
            <a:r>
              <a:rPr lang="en-US" dirty="0" smtClean="0"/>
              <a:t> Multiplexing </a:t>
            </a:r>
            <a:r>
              <a:rPr lang="en-US" dirty="0" err="1" smtClean="0"/>
              <a:t>terdiri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2 </a:t>
            </a:r>
            <a:r>
              <a:rPr lang="en-US" dirty="0" err="1" smtClean="0"/>
              <a:t>jenis</a:t>
            </a:r>
            <a:r>
              <a:rPr lang="en-US" dirty="0" smtClean="0"/>
              <a:t> :</a:t>
            </a:r>
          </a:p>
          <a:p>
            <a:pPr marL="114300" indent="0">
              <a:buNone/>
            </a:pPr>
            <a:r>
              <a:rPr lang="en-US" b="1" dirty="0" smtClean="0"/>
              <a:t>1. Frequency </a:t>
            </a:r>
            <a:r>
              <a:rPr lang="en-US" b="1" dirty="0"/>
              <a:t>Division Multiplexing (FDM)</a:t>
            </a:r>
          </a:p>
          <a:p>
            <a:pPr marL="503238" algn="just"/>
            <a:r>
              <a:rPr lang="en-US" dirty="0" err="1"/>
              <a:t>Pada</a:t>
            </a:r>
            <a:r>
              <a:rPr lang="en-US" dirty="0"/>
              <a:t> FDM, </a:t>
            </a:r>
            <a:r>
              <a:rPr lang="en-US" dirty="0" err="1"/>
              <a:t>berbagai</a:t>
            </a:r>
            <a:r>
              <a:rPr lang="en-US" dirty="0"/>
              <a:t> channel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kedalam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signal </a:t>
            </a:r>
            <a:r>
              <a:rPr lang="en-US" dirty="0" err="1"/>
              <a:t>pembawa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di </a:t>
            </a:r>
            <a:r>
              <a:rPr lang="en-US" dirty="0" err="1"/>
              <a:t>transmisikan</a:t>
            </a:r>
            <a:endParaRPr lang="en-US" dirty="0"/>
          </a:p>
          <a:p>
            <a:pPr marL="503238" algn="just"/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pembawa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tumpang</a:t>
            </a:r>
            <a:r>
              <a:rPr lang="en-US" dirty="0"/>
              <a:t> </a:t>
            </a:r>
            <a:r>
              <a:rPr lang="en-US" dirty="0" err="1"/>
              <a:t>tindih</a:t>
            </a:r>
            <a:r>
              <a:rPr lang="en-US" dirty="0"/>
              <a:t>.</a:t>
            </a:r>
          </a:p>
          <a:p>
            <a:pPr marL="503238" algn="just"/>
            <a:r>
              <a:rPr lang="en-US" dirty="0"/>
              <a:t>Channel </a:t>
            </a:r>
            <a:r>
              <a:rPr lang="en-US" dirty="0" err="1"/>
              <a:t>dipisahkan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band </a:t>
            </a:r>
            <a:r>
              <a:rPr lang="en-US" dirty="0" err="1"/>
              <a:t>pelindung</a:t>
            </a:r>
            <a:r>
              <a:rPr lang="en-US" dirty="0"/>
              <a:t> (guard band)</a:t>
            </a:r>
          </a:p>
          <a:p>
            <a:pPr marL="503238" algn="just"/>
            <a:r>
              <a:rPr lang="en-US" dirty="0"/>
              <a:t> Channel </a:t>
            </a:r>
            <a:r>
              <a:rPr lang="en-US" dirty="0" err="1"/>
              <a:t>dibawa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FREQUENCY</a:t>
            </a:r>
          </a:p>
          <a:p>
            <a:pPr marL="503238" algn="just"/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analog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media </a:t>
            </a:r>
            <a:r>
              <a:rPr lang="en-US" dirty="0" err="1"/>
              <a:t>pengiriman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digital (0 </a:t>
            </a:r>
            <a:r>
              <a:rPr lang="en-US" dirty="0" err="1"/>
              <a:t>dan</a:t>
            </a:r>
            <a:r>
              <a:rPr lang="en-US" dirty="0"/>
              <a:t> 1) </a:t>
            </a:r>
            <a:r>
              <a:rPr lang="en-US" dirty="0" err="1"/>
              <a:t>dalam</a:t>
            </a:r>
            <a:r>
              <a:rPr lang="en-US" dirty="0"/>
              <a:t> system </a:t>
            </a:r>
            <a:r>
              <a:rPr lang="en-US" dirty="0" err="1"/>
              <a:t>komputer</a:t>
            </a:r>
            <a:r>
              <a:rPr lang="en-US" dirty="0"/>
              <a:t>.</a:t>
            </a:r>
          </a:p>
          <a:p>
            <a:pPr marL="503238" algn="just"/>
            <a:r>
              <a:rPr lang="en-US" dirty="0"/>
              <a:t> Ex : </a:t>
            </a:r>
            <a:r>
              <a:rPr lang="en-US" dirty="0" err="1"/>
              <a:t>Siaran</a:t>
            </a:r>
            <a:r>
              <a:rPr lang="en-US" dirty="0"/>
              <a:t> radio </a:t>
            </a:r>
            <a:r>
              <a:rPr lang="en-US" dirty="0" err="1"/>
              <a:t>dan</a:t>
            </a:r>
            <a:r>
              <a:rPr lang="en-US" dirty="0"/>
              <a:t> TV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D134C-6C07-4AB2-B587-24AB195C069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0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Contoh</a:t>
            </a:r>
            <a:r>
              <a:rPr lang="en-US" dirty="0" smtClean="0"/>
              <a:t> FDM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62000"/>
            <a:ext cx="7620000" cy="5638800"/>
          </a:xfrm>
        </p:spPr>
        <p:txBody>
          <a:bodyPr>
            <a:normAutofit/>
          </a:bodyPr>
          <a:lstStyle/>
          <a:p>
            <a:pPr lvl="0" algn="just"/>
            <a:r>
              <a:rPr lang="en-US" sz="1800" dirty="0" err="1"/>
              <a:t>Misalkan</a:t>
            </a:r>
            <a:r>
              <a:rPr lang="en-US" sz="1800" dirty="0"/>
              <a:t> </a:t>
            </a:r>
            <a:r>
              <a:rPr lang="en-US" sz="1800" dirty="0" err="1"/>
              <a:t>diketahui</a:t>
            </a:r>
            <a:r>
              <a:rPr lang="en-US" sz="1800" dirty="0"/>
              <a:t> </a:t>
            </a:r>
            <a:r>
              <a:rPr lang="en-US" sz="1800" dirty="0" err="1"/>
              <a:t>kanal</a:t>
            </a:r>
            <a:r>
              <a:rPr lang="en-US" sz="1800" dirty="0"/>
              <a:t> </a:t>
            </a:r>
            <a:r>
              <a:rPr lang="en-US" sz="1800" dirty="0" err="1"/>
              <a:t>komunikasi</a:t>
            </a:r>
            <a:r>
              <a:rPr lang="en-US" sz="1800" dirty="0"/>
              <a:t> </a:t>
            </a:r>
            <a:r>
              <a:rPr lang="en-US" sz="1800" dirty="0" err="1"/>
              <a:t>suara</a:t>
            </a:r>
            <a:r>
              <a:rPr lang="en-US" sz="1800" dirty="0"/>
              <a:t> </a:t>
            </a:r>
            <a:r>
              <a:rPr lang="en-US" sz="1800" dirty="0" err="1"/>
              <a:t>berupa</a:t>
            </a:r>
            <a:r>
              <a:rPr lang="en-US" sz="1800" dirty="0"/>
              <a:t> </a:t>
            </a:r>
            <a:r>
              <a:rPr lang="en-US" sz="1800" dirty="0" err="1"/>
              <a:t>kabel</a:t>
            </a:r>
            <a:r>
              <a:rPr lang="en-US" sz="1800" dirty="0"/>
              <a:t> voice grade </a:t>
            </a:r>
            <a:r>
              <a:rPr lang="en-US" sz="1800" dirty="0" err="1"/>
              <a:t>mempunyai</a:t>
            </a:r>
            <a:r>
              <a:rPr lang="en-US" sz="1800" dirty="0"/>
              <a:t> </a:t>
            </a:r>
            <a:r>
              <a:rPr lang="en-US" sz="1800" dirty="0" err="1"/>
              <a:t>lebar</a:t>
            </a:r>
            <a:r>
              <a:rPr lang="en-US" sz="1800" dirty="0"/>
              <a:t> </a:t>
            </a:r>
            <a:r>
              <a:rPr lang="en-US" sz="1800" dirty="0" err="1"/>
              <a:t>frekuensi</a:t>
            </a:r>
            <a:r>
              <a:rPr lang="en-US" sz="1800" dirty="0"/>
              <a:t> 300 – 3000 Hz. Dg multiplexing FDM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1 terminal.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keperluan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4 </a:t>
            </a:r>
            <a:r>
              <a:rPr lang="en-US" sz="1800" dirty="0" err="1"/>
              <a:t>pembawa</a:t>
            </a:r>
            <a:r>
              <a:rPr lang="en-US" sz="1800" dirty="0"/>
              <a:t>, </a:t>
            </a:r>
            <a:r>
              <a:rPr lang="en-US" sz="1800" dirty="0" err="1"/>
              <a:t>misalnya</a:t>
            </a:r>
            <a:r>
              <a:rPr lang="en-US" sz="1800" dirty="0"/>
              <a:t> 600, 1200, 1800, 2400 Hz.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berarti</a:t>
            </a:r>
            <a:r>
              <a:rPr lang="en-US" sz="1800" dirty="0"/>
              <a:t> data </a:t>
            </a:r>
            <a:r>
              <a:rPr lang="en-US" sz="1800" dirty="0" err="1"/>
              <a:t>dari</a:t>
            </a:r>
            <a:r>
              <a:rPr lang="en-US" sz="1800" dirty="0"/>
              <a:t> 4 </a:t>
            </a:r>
            <a:r>
              <a:rPr lang="en-US" sz="1800" dirty="0" err="1"/>
              <a:t>buah</a:t>
            </a:r>
            <a:r>
              <a:rPr lang="en-US" sz="1800" dirty="0"/>
              <a:t> </a:t>
            </a:r>
            <a:r>
              <a:rPr lang="en-US" sz="1800" dirty="0" err="1"/>
              <a:t>sumber</a:t>
            </a:r>
            <a:r>
              <a:rPr lang="en-US" sz="1800" dirty="0"/>
              <a:t> </a:t>
            </a:r>
            <a:r>
              <a:rPr lang="en-US" sz="1800" dirty="0" err="1"/>
              <a:t>dpt</a:t>
            </a:r>
            <a:r>
              <a:rPr lang="en-US" sz="1800" dirty="0"/>
              <a:t> </a:t>
            </a:r>
            <a:r>
              <a:rPr lang="en-US" sz="1800" dirty="0" err="1"/>
              <a:t>dikirimkan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bersamaan</a:t>
            </a:r>
            <a:r>
              <a:rPr lang="en-US" sz="1800" dirty="0"/>
              <a:t>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dgn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saluran</a:t>
            </a:r>
            <a:r>
              <a:rPr lang="en-US" sz="1800" dirty="0"/>
              <a:t> voice grade. </a:t>
            </a:r>
            <a:r>
              <a:rPr lang="en-US" sz="1800" dirty="0" err="1"/>
              <a:t>Bilangan</a:t>
            </a:r>
            <a:r>
              <a:rPr lang="en-US" sz="1800" dirty="0"/>
              <a:t> </a:t>
            </a:r>
            <a:r>
              <a:rPr lang="en-US" sz="1800" dirty="0" err="1"/>
              <a:t>biner</a:t>
            </a:r>
            <a:r>
              <a:rPr lang="en-US" sz="1800" dirty="0"/>
              <a:t> “1” </a:t>
            </a:r>
            <a:r>
              <a:rPr lang="en-US" sz="1800" dirty="0" err="1"/>
              <a:t>diwakili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800, 1400, 2000, 2600 Hz, </a:t>
            </a:r>
            <a:r>
              <a:rPr lang="en-US" sz="1800" dirty="0" err="1"/>
              <a:t>sedangkan</a:t>
            </a:r>
            <a:r>
              <a:rPr lang="en-US" sz="1800" dirty="0"/>
              <a:t> </a:t>
            </a:r>
            <a:r>
              <a:rPr lang="en-US" sz="1800" dirty="0" err="1"/>
              <a:t>biner</a:t>
            </a:r>
            <a:r>
              <a:rPr lang="en-US" sz="1800" dirty="0"/>
              <a:t> “0” </a:t>
            </a:r>
            <a:r>
              <a:rPr lang="en-US" sz="1800" dirty="0" err="1"/>
              <a:t>diwakili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400, 1000, 1600, 2200 Hz. </a:t>
            </a:r>
            <a:r>
              <a:rPr lang="en-US" sz="1800" dirty="0" err="1"/>
              <a:t>Utk</a:t>
            </a:r>
            <a:r>
              <a:rPr lang="en-US" sz="1800" dirty="0"/>
              <a:t> </a:t>
            </a:r>
            <a:r>
              <a:rPr lang="en-US" sz="1800" dirty="0" err="1"/>
              <a:t>mencegah</a:t>
            </a:r>
            <a:r>
              <a:rPr lang="en-US" sz="1800" dirty="0"/>
              <a:t> </a:t>
            </a:r>
            <a:r>
              <a:rPr lang="en-US" sz="1800" dirty="0" err="1"/>
              <a:t>interferensi</a:t>
            </a:r>
            <a:r>
              <a:rPr lang="en-US" sz="1800" dirty="0"/>
              <a:t>, </a:t>
            </a:r>
            <a:r>
              <a:rPr lang="en-US" sz="1800" dirty="0" err="1"/>
              <a:t>tiap-tiap</a:t>
            </a:r>
            <a:r>
              <a:rPr lang="en-US" sz="1800" dirty="0"/>
              <a:t> band </a:t>
            </a:r>
            <a:r>
              <a:rPr lang="en-US" sz="1800" dirty="0" err="1"/>
              <a:t>dipisahkan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jalur</a:t>
            </a:r>
            <a:r>
              <a:rPr lang="en-US" sz="1800" dirty="0"/>
              <a:t> </a:t>
            </a:r>
            <a:r>
              <a:rPr lang="en-US" sz="1800" dirty="0" err="1"/>
              <a:t>selebar</a:t>
            </a:r>
            <a:r>
              <a:rPr lang="en-US" sz="1800" dirty="0"/>
              <a:t> 200 Hz.</a:t>
            </a:r>
          </a:p>
          <a:p>
            <a:pPr algn="just"/>
            <a:r>
              <a:rPr lang="en-US" sz="1800" dirty="0" err="1"/>
              <a:t>Jadi</a:t>
            </a:r>
            <a:r>
              <a:rPr lang="en-US" sz="1800" dirty="0"/>
              <a:t> </a:t>
            </a:r>
            <a:r>
              <a:rPr lang="en-US" sz="1800" dirty="0" err="1"/>
              <a:t>penerima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memisahkan</a:t>
            </a:r>
            <a:r>
              <a:rPr lang="en-US" sz="1800" dirty="0"/>
              <a:t> </a:t>
            </a:r>
            <a:r>
              <a:rPr lang="en-US" sz="1800" dirty="0" err="1"/>
              <a:t>sinyal</a:t>
            </a:r>
            <a:r>
              <a:rPr lang="en-US" sz="1800" dirty="0"/>
              <a:t> </a:t>
            </a:r>
            <a:r>
              <a:rPr lang="en-US" sz="1800" dirty="0" err="1"/>
              <a:t>yg</a:t>
            </a:r>
            <a:r>
              <a:rPr lang="en-US" sz="1800" dirty="0"/>
              <a:t> </a:t>
            </a:r>
            <a:r>
              <a:rPr lang="en-US" sz="1800" dirty="0" err="1"/>
              <a:t>diterima</a:t>
            </a:r>
            <a:r>
              <a:rPr lang="en-US" sz="1800" dirty="0"/>
              <a:t> </a:t>
            </a:r>
            <a:r>
              <a:rPr lang="en-US" sz="1800" dirty="0" err="1"/>
              <a:t>berdasarkan</a:t>
            </a:r>
            <a:r>
              <a:rPr lang="en-US" sz="1800" dirty="0"/>
              <a:t> </a:t>
            </a:r>
            <a:r>
              <a:rPr lang="en-US" sz="1800" dirty="0" err="1"/>
              <a:t>frekuensinya</a:t>
            </a:r>
            <a:r>
              <a:rPr lang="en-US" sz="1800" dirty="0"/>
              <a:t>, </a:t>
            </a:r>
            <a:r>
              <a:rPr lang="en-US" sz="1800" dirty="0" err="1"/>
              <a:t>lalu</a:t>
            </a:r>
            <a:r>
              <a:rPr lang="en-US" sz="1800" dirty="0"/>
              <a:t> </a:t>
            </a:r>
            <a:r>
              <a:rPr lang="en-US" sz="1800" dirty="0" err="1"/>
              <a:t>disalurkan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tempat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yg</a:t>
            </a:r>
            <a:r>
              <a:rPr lang="en-US" sz="1800" dirty="0"/>
              <a:t> </a:t>
            </a:r>
            <a:r>
              <a:rPr lang="en-US" sz="1800" dirty="0" err="1"/>
              <a:t>dikehendaki</a:t>
            </a:r>
            <a:r>
              <a:rPr lang="en-US" sz="1800" dirty="0"/>
              <a:t>.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3981450"/>
            <a:ext cx="44291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3A90-5873-49E2-9EA6-152DFB9EA81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5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0" y="61746"/>
            <a:ext cx="7620000" cy="715962"/>
          </a:xfrm>
        </p:spPr>
        <p:txBody>
          <a:bodyPr/>
          <a:lstStyle/>
          <a:p>
            <a:r>
              <a:rPr lang="en-US" dirty="0" err="1"/>
              <a:t>Teknik</a:t>
            </a:r>
            <a:r>
              <a:rPr lang="en-US" dirty="0"/>
              <a:t> Multiplexing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63" y="990600"/>
            <a:ext cx="11076709" cy="54102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 smtClean="0"/>
              <a:t>2. Time </a:t>
            </a:r>
            <a:r>
              <a:rPr lang="en-US" b="1" dirty="0"/>
              <a:t>Division Multiplexing (TDM)</a:t>
            </a:r>
          </a:p>
          <a:p>
            <a:pPr lvl="0" algn="just"/>
            <a:r>
              <a:rPr lang="en-US" dirty="0" err="1"/>
              <a:t>Metodenya</a:t>
            </a:r>
            <a:r>
              <a:rPr lang="en-US" dirty="0"/>
              <a:t> </a:t>
            </a:r>
            <a:r>
              <a:rPr lang="en-US" dirty="0" err="1"/>
              <a:t>melewatkan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segment / frame</a:t>
            </a:r>
          </a:p>
          <a:p>
            <a:pPr lvl="0" algn="just"/>
            <a:r>
              <a:rPr lang="en-US" dirty="0" err="1"/>
              <a:t>Pengiriman</a:t>
            </a:r>
            <a:r>
              <a:rPr lang="en-US" dirty="0"/>
              <a:t> data </a:t>
            </a:r>
            <a:r>
              <a:rPr lang="en-US" dirty="0" err="1"/>
              <a:t>menggunakan</a:t>
            </a:r>
            <a:r>
              <a:rPr lang="en-US" dirty="0"/>
              <a:t> TDM </a:t>
            </a:r>
            <a:r>
              <a:rPr lang="en-US" dirty="0" err="1"/>
              <a:t>dilakukan</a:t>
            </a:r>
            <a:r>
              <a:rPr lang="en-US" dirty="0"/>
              <a:t> dg </a:t>
            </a:r>
            <a:r>
              <a:rPr lang="en-US" dirty="0" err="1"/>
              <a:t>mencampur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data </a:t>
            </a:r>
            <a:r>
              <a:rPr lang="en-US" dirty="0" err="1"/>
              <a:t>tsb</a:t>
            </a:r>
            <a:r>
              <a:rPr lang="en-US" dirty="0"/>
              <a:t> </a:t>
            </a:r>
            <a:r>
              <a:rPr lang="en-US" dirty="0" err="1"/>
              <a:t>dikirimkan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 TDM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digital.</a:t>
            </a:r>
          </a:p>
          <a:p>
            <a:pPr lvl="0" algn="just"/>
            <a:r>
              <a:rPr lang="en-US" dirty="0" err="1"/>
              <a:t>Contoh</a:t>
            </a:r>
            <a:r>
              <a:rPr lang="en-US" dirty="0"/>
              <a:t> : GSM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telepon</a:t>
            </a:r>
            <a:endParaRPr lang="en-US" dirty="0"/>
          </a:p>
          <a:p>
            <a:endParaRPr lang="en-US" dirty="0"/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18564"/>
            <a:ext cx="5410200" cy="251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8DDD-D0AC-4B09-B891-7635BC51CF9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0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Jenis-Jenis</a:t>
            </a:r>
            <a:r>
              <a:rPr lang="en-US" dirty="0" smtClean="0"/>
              <a:t>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7620000" cy="5486400"/>
          </a:xfrm>
        </p:spPr>
        <p:txBody>
          <a:bodyPr/>
          <a:lstStyle/>
          <a:p>
            <a:pPr marL="571500" indent="-457200">
              <a:buAutoNum type="arabicPeriod"/>
            </a:pPr>
            <a:r>
              <a:rPr lang="en-US" b="1" dirty="0" err="1" smtClean="0"/>
              <a:t>Syncronous</a:t>
            </a:r>
            <a:r>
              <a:rPr lang="en-US" b="1" dirty="0" smtClean="0"/>
              <a:t> TDM</a:t>
            </a:r>
          </a:p>
          <a:p>
            <a:r>
              <a:rPr lang="en-US" dirty="0" err="1" smtClean="0"/>
              <a:t>Kedudukan</a:t>
            </a:r>
            <a:r>
              <a:rPr lang="en-US" dirty="0" smtClean="0"/>
              <a:t> data yang </a:t>
            </a:r>
            <a:r>
              <a:rPr lang="en-US" dirty="0" err="1" smtClean="0"/>
              <a:t>dikirim</a:t>
            </a:r>
            <a:r>
              <a:rPr lang="en-US" dirty="0" smtClean="0"/>
              <a:t> </a:t>
            </a:r>
            <a:r>
              <a:rPr lang="en-US" dirty="0" err="1" smtClean="0"/>
              <a:t>bersifat</a:t>
            </a:r>
            <a:r>
              <a:rPr lang="en-US" dirty="0" smtClean="0"/>
              <a:t> </a:t>
            </a:r>
            <a:r>
              <a:rPr lang="en-US" dirty="0" err="1" smtClean="0"/>
              <a:t>tetap</a:t>
            </a:r>
            <a:endParaRPr lang="en-US" dirty="0"/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1"/>
            <a:ext cx="44005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15" y="3429000"/>
            <a:ext cx="4657589" cy="315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218FC-5D40-4ECE-B7BE-936406B6DF8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8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Jenis-Jenis</a:t>
            </a:r>
            <a:r>
              <a:rPr lang="en-US" dirty="0" smtClean="0"/>
              <a:t>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7620000" cy="5486400"/>
          </a:xfrm>
        </p:spPr>
        <p:txBody>
          <a:bodyPr/>
          <a:lstStyle/>
          <a:p>
            <a:pPr marL="571500" indent="-457200">
              <a:buFont typeface="+mj-lt"/>
              <a:buAutoNum type="arabicPeriod" startAt="2"/>
            </a:pPr>
            <a:r>
              <a:rPr lang="en-US" b="1" smtClean="0"/>
              <a:t>Asyncronous</a:t>
            </a:r>
            <a:r>
              <a:rPr lang="en-US" b="1" dirty="0" smtClean="0"/>
              <a:t> TDM</a:t>
            </a:r>
          </a:p>
          <a:p>
            <a:r>
              <a:rPr lang="en-US" dirty="0" err="1" smtClean="0"/>
              <a:t>Kedudukan</a:t>
            </a:r>
            <a:r>
              <a:rPr lang="en-US" dirty="0" smtClean="0"/>
              <a:t> data yang </a:t>
            </a:r>
            <a:r>
              <a:rPr lang="en-US" dirty="0" err="1" smtClean="0"/>
              <a:t>dikirim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bersifat</a:t>
            </a:r>
            <a:r>
              <a:rPr lang="en-US" dirty="0" smtClean="0"/>
              <a:t> </a:t>
            </a:r>
            <a:r>
              <a:rPr lang="en-US" dirty="0" err="1" smtClean="0"/>
              <a:t>tetap</a:t>
            </a:r>
            <a:endParaRPr lang="en-US" dirty="0"/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28801"/>
            <a:ext cx="5638800" cy="434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7682-651F-4B35-A3F9-524910600A33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5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r>
              <a:rPr lang="en-US" b="1" dirty="0" smtClean="0"/>
              <a:t>FLOW CONTROL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7620000" cy="52578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 Flow control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/</a:t>
            </a:r>
            <a:r>
              <a:rPr lang="en-US" dirty="0" err="1"/>
              <a:t>meyakinkan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stasiun</a:t>
            </a:r>
            <a:r>
              <a:rPr lang="en-US" dirty="0"/>
              <a:t> </a:t>
            </a:r>
            <a:r>
              <a:rPr lang="en-US" dirty="0" err="1"/>
              <a:t>transmisi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menumpuk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stasiun</a:t>
            </a:r>
            <a:r>
              <a:rPr lang="en-US" dirty="0"/>
              <a:t> </a:t>
            </a:r>
            <a:r>
              <a:rPr lang="en-US" dirty="0" err="1"/>
              <a:t>penerima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/>
              <a:t>flow control, buffer (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penyangga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receiver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data lama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. </a:t>
            </a:r>
            <a:r>
              <a:rPr lang="en-US" dirty="0" err="1"/>
              <a:t>Ketika</a:t>
            </a:r>
            <a:r>
              <a:rPr lang="en-US" dirty="0"/>
              <a:t> data </a:t>
            </a:r>
            <a:r>
              <a:rPr lang="en-US" dirty="0" err="1"/>
              <a:t>diterima</a:t>
            </a:r>
            <a:r>
              <a:rPr lang="en-US" dirty="0"/>
              <a:t>,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proses </a:t>
            </a:r>
            <a:r>
              <a:rPr lang="en-US" dirty="0" err="1"/>
              <a:t>sebelum</a:t>
            </a:r>
            <a:r>
              <a:rPr lang="en-US" dirty="0"/>
              <a:t> buffer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dikosongkan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data. </a:t>
            </a:r>
            <a:endParaRPr lang="en-US" dirty="0" smtClean="0"/>
          </a:p>
          <a:p>
            <a:pPr algn="just"/>
            <a:r>
              <a:rPr lang="en-US" dirty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flow control </a:t>
            </a:r>
            <a:r>
              <a:rPr lang="en-US" dirty="0" err="1"/>
              <a:t>antara</a:t>
            </a:r>
            <a:r>
              <a:rPr lang="en-US" dirty="0"/>
              <a:t> lain: </a:t>
            </a:r>
            <a:endParaRPr lang="en-US" dirty="0" smtClean="0"/>
          </a:p>
          <a:p>
            <a:pPr marL="571500" indent="-457200" algn="just">
              <a:buAutoNum type="arabicPeriod"/>
            </a:pPr>
            <a:r>
              <a:rPr lang="en-US" dirty="0" smtClean="0"/>
              <a:t>Stop </a:t>
            </a:r>
            <a:r>
              <a:rPr lang="en-US" dirty="0"/>
              <a:t>and wait flow control </a:t>
            </a:r>
            <a:endParaRPr lang="en-US" dirty="0" smtClean="0"/>
          </a:p>
          <a:p>
            <a:pPr marL="571500" indent="-457200" algn="just">
              <a:buAutoNum type="arabicPeriod"/>
            </a:pPr>
            <a:r>
              <a:rPr lang="en-US" dirty="0"/>
              <a:t>Sliding window flow control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5596B-7F9D-401A-B2E1-64106232776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8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" y="264247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1. Stop </a:t>
            </a:r>
            <a:r>
              <a:rPr lang="en-US" dirty="0"/>
              <a:t>and wait flow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1143000"/>
            <a:ext cx="11284527" cy="5257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Cara </a:t>
            </a:r>
            <a:r>
              <a:rPr lang="en-US" dirty="0" err="1"/>
              <a:t>kerjanya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frame.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, </a:t>
            </a:r>
            <a:r>
              <a:rPr lang="en-US" dirty="0" err="1"/>
              <a:t>penerima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isyarat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frame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mengirim</a:t>
            </a:r>
            <a:r>
              <a:rPr lang="en-US" dirty="0"/>
              <a:t> acknowledgement </a:t>
            </a:r>
            <a:r>
              <a:rPr lang="en-US" dirty="0" err="1"/>
              <a:t>ke</a:t>
            </a:r>
            <a:r>
              <a:rPr lang="en-US" dirty="0"/>
              <a:t> frame yang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err="1" smtClean="0"/>
              <a:t>Pengirim</a:t>
            </a:r>
            <a:r>
              <a:rPr lang="en-US" dirty="0" smtClean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menunggu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acknowledgement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mengirim</a:t>
            </a:r>
            <a:r>
              <a:rPr lang="en-US" dirty="0"/>
              <a:t> frame </a:t>
            </a:r>
            <a:r>
              <a:rPr lang="en-US" dirty="0" err="1" smtClean="0"/>
              <a:t>berikutnya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/>
              <a:t>Penerima</a:t>
            </a:r>
            <a:r>
              <a:rPr lang="en-US" dirty="0" smtClean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menghentikan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acknowledgement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Frame yang </a:t>
            </a:r>
            <a:r>
              <a:rPr lang="en-US" dirty="0" err="1"/>
              <a:t>dikirimkan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/>
              <a:t>data yang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framenya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bertambah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stop and wait control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9B94-4563-4DCC-A069-B3DD9E8BF74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848600" cy="639762"/>
          </a:xfrm>
        </p:spPr>
        <p:txBody>
          <a:bodyPr/>
          <a:lstStyle/>
          <a:p>
            <a:r>
              <a:rPr lang="en-US" sz="3600" b="1" dirty="0" err="1"/>
              <a:t>Ilustrasi</a:t>
            </a:r>
            <a:r>
              <a:rPr lang="en-US" sz="3600" b="1" dirty="0"/>
              <a:t> Stop </a:t>
            </a:r>
            <a:r>
              <a:rPr lang="en-US" sz="3600" b="1" dirty="0"/>
              <a:t>and wait flow control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813435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291B-66E6-4057-94FA-3512138551C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5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848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/>
              <a:t>Sliding window flow control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914400"/>
                <a:ext cx="7848600" cy="5486400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 smtClean="0"/>
                  <a:t>Masalah</a:t>
                </a:r>
                <a:r>
                  <a:rPr lang="en-US" dirty="0"/>
                  <a:t> </a:t>
                </a:r>
                <a:r>
                  <a:rPr lang="en-US" dirty="0" err="1"/>
                  <a:t>utama</a:t>
                </a:r>
                <a:r>
                  <a:rPr lang="en-US" dirty="0"/>
                  <a:t> yang </a:t>
                </a:r>
                <a:r>
                  <a:rPr lang="en-US" dirty="0" err="1"/>
                  <a:t>dimiliki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stop and wait control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:r>
                  <a:rPr lang="en-US" dirty="0" err="1"/>
                  <a:t>hanya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 frame yang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dikirimkan</a:t>
                </a:r>
                <a:r>
                  <a:rPr lang="en-US" dirty="0"/>
                  <a:t>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saat</a:t>
                </a:r>
                <a:r>
                  <a:rPr lang="en-US" dirty="0"/>
                  <a:t> yang </a:t>
                </a:r>
                <a:r>
                  <a:rPr lang="en-US" dirty="0" err="1"/>
                  <a:t>sama</a:t>
                </a:r>
                <a:r>
                  <a:rPr lang="en-US" dirty="0"/>
                  <a:t>. </a:t>
                </a:r>
                <a:endParaRPr lang="en-US" dirty="0" smtClean="0"/>
              </a:p>
              <a:p>
                <a:pPr algn="just"/>
                <a:r>
                  <a:rPr lang="en-US" dirty="0" err="1" smtClean="0"/>
                  <a:t>Dalam</a:t>
                </a:r>
                <a:r>
                  <a:rPr lang="en-US" dirty="0" smtClean="0"/>
                  <a:t> </a:t>
                </a:r>
                <a:r>
                  <a:rPr lang="en-US" dirty="0" err="1"/>
                  <a:t>keadaan</a:t>
                </a:r>
                <a:r>
                  <a:rPr lang="en-US" dirty="0"/>
                  <a:t> </a:t>
                </a:r>
                <a:r>
                  <a:rPr lang="en-US" dirty="0" err="1"/>
                  <a:t>antrian</a:t>
                </a:r>
                <a:r>
                  <a:rPr lang="en-US" dirty="0"/>
                  <a:t> bit yang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dikirimkan</a:t>
                </a:r>
                <a:r>
                  <a:rPr lang="en-US" dirty="0"/>
                  <a:t>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besar</a:t>
                </a:r>
                <a:r>
                  <a:rPr lang="en-US" dirty="0"/>
                  <a:t> </a:t>
                </a:r>
                <a:r>
                  <a:rPr lang="en-US" dirty="0" err="1"/>
                  <a:t>daripada</a:t>
                </a:r>
                <a:r>
                  <a:rPr lang="en-US" dirty="0"/>
                  <a:t> </a:t>
                </a:r>
                <a:r>
                  <a:rPr lang="en-US" dirty="0" err="1"/>
                  <a:t>panjang</a:t>
                </a:r>
                <a:r>
                  <a:rPr lang="en-US" dirty="0"/>
                  <a:t> frame (a&gt;1)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diperlukan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langkah</a:t>
                </a:r>
                <a:r>
                  <a:rPr lang="en-US" dirty="0"/>
                  <a:t> </a:t>
                </a:r>
                <a:r>
                  <a:rPr lang="en-US" dirty="0" err="1"/>
                  <a:t>efisiensi</a:t>
                </a:r>
                <a:r>
                  <a:rPr lang="en-US" dirty="0"/>
                  <a:t> (</a:t>
                </a:r>
                <a:r>
                  <a:rPr lang="en-US" dirty="0" err="1"/>
                  <a:t>memperbolehkan</a:t>
                </a:r>
                <a:r>
                  <a:rPr lang="en-US" dirty="0"/>
                  <a:t> </a:t>
                </a:r>
                <a:r>
                  <a:rPr lang="en-US" dirty="0" err="1"/>
                  <a:t>pengiriman</a:t>
                </a:r>
                <a:r>
                  <a:rPr lang="en-US" dirty="0"/>
                  <a:t>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 frame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saat</a:t>
                </a:r>
                <a:r>
                  <a:rPr lang="en-US" dirty="0"/>
                  <a:t> yang </a:t>
                </a:r>
                <a:r>
                  <a:rPr lang="en-US" dirty="0" err="1"/>
                  <a:t>sama</a:t>
                </a:r>
                <a:r>
                  <a:rPr lang="en-US" dirty="0"/>
                  <a:t>). </a:t>
                </a:r>
                <a:endParaRPr lang="en-US" dirty="0" smtClean="0"/>
              </a:p>
              <a:p>
                <a:pPr algn="just"/>
                <a:r>
                  <a:rPr lang="en-US" dirty="0" err="1" smtClean="0"/>
                  <a:t>Dalam</a:t>
                </a:r>
                <a:r>
                  <a:rPr lang="en-US" dirty="0" smtClean="0"/>
                  <a:t> </a:t>
                </a:r>
                <a:r>
                  <a:rPr lang="en-US" dirty="0" err="1"/>
                  <a:t>langkah</a:t>
                </a:r>
                <a:r>
                  <a:rPr lang="en-US" dirty="0"/>
                  <a:t> </a:t>
                </a:r>
                <a:r>
                  <a:rPr lang="en-US" dirty="0" err="1"/>
                  <a:t>ini</a:t>
                </a:r>
                <a:r>
                  <a:rPr lang="en-US" dirty="0"/>
                  <a:t>, </a:t>
                </a:r>
                <a:r>
                  <a:rPr lang="en-US" dirty="0" err="1"/>
                  <a:t>ditambahkan</a:t>
                </a:r>
                <a:r>
                  <a:rPr lang="en-US" dirty="0"/>
                  <a:t> </a:t>
                </a:r>
                <a:r>
                  <a:rPr lang="en-US" dirty="0" err="1"/>
                  <a:t>juga</a:t>
                </a:r>
                <a:r>
                  <a:rPr lang="en-US" dirty="0"/>
                  <a:t> label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frame yang </a:t>
                </a:r>
                <a:r>
                  <a:rPr lang="en-US" dirty="0" err="1"/>
                  <a:t>telah</a:t>
                </a:r>
                <a:r>
                  <a:rPr lang="en-US" dirty="0"/>
                  <a:t> </a:t>
                </a:r>
                <a:r>
                  <a:rPr lang="en-US" dirty="0" err="1"/>
                  <a:t>masuk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/>
                  <a:t>penanda</a:t>
                </a:r>
                <a:r>
                  <a:rPr lang="en-US" dirty="0"/>
                  <a:t> </a:t>
                </a:r>
                <a:r>
                  <a:rPr lang="en-US" dirty="0" err="1"/>
                  <a:t>sudah</a:t>
                </a:r>
                <a:r>
                  <a:rPr lang="en-US" dirty="0"/>
                  <a:t> </a:t>
                </a:r>
                <a:r>
                  <a:rPr lang="en-US" dirty="0" err="1"/>
                  <a:t>sejauh</a:t>
                </a:r>
                <a:r>
                  <a:rPr lang="en-US" dirty="0"/>
                  <a:t> </a:t>
                </a:r>
                <a:r>
                  <a:rPr lang="en-US" dirty="0" err="1"/>
                  <a:t>mana</a:t>
                </a:r>
                <a:r>
                  <a:rPr lang="en-US" dirty="0"/>
                  <a:t> frame </a:t>
                </a:r>
                <a:r>
                  <a:rPr lang="en-US" dirty="0" err="1"/>
                  <a:t>tersebut</a:t>
                </a:r>
                <a:r>
                  <a:rPr lang="en-US" dirty="0"/>
                  <a:t> </a:t>
                </a:r>
                <a:r>
                  <a:rPr lang="en-US" dirty="0" err="1"/>
                  <a:t>diterima</a:t>
                </a:r>
                <a:r>
                  <a:rPr lang="en-US" dirty="0"/>
                  <a:t>. </a:t>
                </a:r>
                <a:endParaRPr lang="en-US" dirty="0" smtClean="0"/>
              </a:p>
              <a:p>
                <a:pPr algn="just"/>
                <a:r>
                  <a:rPr lang="en-US" dirty="0" smtClean="0"/>
                  <a:t>Sliding </a:t>
                </a:r>
                <a:r>
                  <a:rPr lang="en-US" dirty="0"/>
                  <a:t>window flow control </a:t>
                </a:r>
                <a:r>
                  <a:rPr lang="en-US" dirty="0" err="1"/>
                  <a:t>ini</a:t>
                </a:r>
                <a:r>
                  <a:rPr lang="en-US" dirty="0"/>
                  <a:t> </a:t>
                </a:r>
                <a:r>
                  <a:rPr lang="en-US" dirty="0" err="1"/>
                  <a:t>mengizinkan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pengiriman</a:t>
                </a:r>
                <a:r>
                  <a:rPr lang="en-US" dirty="0"/>
                  <a:t>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 frame. </a:t>
                </a:r>
                <a:endParaRPr lang="en-US" dirty="0" smtClean="0"/>
              </a:p>
              <a:p>
                <a:pPr algn="just"/>
                <a:r>
                  <a:rPr lang="en-US" dirty="0" smtClean="0"/>
                  <a:t>Receiver </a:t>
                </a:r>
                <a:r>
                  <a:rPr lang="en-US" dirty="0" err="1"/>
                  <a:t>juga</a:t>
                </a:r>
                <a:r>
                  <a:rPr lang="en-US" dirty="0"/>
                  <a:t> </a:t>
                </a: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sebuah</a:t>
                </a:r>
                <a:r>
                  <a:rPr lang="en-US" dirty="0"/>
                  <a:t> buffer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menampung</a:t>
                </a:r>
                <a:r>
                  <a:rPr lang="en-US" dirty="0"/>
                  <a:t> </a:t>
                </a:r>
                <a:r>
                  <a:rPr lang="en-US" dirty="0" err="1"/>
                  <a:t>antrian</a:t>
                </a:r>
                <a:r>
                  <a:rPr lang="en-US" dirty="0"/>
                  <a:t> frame yang </a:t>
                </a:r>
                <a:r>
                  <a:rPr lang="en-US" dirty="0" err="1"/>
                  <a:t>masuk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syarat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frame yang </a:t>
                </a:r>
                <a:r>
                  <a:rPr lang="en-US" dirty="0" err="1"/>
                  <a:t>masuk</a:t>
                </a:r>
                <a:r>
                  <a:rPr lang="en-US" dirty="0"/>
                  <a:t> </a:t>
                </a:r>
                <a:r>
                  <a:rPr lang="en-US" dirty="0" err="1"/>
                  <a:t>diberi</a:t>
                </a:r>
                <a:r>
                  <a:rPr lang="en-US" dirty="0"/>
                  <a:t> </a:t>
                </a:r>
                <a:r>
                  <a:rPr lang="en-US" dirty="0" err="1"/>
                  <a:t>nomor</a:t>
                </a:r>
                <a:r>
                  <a:rPr lang="en-US" dirty="0" smtClean="0"/>
                  <a:t>.</a:t>
                </a:r>
              </a:p>
              <a:p>
                <a:pPr algn="just"/>
                <a:r>
                  <a:rPr lang="en-US" dirty="0" smtClean="0"/>
                  <a:t> </a:t>
                </a:r>
                <a:r>
                  <a:rPr lang="en-US" dirty="0" err="1"/>
                  <a:t>Nomor</a:t>
                </a:r>
                <a:r>
                  <a:rPr lang="en-US" dirty="0"/>
                  <a:t> </a:t>
                </a:r>
                <a:r>
                  <a:rPr lang="en-US" dirty="0" err="1"/>
                  <a:t>tersebut</a:t>
                </a:r>
                <a:r>
                  <a:rPr lang="en-US" dirty="0"/>
                  <a:t> </a:t>
                </a:r>
                <a:r>
                  <a:rPr lang="en-US" dirty="0" err="1"/>
                  <a:t>nantinya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digunakan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/>
                  <a:t>penanda</a:t>
                </a:r>
                <a:r>
                  <a:rPr lang="en-US" dirty="0"/>
                  <a:t> yang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diloncati</a:t>
                </a:r>
                <a:r>
                  <a:rPr lang="en-US" dirty="0"/>
                  <a:t> </a:t>
                </a:r>
                <a:r>
                  <a:rPr lang="en-US" dirty="0" err="1"/>
                  <a:t>tiap</a:t>
                </a:r>
                <a:r>
                  <a:rPr lang="en-US" dirty="0"/>
                  <a:t> </a:t>
                </a:r>
                <a:r>
                  <a:rPr lang="en-US" dirty="0" err="1"/>
                  <a:t>ukuran</a:t>
                </a:r>
                <a:r>
                  <a:rPr lang="en-US" dirty="0"/>
                  <a:t> field (k). frame yang </a:t>
                </a:r>
                <a:r>
                  <a:rPr lang="en-US" dirty="0" err="1"/>
                  <a:t>masuk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dinomori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914400"/>
                <a:ext cx="7848600" cy="5486400"/>
              </a:xfrm>
              <a:blipFill>
                <a:blip r:embed="rId2"/>
                <a:stretch>
                  <a:fillRect l="-1009" t="-2556" r="-1087" b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9792-3F67-4C47-B0EF-906D27FA4043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848600" cy="487362"/>
          </a:xfrm>
        </p:spPr>
        <p:txBody>
          <a:bodyPr>
            <a:normAutofit fontScale="90000"/>
          </a:bodyPr>
          <a:lstStyle/>
          <a:p>
            <a:r>
              <a:rPr lang="en-US" sz="4000" u="sng" dirty="0" err="1"/>
              <a:t>Ilustrasi</a:t>
            </a:r>
            <a:r>
              <a:rPr lang="en-US" sz="4000" u="sng" dirty="0"/>
              <a:t> Sliding </a:t>
            </a:r>
            <a:r>
              <a:rPr lang="en-US" sz="4000" u="sng" dirty="0"/>
              <a:t>window flow control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85864"/>
            <a:ext cx="7848600" cy="528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2DD52-C548-47BF-B672-95A801E11BAD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8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674" y="228601"/>
            <a:ext cx="7620000" cy="868362"/>
          </a:xfrm>
        </p:spPr>
        <p:txBody>
          <a:bodyPr/>
          <a:lstStyle/>
          <a:p>
            <a:r>
              <a:rPr lang="en-US" b="1" dirty="0" smtClean="0"/>
              <a:t>DETEKSI KESALAHAN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674" y="1281112"/>
            <a:ext cx="7696200" cy="52578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3200" b="1" u="sng" dirty="0"/>
              <a:t>PRINSIP DASAR</a:t>
            </a:r>
            <a:endParaRPr lang="en-US" sz="3200" b="1" u="sng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2673" y="1828800"/>
            <a:ext cx="1113905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th-TH" sz="2800" dirty="0">
                <a:cs typeface="Angsana New" pitchFamily="18" charset="-34"/>
              </a:rPr>
              <a:t>Masalah utama dalam komunikasi data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en-US" sz="2800" dirty="0" err="1">
                <a:cs typeface="Angsana New" pitchFamily="18" charset="-34"/>
              </a:rPr>
              <a:t>ialah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th-TH" sz="2800" b="1" i="1" dirty="0">
                <a:cs typeface="Angsana New" pitchFamily="18" charset="-34"/>
              </a:rPr>
              <a:t>realibility</a:t>
            </a:r>
            <a:r>
              <a:rPr lang="en-US" sz="2800" b="1" i="1" dirty="0">
                <a:cs typeface="Angsana New" pitchFamily="18" charset="-34"/>
              </a:rPr>
              <a:t> </a:t>
            </a:r>
            <a:r>
              <a:rPr lang="en-US" sz="2800" dirty="0" err="1">
                <a:cs typeface="Angsana New" pitchFamily="18" charset="-34"/>
              </a:rPr>
              <a:t>atau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en-US" sz="2800" dirty="0" err="1">
                <a:cs typeface="Angsana New" pitchFamily="18" charset="-34"/>
              </a:rPr>
              <a:t>keandalan</a:t>
            </a:r>
            <a:r>
              <a:rPr lang="th-TH" sz="2800" dirty="0">
                <a:cs typeface="Angsana New" pitchFamily="18" charset="-34"/>
              </a:rPr>
              <a:t>. </a:t>
            </a:r>
            <a:endParaRPr lang="en-US" sz="2800" dirty="0">
              <a:cs typeface="Angsana New" pitchFamily="18" charset="-34"/>
            </a:endParaRPr>
          </a:p>
          <a:p>
            <a:pPr algn="just">
              <a:lnSpc>
                <a:spcPct val="150000"/>
              </a:lnSpc>
            </a:pPr>
            <a:r>
              <a:rPr lang="th-TH" sz="2800" dirty="0">
                <a:cs typeface="Angsana New" pitchFamily="18" charset="-34"/>
              </a:rPr>
              <a:t>Sinyal yang dikirim melalui medium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th-TH" sz="2800" dirty="0">
                <a:cs typeface="Angsana New" pitchFamily="18" charset="-34"/>
              </a:rPr>
              <a:t>tertentu dapat mengalami pelemahan, distorsi,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th-TH" sz="2800" dirty="0">
                <a:cs typeface="Angsana New" pitchFamily="18" charset="-34"/>
              </a:rPr>
              <a:t>keterbatasan bandwidth</a:t>
            </a:r>
            <a:endParaRPr lang="en-US" sz="2800" dirty="0">
              <a:cs typeface="Angsana New" pitchFamily="18" charset="-34"/>
            </a:endParaRPr>
          </a:p>
          <a:p>
            <a:pPr algn="just">
              <a:lnSpc>
                <a:spcPct val="150000"/>
              </a:lnSpc>
            </a:pPr>
            <a:r>
              <a:rPr lang="th-TH" sz="2800" dirty="0">
                <a:cs typeface="Angsana New" pitchFamily="18" charset="-34"/>
              </a:rPr>
              <a:t>Data yang dikirim dapat menjadi rusak, hilang,</a:t>
            </a:r>
            <a:r>
              <a:rPr lang="en-US" sz="2800" dirty="0">
                <a:cs typeface="Angsana New" pitchFamily="18" charset="-34"/>
              </a:rPr>
              <a:t> </a:t>
            </a:r>
            <a:r>
              <a:rPr lang="th-TH" sz="2800" dirty="0">
                <a:cs typeface="Angsana New" pitchFamily="18" charset="-34"/>
              </a:rPr>
              <a:t>berubah</a:t>
            </a:r>
          </a:p>
          <a:p>
            <a:pPr algn="just">
              <a:lnSpc>
                <a:spcPct val="150000"/>
              </a:lnSpc>
            </a:pPr>
            <a:endParaRPr lang="th-TH" sz="2800" dirty="0">
              <a:cs typeface="Angsana New" pitchFamily="18" charset="-34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None/>
            </a:pPr>
            <a:endParaRPr lang="th-TH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F2708-7710-4C4F-9812-92793F32DDBF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7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PRINSIP DASAR (2)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3581400"/>
            <a:ext cx="76200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/>
              <a:t>A </a:t>
            </a:r>
            <a:r>
              <a:rPr lang="en-US" sz="2400" dirty="0" err="1"/>
              <a:t>mengirim</a:t>
            </a:r>
            <a:r>
              <a:rPr lang="en-US" sz="2400" dirty="0"/>
              <a:t> data </a:t>
            </a:r>
            <a:r>
              <a:rPr lang="en-US" sz="2400" dirty="0" err="1"/>
              <a:t>ke</a:t>
            </a:r>
            <a:r>
              <a:rPr lang="en-US" sz="2400" dirty="0"/>
              <a:t> B. </a:t>
            </a:r>
            <a:r>
              <a:rPr lang="en-US" sz="2400" dirty="0" err="1"/>
              <a:t>Jalur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A </a:t>
            </a:r>
            <a:r>
              <a:rPr lang="en-US" sz="2400" dirty="0" err="1"/>
              <a:t>dan</a:t>
            </a:r>
            <a:r>
              <a:rPr lang="en-US" sz="2400" dirty="0"/>
              <a:t> B </a:t>
            </a:r>
            <a:r>
              <a:rPr lang="en-US" sz="2400" dirty="0" err="1"/>
              <a:t>tidak</a:t>
            </a:r>
            <a:r>
              <a:rPr lang="en-US" sz="2400" dirty="0"/>
              <a:t> reliable,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data yang </a:t>
            </a:r>
            <a:r>
              <a:rPr lang="en-US" sz="2400" dirty="0" err="1"/>
              <a:t>rusak</a:t>
            </a:r>
            <a:r>
              <a:rPr lang="en-US" sz="2400" dirty="0"/>
              <a:t>/</a:t>
            </a:r>
            <a:r>
              <a:rPr lang="en-US" sz="2400" dirty="0" err="1"/>
              <a:t>hilang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Bagaimana</a:t>
            </a:r>
            <a:r>
              <a:rPr lang="en-US" sz="2400" dirty="0"/>
              <a:t> </a:t>
            </a:r>
            <a:r>
              <a:rPr lang="en-US" sz="2400" dirty="0" err="1"/>
              <a:t>menjamin</a:t>
            </a:r>
            <a:r>
              <a:rPr lang="en-US" sz="2400" dirty="0"/>
              <a:t> </a:t>
            </a:r>
            <a:r>
              <a:rPr lang="en-US" sz="2400" dirty="0" err="1"/>
              <a:t>transmisi</a:t>
            </a:r>
            <a:r>
              <a:rPr lang="en-US" sz="2400" dirty="0"/>
              <a:t> data A </a:t>
            </a:r>
            <a:r>
              <a:rPr lang="en-US" sz="2400" dirty="0" err="1"/>
              <a:t>ke</a:t>
            </a:r>
            <a:r>
              <a:rPr lang="en-US" sz="2400" dirty="0"/>
              <a:t> B </a:t>
            </a:r>
            <a:r>
              <a:rPr lang="en-US" sz="2400" dirty="0" err="1"/>
              <a:t>tetap</a:t>
            </a:r>
            <a:r>
              <a:rPr lang="en-US" sz="2400" dirty="0"/>
              <a:t> reliable? </a:t>
            </a:r>
            <a:endParaRPr lang="th-TH" sz="24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585" y="2016124"/>
            <a:ext cx="4103077" cy="119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8218-E981-4057-8BF0-8F11C3A24BC6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7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PRINSIP DASAR (3)</a:t>
            </a:r>
            <a:endParaRPr lang="en-US" dirty="0"/>
          </a:p>
        </p:txBody>
      </p:sp>
      <p:sp>
        <p:nvSpPr>
          <p:cNvPr id="6" name="AutoShape 3"/>
          <p:cNvSpPr txBox="1">
            <a:spLocks noChangeAspect="1" noChangeArrowheads="1"/>
          </p:cNvSpPr>
          <p:nvPr/>
        </p:nvSpPr>
        <p:spPr>
          <a:xfrm>
            <a:off x="1657336" y="3175010"/>
            <a:ext cx="8229600" cy="26447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/>
              <a:t>A tidak mengirim data yang panjang ke B</a:t>
            </a:r>
            <a:r>
              <a:rPr lang="th-TH" sz="2800"/>
              <a:t>. </a:t>
            </a:r>
            <a:r>
              <a:rPr lang="en-US" sz="2800"/>
              <a:t>Data dibagi menjadi frame, sehingga kerusakan sebuah frame tidak merusak keseluruhan data</a:t>
            </a:r>
            <a:r>
              <a:rPr lang="th-TH" sz="2800"/>
              <a:t>. </a:t>
            </a:r>
          </a:p>
          <a:p>
            <a:pPr>
              <a:lnSpc>
                <a:spcPct val="150000"/>
              </a:lnSpc>
            </a:pPr>
            <a:r>
              <a:rPr lang="en-US" sz="2800"/>
              <a:t>Bagaimana B dapat mendeteksi bahwa frame yang dikirim A mengalami kerusakan? </a:t>
            </a:r>
            <a:endParaRPr lang="th-TH" sz="2800"/>
          </a:p>
          <a:p>
            <a:pPr>
              <a:lnSpc>
                <a:spcPct val="150000"/>
              </a:lnSpc>
            </a:pPr>
            <a:r>
              <a:rPr lang="en-US" sz="2800"/>
              <a:t>A menambahkan error check bits ke frame, sehingga B dapat memeriksa frame dan menentukan apakah telah terjadi perubahan </a:t>
            </a:r>
            <a:endParaRPr lang="th-TH" sz="2800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1" y="1676400"/>
            <a:ext cx="41370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0BBA-B8EB-4C62-B0A6-37C40347E0F1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PRINSIP DASAR (4)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19246" y="3584581"/>
            <a:ext cx="7924800" cy="23431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/>
              <a:t>Bagaimana A mengetahui data yang dikirimnya telah diterima B? </a:t>
            </a:r>
            <a:endParaRPr lang="th-TH" sz="2000"/>
          </a:p>
          <a:p>
            <a:pPr>
              <a:lnSpc>
                <a:spcPct val="150000"/>
              </a:lnSpc>
            </a:pPr>
            <a:r>
              <a:rPr lang="en-US" sz="2000"/>
              <a:t>B dapat mengirimkan ack (acknowledgment)</a:t>
            </a:r>
            <a:r>
              <a:rPr lang="th-TH" sz="2000"/>
              <a:t>/</a:t>
            </a:r>
            <a:r>
              <a:rPr lang="en-US" sz="2000"/>
              <a:t>pemberitahuan jika data diterima dengan benar, dan nak (negative acknowledgment) </a:t>
            </a:r>
            <a:r>
              <a:rPr lang="th-TH" sz="2000"/>
              <a:t>/</a:t>
            </a:r>
            <a:r>
              <a:rPr lang="en-US" sz="2000"/>
              <a:t>pemberitahuan data salah jika data rusak </a:t>
            </a:r>
            <a:endParaRPr lang="th-TH" sz="2000"/>
          </a:p>
          <a:p>
            <a:pPr>
              <a:lnSpc>
                <a:spcPct val="150000"/>
              </a:lnSpc>
            </a:pPr>
            <a:r>
              <a:rPr lang="en-US" sz="2000"/>
              <a:t>A dapat mengirimkan ulang frame yang rusak</a:t>
            </a:r>
            <a:endParaRPr lang="th-TH" sz="200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1600201"/>
            <a:ext cx="4267200" cy="119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AFAC3-F958-4AF2-9B0E-6A0FBD7A956B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PRINSIP DASAR (5)</a:t>
            </a: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807697" y="2362200"/>
            <a:ext cx="79248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 err="1"/>
              <a:t>Mengapa</a:t>
            </a:r>
            <a:r>
              <a:rPr lang="en-US" sz="2000" dirty="0"/>
              <a:t> frame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hilang</a:t>
            </a:r>
            <a:r>
              <a:rPr lang="en-US" sz="2000" dirty="0"/>
              <a:t>? </a:t>
            </a:r>
            <a:endParaRPr lang="th-TH" sz="2000" dirty="0"/>
          </a:p>
          <a:p>
            <a:pPr lvl="1">
              <a:lnSpc>
                <a:spcPct val="150000"/>
              </a:lnSpc>
            </a:pP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th-TH" dirty="0"/>
              <a:t>/</a:t>
            </a:r>
            <a:r>
              <a:rPr lang="en-US" dirty="0"/>
              <a:t>id</a:t>
            </a:r>
            <a:r>
              <a:rPr lang="th-TH" dirty="0"/>
              <a:t>/</a:t>
            </a:r>
            <a:r>
              <a:rPr lang="en-US" dirty="0"/>
              <a:t>header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kerusakan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frame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dikenali</a:t>
            </a:r>
            <a:r>
              <a:rPr lang="en-US" dirty="0"/>
              <a:t> </a:t>
            </a:r>
            <a:endParaRPr lang="th-TH" dirty="0"/>
          </a:p>
          <a:p>
            <a:pPr lvl="1">
              <a:lnSpc>
                <a:spcPct val="150000"/>
              </a:lnSpc>
            </a:pPr>
            <a:r>
              <a:rPr lang="en-US" dirty="0" err="1"/>
              <a:t>Temporer</a:t>
            </a:r>
            <a:r>
              <a:rPr lang="en-US" dirty="0"/>
              <a:t> disconnection </a:t>
            </a:r>
            <a:endParaRPr lang="th-TH" dirty="0"/>
          </a:p>
          <a:p>
            <a:pPr>
              <a:lnSpc>
                <a:spcPct val="150000"/>
              </a:lnSpc>
            </a:pPr>
            <a:r>
              <a:rPr lang="en-US" sz="2000" dirty="0" err="1"/>
              <a:t>Apa</a:t>
            </a:r>
            <a:r>
              <a:rPr lang="en-US" sz="2000" dirty="0"/>
              <a:t> </a:t>
            </a:r>
            <a:r>
              <a:rPr lang="en-US" sz="2000" dirty="0" err="1"/>
              <a:t>yg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jika</a:t>
            </a:r>
            <a:r>
              <a:rPr lang="en-US" sz="2000" dirty="0"/>
              <a:t> frame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hilang</a:t>
            </a:r>
            <a:r>
              <a:rPr lang="en-US" sz="2000" dirty="0"/>
              <a:t>? </a:t>
            </a:r>
            <a:endParaRPr lang="th-TH" sz="2000" dirty="0"/>
          </a:p>
          <a:p>
            <a:pPr lvl="1">
              <a:lnSpc>
                <a:spcPct val="150000"/>
              </a:lnSpc>
            </a:pPr>
            <a:r>
              <a:rPr lang="en-US" dirty="0"/>
              <a:t>B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pengiriman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tentunya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ack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A. </a:t>
            </a:r>
            <a:endParaRPr lang="th-TH" dirty="0"/>
          </a:p>
          <a:p>
            <a:pPr lvl="1">
              <a:lnSpc>
                <a:spcPct val="150000"/>
              </a:lnSpc>
            </a:pPr>
            <a:r>
              <a:rPr lang="en-US" dirty="0"/>
              <a:t>B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ack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di </a:t>
            </a:r>
            <a:r>
              <a:rPr lang="en-US" dirty="0" err="1"/>
              <a:t>jalan</a:t>
            </a:r>
            <a:r>
              <a:rPr lang="en-US" dirty="0"/>
              <a:t>.</a:t>
            </a:r>
            <a:endParaRPr lang="th-TH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0772" y="990600"/>
            <a:ext cx="4067175" cy="1229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C61-35B1-492D-B595-E9443FC5DF7E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0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PRINSIP DASAR (6)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828816" y="2729138"/>
            <a:ext cx="7924800" cy="2733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A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timer,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mengirim</a:t>
            </a:r>
            <a:r>
              <a:rPr lang="en-US" sz="2400" dirty="0"/>
              <a:t> </a:t>
            </a:r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menerima</a:t>
            </a:r>
            <a:r>
              <a:rPr lang="en-US" sz="2400" dirty="0"/>
              <a:t> </a:t>
            </a:r>
            <a:r>
              <a:rPr lang="en-US" sz="2400" dirty="0" err="1"/>
              <a:t>kabar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B</a:t>
            </a:r>
          </a:p>
          <a:p>
            <a:pPr algn="just"/>
            <a:r>
              <a:rPr lang="en-US" sz="2400" dirty="0" err="1"/>
              <a:t>Jangka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timeout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diatur</a:t>
            </a:r>
            <a:r>
              <a:rPr lang="en-US" sz="2400" dirty="0"/>
              <a:t>.</a:t>
            </a:r>
          </a:p>
          <a:p>
            <a:pPr lvl="1" algn="just"/>
            <a:r>
              <a:rPr lang="en-US" sz="2400" dirty="0" err="1"/>
              <a:t>Jika</a:t>
            </a:r>
            <a:r>
              <a:rPr lang="en-US" sz="2400" dirty="0"/>
              <a:t> timeout </a:t>
            </a:r>
            <a:r>
              <a:rPr lang="en-US" sz="2400" dirty="0" err="1"/>
              <a:t>terlalu</a:t>
            </a:r>
            <a:r>
              <a:rPr lang="en-US" sz="2400" dirty="0"/>
              <a:t> </a:t>
            </a:r>
            <a:r>
              <a:rPr lang="en-US" sz="2400" dirty="0" err="1"/>
              <a:t>cepat</a:t>
            </a:r>
            <a:r>
              <a:rPr lang="en-US" sz="2400" dirty="0"/>
              <a:t>, A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mengirimkan</a:t>
            </a:r>
            <a:r>
              <a:rPr lang="en-US" sz="2400" dirty="0"/>
              <a:t> </a:t>
            </a:r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sebelum</a:t>
            </a:r>
            <a:r>
              <a:rPr lang="en-US" sz="2400" dirty="0"/>
              <a:t> </a:t>
            </a:r>
            <a:r>
              <a:rPr lang="en-US" sz="2400" dirty="0" err="1"/>
              <a:t>ack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B </a:t>
            </a:r>
            <a:r>
              <a:rPr lang="en-US" sz="2400" dirty="0" err="1"/>
              <a:t>tiba</a:t>
            </a:r>
            <a:r>
              <a:rPr lang="en-US" sz="2400" dirty="0"/>
              <a:t>. </a:t>
            </a:r>
          </a:p>
          <a:p>
            <a:pPr lvl="1" algn="just"/>
            <a:r>
              <a:rPr lang="en-US" sz="2400" dirty="0" err="1"/>
              <a:t>Jika</a:t>
            </a:r>
            <a:r>
              <a:rPr lang="en-US" sz="2400" dirty="0"/>
              <a:t> timeout </a:t>
            </a:r>
            <a:r>
              <a:rPr lang="en-US" sz="2400" dirty="0" err="1"/>
              <a:t>terlalu</a:t>
            </a:r>
            <a:r>
              <a:rPr lang="en-US" sz="2400" dirty="0"/>
              <a:t> lama, A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menunggu</a:t>
            </a:r>
            <a:r>
              <a:rPr lang="en-US" sz="2400" dirty="0"/>
              <a:t> </a:t>
            </a:r>
            <a:r>
              <a:rPr lang="en-US" sz="2400" dirty="0" err="1"/>
              <a:t>terlalu</a:t>
            </a:r>
            <a:r>
              <a:rPr lang="en-US" sz="2400" dirty="0"/>
              <a:t> lama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frame </a:t>
            </a:r>
            <a:r>
              <a:rPr lang="en-US" sz="2400" dirty="0" err="1"/>
              <a:t>yg</a:t>
            </a:r>
            <a:r>
              <a:rPr lang="en-US" sz="2400" dirty="0"/>
              <a:t> </a:t>
            </a:r>
            <a:r>
              <a:rPr lang="en-US" sz="2400" dirty="0" err="1"/>
              <a:t>hilang</a:t>
            </a:r>
            <a:r>
              <a:rPr lang="en-US" sz="2400" dirty="0"/>
              <a:t> </a:t>
            </a:r>
            <a:endParaRPr lang="th-TH" sz="240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1" y="1300378"/>
            <a:ext cx="40671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DE92-69DB-41C2-81D3-F0FA2C8474A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PRINSIP DASAR (6)</a:t>
            </a: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77064" y="3014698"/>
            <a:ext cx="8205137" cy="2790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000" dirty="0"/>
              <a:t>A </a:t>
            </a:r>
            <a:r>
              <a:rPr lang="en-US" sz="2000" dirty="0" err="1"/>
              <a:t>mengirim</a:t>
            </a:r>
            <a:r>
              <a:rPr lang="en-US" sz="2000" dirty="0"/>
              <a:t> frame 1</a:t>
            </a:r>
            <a:r>
              <a:rPr lang="th-TH" sz="2000" dirty="0"/>
              <a:t> </a:t>
            </a:r>
          </a:p>
          <a:p>
            <a:pPr algn="just">
              <a:lnSpc>
                <a:spcPct val="110000"/>
              </a:lnSpc>
            </a:pPr>
            <a:r>
              <a:rPr lang="en-US" sz="2000" dirty="0"/>
              <a:t>A </a:t>
            </a:r>
            <a:r>
              <a:rPr lang="en-US" sz="2000" dirty="0" err="1"/>
              <a:t>mengalami</a:t>
            </a:r>
            <a:r>
              <a:rPr lang="en-US" sz="2000" dirty="0"/>
              <a:t> timeout,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mengirimkan</a:t>
            </a:r>
            <a:r>
              <a:rPr lang="en-US" sz="2000" dirty="0"/>
              <a:t> </a:t>
            </a:r>
            <a:r>
              <a:rPr lang="en-US" sz="2000" dirty="0" err="1"/>
              <a:t>ulang</a:t>
            </a:r>
            <a:r>
              <a:rPr lang="en-US" sz="2000" dirty="0"/>
              <a:t> frame 1</a:t>
            </a:r>
            <a:r>
              <a:rPr lang="th-TH" sz="2000" dirty="0"/>
              <a:t> </a:t>
            </a:r>
          </a:p>
          <a:p>
            <a:pPr algn="just">
              <a:lnSpc>
                <a:spcPct val="110000"/>
              </a:lnSpc>
            </a:pPr>
            <a:r>
              <a:rPr lang="en-US" sz="2000" dirty="0"/>
              <a:t>A </a:t>
            </a:r>
            <a:r>
              <a:rPr lang="en-US" sz="2000" dirty="0" err="1"/>
              <a:t>menerima</a:t>
            </a:r>
            <a:r>
              <a:rPr lang="en-US" sz="2000" dirty="0"/>
              <a:t> </a:t>
            </a:r>
            <a:r>
              <a:rPr lang="en-US" sz="2000" dirty="0" err="1"/>
              <a:t>ack</a:t>
            </a:r>
            <a:r>
              <a:rPr lang="en-US" sz="2000" dirty="0"/>
              <a:t>, </a:t>
            </a:r>
            <a:r>
              <a:rPr lang="en-US" sz="2000" dirty="0" err="1"/>
              <a:t>melanjutkan</a:t>
            </a:r>
            <a:r>
              <a:rPr lang="en-US" sz="2000" dirty="0"/>
              <a:t> </a:t>
            </a:r>
            <a:r>
              <a:rPr lang="en-US" sz="2000" dirty="0" err="1"/>
              <a:t>mengirim</a:t>
            </a:r>
            <a:r>
              <a:rPr lang="en-US" sz="2000" dirty="0"/>
              <a:t> frame 2</a:t>
            </a:r>
            <a:r>
              <a:rPr lang="th-TH" sz="2000" dirty="0"/>
              <a:t> </a:t>
            </a:r>
          </a:p>
          <a:p>
            <a:pPr algn="just">
              <a:lnSpc>
                <a:spcPct val="110000"/>
              </a:lnSpc>
            </a:pPr>
            <a:r>
              <a:rPr lang="en-US" sz="2000" dirty="0"/>
              <a:t>A </a:t>
            </a:r>
            <a:r>
              <a:rPr lang="en-US" sz="2000" dirty="0" err="1"/>
              <a:t>menerima</a:t>
            </a:r>
            <a:r>
              <a:rPr lang="en-US" sz="2000" dirty="0"/>
              <a:t> </a:t>
            </a:r>
            <a:r>
              <a:rPr lang="en-US" sz="2000" dirty="0" err="1"/>
              <a:t>ack</a:t>
            </a:r>
            <a:r>
              <a:rPr lang="en-US" sz="2000" dirty="0"/>
              <a:t> </a:t>
            </a:r>
            <a:r>
              <a:rPr lang="en-US" sz="2000" dirty="0" err="1"/>
              <a:t>kedua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frame 1, 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dianggap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ack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frame 2</a:t>
            </a:r>
            <a:r>
              <a:rPr lang="th-TH" sz="2000" dirty="0"/>
              <a:t> (</a:t>
            </a:r>
            <a:r>
              <a:rPr lang="en-US" sz="2000" dirty="0"/>
              <a:t>error</a:t>
            </a:r>
            <a:r>
              <a:rPr lang="th-TH" sz="2000" dirty="0"/>
              <a:t>) </a:t>
            </a:r>
          </a:p>
          <a:p>
            <a:pPr algn="just">
              <a:lnSpc>
                <a:spcPct val="110000"/>
              </a:lnSpc>
            </a:pP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mencegah</a:t>
            </a:r>
            <a:r>
              <a:rPr lang="en-US" sz="2000" dirty="0"/>
              <a:t> </a:t>
            </a:r>
            <a:r>
              <a:rPr lang="en-US" sz="2000" dirty="0" err="1"/>
              <a:t>hal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A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frame number, </a:t>
            </a:r>
            <a:r>
              <a:rPr lang="en-US" sz="2000" dirty="0" err="1"/>
              <a:t>sehingga</a:t>
            </a:r>
            <a:r>
              <a:rPr lang="en-US" sz="2000" dirty="0"/>
              <a:t> B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ack</a:t>
            </a:r>
            <a:r>
              <a:rPr lang="en-US" sz="2000" dirty="0"/>
              <a:t> </a:t>
            </a:r>
            <a:r>
              <a:rPr lang="en-US" sz="2000" dirty="0" err="1"/>
              <a:t>spesifik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frame number </a:t>
            </a:r>
            <a:r>
              <a:rPr lang="en-US" sz="2000" dirty="0" err="1"/>
              <a:t>tertentu</a:t>
            </a:r>
            <a:r>
              <a:rPr lang="en-US" sz="1100" dirty="0"/>
              <a:t> </a:t>
            </a:r>
            <a:endParaRPr lang="th-TH" sz="1100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7344" y="1447800"/>
            <a:ext cx="4376056" cy="130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6AF7-BD85-4245-BC3C-17B8DF329944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5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Error Detection and Correction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7620000" cy="5029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b="1" i="1" dirty="0"/>
              <a:t>Error detection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kemampuan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mendeteksi</a:t>
            </a:r>
            <a:r>
              <a:rPr lang="en-US" sz="2400" dirty="0"/>
              <a:t> </a:t>
            </a:r>
            <a:r>
              <a:rPr lang="en-US" sz="2400" dirty="0" err="1"/>
              <a:t>terjadinya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data </a:t>
            </a:r>
            <a:r>
              <a:rPr lang="en-US" sz="2400" dirty="0" err="1"/>
              <a:t>akibat</a:t>
            </a:r>
            <a:r>
              <a:rPr lang="en-US" sz="2400" dirty="0"/>
              <a:t> noise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gangguan</a:t>
            </a:r>
            <a:r>
              <a:rPr lang="en-US" sz="2400" dirty="0"/>
              <a:t> lain </a:t>
            </a:r>
            <a:r>
              <a:rPr lang="en-US" sz="2400" dirty="0" err="1"/>
              <a:t>dalam</a:t>
            </a:r>
            <a:r>
              <a:rPr lang="en-US" sz="2400" dirty="0"/>
              <a:t> proses </a:t>
            </a:r>
            <a:r>
              <a:rPr lang="en-US" sz="2400" dirty="0" err="1"/>
              <a:t>transmisi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i="1" dirty="0"/>
              <a:t>transmitter </a:t>
            </a:r>
            <a:r>
              <a:rPr lang="en-US" sz="2400" dirty="0"/>
              <a:t>(</a:t>
            </a:r>
            <a:r>
              <a:rPr lang="en-US" sz="2400" dirty="0" err="1"/>
              <a:t>Tx</a:t>
            </a:r>
            <a:r>
              <a:rPr lang="en-US" sz="2400" dirty="0"/>
              <a:t>)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i="1" dirty="0"/>
              <a:t>receiver </a:t>
            </a:r>
            <a:r>
              <a:rPr lang="en-US" sz="2400" dirty="0"/>
              <a:t>(Rx)</a:t>
            </a:r>
          </a:p>
          <a:p>
            <a:pPr algn="just">
              <a:lnSpc>
                <a:spcPct val="150000"/>
              </a:lnSpc>
            </a:pPr>
            <a:r>
              <a:rPr lang="en-US" sz="2400" b="1" i="1" dirty="0"/>
              <a:t>Error correction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kemampuan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i="1" dirty="0"/>
              <a:t>original &amp; error free data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9B4F-F42B-451B-AD2B-C358C574A45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4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r>
              <a:rPr lang="en-US" sz="4000" u="sng" dirty="0"/>
              <a:t>METODE PENDETEKSIAN ERROR</a:t>
            </a:r>
            <a:endParaRPr lang="en-US" sz="4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7848600" cy="52578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nb-NO" dirty="0"/>
              <a:t> Ada dua metode deteksi kesalahan yang sering digunakan, yaitu: </a:t>
            </a:r>
            <a:endParaRPr lang="en-US" dirty="0"/>
          </a:p>
          <a:p>
            <a:pPr marL="571500" indent="-457200" algn="just">
              <a:buFont typeface="+mj-lt"/>
              <a:buAutoNum type="arabicPeriod"/>
            </a:pPr>
            <a:r>
              <a:rPr lang="en-US" dirty="0" smtClean="0"/>
              <a:t>Echo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interaktif</a:t>
            </a:r>
            <a:r>
              <a:rPr lang="en-US" dirty="0"/>
              <a:t>. </a:t>
            </a:r>
            <a:endParaRPr lang="en-US" dirty="0" smtClean="0"/>
          </a:p>
          <a:p>
            <a:pPr marL="565150" indent="0" algn="just">
              <a:buNone/>
            </a:pPr>
            <a:r>
              <a:rPr lang="en-US" dirty="0" smtClean="0"/>
              <a:t>Operator </a:t>
            </a:r>
            <a:r>
              <a:rPr lang="en-US" dirty="0" err="1"/>
              <a:t>memasukkan</a:t>
            </a:r>
            <a:r>
              <a:rPr lang="en-US" dirty="0"/>
              <a:t> data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terminal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lain,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data yang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terminal </a:t>
            </a:r>
            <a:r>
              <a:rPr lang="en-US" dirty="0" err="1"/>
              <a:t>sehingga</a:t>
            </a:r>
            <a:r>
              <a:rPr lang="en-US" dirty="0"/>
              <a:t> operator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memeriksa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dikirimkan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. </a:t>
            </a:r>
            <a:endParaRPr lang="en-US" dirty="0" smtClean="0"/>
          </a:p>
          <a:p>
            <a:pPr marL="571500" indent="-457200" algn="just">
              <a:buFont typeface="+mj-lt"/>
              <a:buAutoNum type="arabicPeriod" startAt="2"/>
            </a:pPr>
            <a:r>
              <a:rPr lang="en-US" dirty="0" smtClean="0"/>
              <a:t>Error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bit </a:t>
            </a:r>
            <a:r>
              <a:rPr lang="en-US" dirty="0" err="1"/>
              <a:t>pariti</a:t>
            </a:r>
            <a:r>
              <a:rPr lang="en-US" dirty="0"/>
              <a:t> (</a:t>
            </a:r>
            <a:r>
              <a:rPr lang="en-US" dirty="0" err="1"/>
              <a:t>pariti</a:t>
            </a:r>
            <a:r>
              <a:rPr lang="en-US" dirty="0"/>
              <a:t> </a:t>
            </a:r>
            <a:r>
              <a:rPr lang="en-US" dirty="0" err="1"/>
              <a:t>ganjil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pariti</a:t>
            </a:r>
            <a:r>
              <a:rPr lang="en-US" dirty="0"/>
              <a:t> </a:t>
            </a:r>
            <a:r>
              <a:rPr lang="en-US" dirty="0" err="1"/>
              <a:t>genap</a:t>
            </a:r>
            <a:r>
              <a:rPr lang="en-US" dirty="0"/>
              <a:t>). </a:t>
            </a:r>
            <a:endParaRPr lang="en-US" dirty="0" smtClean="0"/>
          </a:p>
          <a:p>
            <a:pPr marL="565150" indent="0" algn="just">
              <a:buNone/>
            </a:pPr>
            <a:r>
              <a:rPr lang="en-US" dirty="0" smtClean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pendeteksian</a:t>
            </a:r>
            <a:r>
              <a:rPr lang="en-US" dirty="0"/>
              <a:t> error, </a:t>
            </a:r>
            <a:r>
              <a:rPr lang="en-US" dirty="0" err="1"/>
              <a:t>antara</a:t>
            </a:r>
            <a:r>
              <a:rPr lang="en-US" dirty="0"/>
              <a:t> lain: </a:t>
            </a:r>
            <a:endParaRPr lang="en-US" dirty="0" smtClean="0"/>
          </a:p>
          <a:p>
            <a:pPr marL="1022350" indent="-457200" algn="just">
              <a:buAutoNum type="arabicPeriod"/>
            </a:pPr>
            <a:r>
              <a:rPr lang="en-US" dirty="0" smtClean="0"/>
              <a:t>Vertical </a:t>
            </a:r>
            <a:r>
              <a:rPr lang="en-US" dirty="0"/>
              <a:t>redundancy checking </a:t>
            </a:r>
            <a:endParaRPr lang="en-US" dirty="0" smtClean="0"/>
          </a:p>
          <a:p>
            <a:pPr marL="1022350" indent="-457200" algn="just">
              <a:buAutoNum type="arabicPeriod"/>
            </a:pPr>
            <a:r>
              <a:rPr lang="en-US" dirty="0" smtClean="0"/>
              <a:t>Longitudinal </a:t>
            </a:r>
            <a:r>
              <a:rPr lang="en-US" dirty="0"/>
              <a:t>redundancy </a:t>
            </a:r>
            <a:r>
              <a:rPr lang="en-US" dirty="0" smtClean="0"/>
              <a:t>checking</a:t>
            </a:r>
          </a:p>
          <a:p>
            <a:pPr marL="1022350" indent="-457200" algn="just">
              <a:buAutoNum type="arabicPeriod"/>
            </a:pPr>
            <a:r>
              <a:rPr lang="en-US" dirty="0" smtClean="0"/>
              <a:t>Cyclic </a:t>
            </a:r>
            <a:r>
              <a:rPr lang="en-US" dirty="0"/>
              <a:t>redundancy checking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BA17-5475-42F7-B8F5-89A91BB1AD1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1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r>
              <a:rPr lang="en-US" dirty="0" smtClean="0"/>
              <a:t>Bit Parity / Bit </a:t>
            </a:r>
            <a:r>
              <a:rPr lang="en-US" dirty="0" err="1" smtClean="0"/>
              <a:t>Paritas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7620000" cy="5257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 err="1"/>
              <a:t>Jenis</a:t>
            </a:r>
            <a:r>
              <a:rPr lang="en-US" sz="2400" b="1" dirty="0"/>
              <a:t> Parity Check :</a:t>
            </a:r>
            <a:endParaRPr lang="en-US" sz="2400" dirty="0"/>
          </a:p>
          <a:p>
            <a:pPr marL="571500" indent="-457200" algn="just">
              <a:lnSpc>
                <a:spcPct val="150000"/>
              </a:lnSpc>
              <a:buAutoNum type="arabicPeriod"/>
            </a:pPr>
            <a:r>
              <a:rPr lang="en-US" sz="2400" dirty="0"/>
              <a:t>Even </a:t>
            </a:r>
            <a:r>
              <a:rPr lang="en-US" sz="2400" dirty="0"/>
              <a:t>parity (</a:t>
            </a:r>
            <a:r>
              <a:rPr lang="en-US" sz="2400" dirty="0" err="1"/>
              <a:t>paritas</a:t>
            </a:r>
            <a:r>
              <a:rPr lang="en-US" sz="2400" dirty="0"/>
              <a:t> </a:t>
            </a:r>
            <a:r>
              <a:rPr lang="en-US" sz="2400" dirty="0" err="1"/>
              <a:t>genap</a:t>
            </a:r>
            <a:r>
              <a:rPr lang="en-US" sz="2400" dirty="0"/>
              <a:t>),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transmisi</a:t>
            </a:r>
            <a:r>
              <a:rPr lang="en-US" sz="2400" dirty="0"/>
              <a:t> </a:t>
            </a:r>
            <a:r>
              <a:rPr lang="en-US" sz="2400" b="1" u="sng" dirty="0"/>
              <a:t>asynchronous</a:t>
            </a:r>
            <a:r>
              <a:rPr lang="en-US" sz="2400" dirty="0"/>
              <a:t>. Bit parity </a:t>
            </a:r>
            <a:r>
              <a:rPr lang="en-US" sz="2400" dirty="0" err="1"/>
              <a:t>ditambahkan</a:t>
            </a:r>
            <a:r>
              <a:rPr lang="en-US" sz="2400" dirty="0"/>
              <a:t> </a:t>
            </a:r>
            <a:r>
              <a:rPr lang="en-US" sz="2400" dirty="0" err="1"/>
              <a:t>supaya</a:t>
            </a:r>
            <a:r>
              <a:rPr lang="en-US" sz="2400" dirty="0"/>
              <a:t> </a:t>
            </a:r>
            <a:r>
              <a:rPr lang="en-US" sz="2400" dirty="0" err="1"/>
              <a:t>banyaknya</a:t>
            </a:r>
            <a:r>
              <a:rPr lang="en-US" sz="2400" dirty="0"/>
              <a:t> ‘1’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tiap</a:t>
            </a:r>
            <a:r>
              <a:rPr lang="en-US" sz="2400" dirty="0"/>
              <a:t> </a:t>
            </a:r>
            <a:r>
              <a:rPr lang="en-US" sz="2400" dirty="0" err="1"/>
              <a:t>karakter</a:t>
            </a:r>
            <a:r>
              <a:rPr lang="en-US" sz="2400" dirty="0"/>
              <a:t> / data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genap</a:t>
            </a:r>
            <a:endParaRPr lang="en-US" sz="2400" dirty="0"/>
          </a:p>
          <a:p>
            <a:pPr marL="571500" indent="-457200" algn="just">
              <a:lnSpc>
                <a:spcPct val="150000"/>
              </a:lnSpc>
              <a:buAutoNum type="arabicPeriod"/>
            </a:pPr>
            <a:r>
              <a:rPr lang="en-US" sz="2400" dirty="0"/>
              <a:t>Odd </a:t>
            </a:r>
            <a:r>
              <a:rPr lang="en-US" sz="2400" dirty="0"/>
              <a:t>parity (</a:t>
            </a:r>
            <a:r>
              <a:rPr lang="en-US" sz="2400" dirty="0" err="1"/>
              <a:t>paritas</a:t>
            </a:r>
            <a:r>
              <a:rPr lang="en-US" sz="2400" dirty="0"/>
              <a:t> </a:t>
            </a:r>
            <a:r>
              <a:rPr lang="en-US" sz="2400" dirty="0" err="1"/>
              <a:t>ganjil</a:t>
            </a:r>
            <a:r>
              <a:rPr lang="en-US" sz="2400" dirty="0"/>
              <a:t>),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transmisi</a:t>
            </a:r>
            <a:r>
              <a:rPr lang="en-US" sz="2400" dirty="0"/>
              <a:t> </a:t>
            </a:r>
            <a:r>
              <a:rPr lang="en-US" sz="2400" b="1" u="sng" dirty="0"/>
              <a:t>synchronous</a:t>
            </a:r>
            <a:r>
              <a:rPr lang="en-US" sz="2400" dirty="0"/>
              <a:t>. Bit parity </a:t>
            </a:r>
            <a:r>
              <a:rPr lang="en-US" sz="2400" dirty="0" err="1"/>
              <a:t>ditambahkan</a:t>
            </a:r>
            <a:r>
              <a:rPr lang="en-US" sz="2400" dirty="0"/>
              <a:t> </a:t>
            </a:r>
            <a:r>
              <a:rPr lang="en-US" sz="2400" dirty="0" err="1"/>
              <a:t>supaya</a:t>
            </a:r>
            <a:r>
              <a:rPr lang="en-US" sz="2400" dirty="0"/>
              <a:t> </a:t>
            </a:r>
            <a:r>
              <a:rPr lang="en-US" sz="2400" dirty="0" err="1"/>
              <a:t>banyaknya</a:t>
            </a:r>
            <a:r>
              <a:rPr lang="en-US" sz="2400" dirty="0"/>
              <a:t> ‘1’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tiap</a:t>
            </a:r>
            <a:r>
              <a:rPr lang="en-US" sz="2400" dirty="0"/>
              <a:t> </a:t>
            </a:r>
            <a:r>
              <a:rPr lang="en-US" sz="2400" dirty="0" err="1"/>
              <a:t>karakter</a:t>
            </a:r>
            <a:r>
              <a:rPr lang="en-US" sz="2400" dirty="0"/>
              <a:t> / data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ganjil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9E4D-A7D7-4885-9567-765DCAC8BD4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4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354" y="46492"/>
            <a:ext cx="7620000" cy="792162"/>
          </a:xfrm>
        </p:spPr>
        <p:txBody>
          <a:bodyPr/>
          <a:lstStyle/>
          <a:p>
            <a:r>
              <a:rPr lang="en-US" sz="4000" dirty="0"/>
              <a:t>1. VERTICAL REDUNDANCY CHECK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769" y="609600"/>
            <a:ext cx="11230875" cy="5334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0000"/>
                </a:solidFill>
              </a:rPr>
              <a:t>VRC (Vertical Redundancy Check</a:t>
            </a:r>
            <a:r>
              <a:rPr lang="en-US" altLang="ko-KR" dirty="0" smtClean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 err="1" smtClean="0">
                <a:solidFill>
                  <a:srgbClr val="000000"/>
                </a:solidFill>
              </a:rPr>
              <a:t>Sebuah</a:t>
            </a:r>
            <a:r>
              <a:rPr lang="en-US" altLang="ko-KR" dirty="0" smtClean="0">
                <a:solidFill>
                  <a:srgbClr val="000000"/>
                </a:solidFill>
              </a:rPr>
              <a:t> bit </a:t>
            </a:r>
            <a:r>
              <a:rPr lang="en-US" altLang="ko-KR" dirty="0" err="1" smtClean="0">
                <a:solidFill>
                  <a:srgbClr val="000000"/>
                </a:solidFill>
              </a:rPr>
              <a:t>paritas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ditambahkan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ke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setiap</a:t>
            </a:r>
            <a:r>
              <a:rPr lang="en-US" altLang="ko-KR" dirty="0" smtClean="0">
                <a:solidFill>
                  <a:srgbClr val="000000"/>
                </a:solidFill>
              </a:rPr>
              <a:t> unit data </a:t>
            </a:r>
            <a:r>
              <a:rPr lang="en-US" altLang="ko-KR" dirty="0" err="1" smtClean="0">
                <a:solidFill>
                  <a:srgbClr val="000000"/>
                </a:solidFill>
              </a:rPr>
              <a:t>sehingga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jumlah</a:t>
            </a:r>
            <a:r>
              <a:rPr lang="en-US" altLang="ko-KR" dirty="0" smtClean="0">
                <a:solidFill>
                  <a:srgbClr val="000000"/>
                </a:solidFill>
              </a:rPr>
              <a:t> total </a:t>
            </a:r>
            <a:r>
              <a:rPr lang="en-US" altLang="ko-KR" dirty="0" err="1" smtClean="0">
                <a:solidFill>
                  <a:srgbClr val="000000"/>
                </a:solidFill>
              </a:rPr>
              <a:t>biner</a:t>
            </a:r>
            <a:r>
              <a:rPr lang="en-US" altLang="ko-KR" dirty="0" smtClean="0">
                <a:solidFill>
                  <a:srgbClr val="000000"/>
                </a:solidFill>
              </a:rPr>
              <a:t> ‘1’ (</a:t>
            </a:r>
            <a:r>
              <a:rPr lang="en-US" altLang="ko-KR" dirty="0" err="1" smtClean="0">
                <a:solidFill>
                  <a:srgbClr val="000000"/>
                </a:solidFill>
              </a:rPr>
              <a:t>termasuk</a:t>
            </a:r>
            <a:r>
              <a:rPr lang="en-US" altLang="ko-KR" dirty="0" smtClean="0">
                <a:solidFill>
                  <a:srgbClr val="000000"/>
                </a:solidFill>
              </a:rPr>
              <a:t> bit </a:t>
            </a:r>
            <a:r>
              <a:rPr lang="en-US" altLang="ko-KR" dirty="0" err="1" smtClean="0">
                <a:solidFill>
                  <a:srgbClr val="000000"/>
                </a:solidFill>
              </a:rPr>
              <a:t>paritas</a:t>
            </a:r>
            <a:r>
              <a:rPr lang="en-US" altLang="ko-KR" dirty="0" smtClean="0">
                <a:solidFill>
                  <a:srgbClr val="000000"/>
                </a:solidFill>
              </a:rPr>
              <a:t>) </a:t>
            </a:r>
            <a:r>
              <a:rPr lang="en-US" altLang="ko-KR" dirty="0" err="1" smtClean="0">
                <a:solidFill>
                  <a:srgbClr val="000000"/>
                </a:solidFill>
              </a:rPr>
              <a:t>menjadi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genap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untuk</a:t>
            </a:r>
            <a:r>
              <a:rPr lang="en-US" altLang="ko-KR" dirty="0" smtClean="0">
                <a:solidFill>
                  <a:srgbClr val="000000"/>
                </a:solidFill>
              </a:rPr>
              <a:t> parity </a:t>
            </a:r>
            <a:r>
              <a:rPr lang="en-US" altLang="ko-KR" dirty="0" err="1" smtClean="0">
                <a:solidFill>
                  <a:srgbClr val="000000"/>
                </a:solidFill>
              </a:rPr>
              <a:t>cek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genap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dan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ganjil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untuk</a:t>
            </a:r>
            <a:r>
              <a:rPr lang="en-US" altLang="ko-KR" dirty="0" smtClean="0">
                <a:solidFill>
                  <a:srgbClr val="000000"/>
                </a:solidFill>
              </a:rPr>
              <a:t> parity </a:t>
            </a:r>
            <a:r>
              <a:rPr lang="en-US" altLang="ko-KR" dirty="0" err="1" smtClean="0">
                <a:solidFill>
                  <a:srgbClr val="000000"/>
                </a:solidFill>
              </a:rPr>
              <a:t>chek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ganjil</a:t>
            </a:r>
            <a:r>
              <a:rPr lang="en-US" altLang="ko-KR" dirty="0" smtClean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 smtClean="0">
                <a:solidFill>
                  <a:srgbClr val="000000"/>
                </a:solidFill>
              </a:rPr>
              <a:t>Konsep</a:t>
            </a:r>
            <a:r>
              <a:rPr lang="en-US" altLang="ko-KR" dirty="0" smtClean="0">
                <a:solidFill>
                  <a:srgbClr val="000000"/>
                </a:solidFill>
              </a:rPr>
              <a:t> VRC </a:t>
            </a:r>
            <a:r>
              <a:rPr lang="en-US" altLang="ko-KR" dirty="0" err="1" smtClean="0">
                <a:solidFill>
                  <a:srgbClr val="000000"/>
                </a:solidFill>
              </a:rPr>
              <a:t>paritas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</a:rPr>
              <a:t>genap</a:t>
            </a:r>
            <a:endParaRPr lang="en-US" altLang="ko-KR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483429"/>
            <a:ext cx="4355488" cy="2841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E122-F88A-46A7-9352-9664907E4DD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8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Generator Parity 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7620000" cy="518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7024" y="1066800"/>
            <a:ext cx="7883752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2638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73" y="172256"/>
            <a:ext cx="7620000" cy="792162"/>
          </a:xfrm>
        </p:spPr>
        <p:txBody>
          <a:bodyPr/>
          <a:lstStyle/>
          <a:p>
            <a:r>
              <a:rPr lang="en-US" sz="4000" dirty="0"/>
              <a:t>2. Longitudinal Redundancy Check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155" y="1066800"/>
            <a:ext cx="9092045" cy="5334000"/>
          </a:xfrm>
        </p:spPr>
        <p:txBody>
          <a:bodyPr/>
          <a:lstStyle/>
          <a:p>
            <a:pPr algn="just"/>
            <a:r>
              <a:rPr lang="en-US" altLang="ko-KR" dirty="0">
                <a:solidFill>
                  <a:srgbClr val="000000"/>
                </a:solidFill>
              </a:rPr>
              <a:t>LRC (Longitudinal Redundancy Check)</a:t>
            </a:r>
          </a:p>
          <a:p>
            <a:pPr lvl="1" algn="just"/>
            <a:r>
              <a:rPr lang="en-US" altLang="ko-KR" dirty="0">
                <a:solidFill>
                  <a:srgbClr val="000000"/>
                </a:solidFill>
              </a:rPr>
              <a:t>Bit </a:t>
            </a:r>
            <a:r>
              <a:rPr lang="en-US" altLang="ko-KR" dirty="0" err="1">
                <a:solidFill>
                  <a:srgbClr val="000000"/>
                </a:solidFill>
              </a:rPr>
              <a:t>paritas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pada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semua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posisi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diurutkan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ke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dalam</a:t>
            </a:r>
            <a:r>
              <a:rPr lang="en-US" altLang="ko-KR" dirty="0">
                <a:solidFill>
                  <a:srgbClr val="000000"/>
                </a:solidFill>
              </a:rPr>
              <a:t> unit data </a:t>
            </a:r>
            <a:r>
              <a:rPr lang="en-US" altLang="ko-KR" dirty="0" err="1">
                <a:solidFill>
                  <a:srgbClr val="000000"/>
                </a:solidFill>
              </a:rPr>
              <a:t>baru</a:t>
            </a:r>
            <a:r>
              <a:rPr lang="en-US" altLang="ko-KR" dirty="0">
                <a:solidFill>
                  <a:srgbClr val="000000"/>
                </a:solidFill>
              </a:rPr>
              <a:t>, yang </a:t>
            </a:r>
            <a:r>
              <a:rPr lang="en-US" altLang="ko-KR" dirty="0" err="1">
                <a:solidFill>
                  <a:srgbClr val="000000"/>
                </a:solidFill>
              </a:rPr>
              <a:t>ditambahkan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ke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bagian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akhir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pada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blok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308" y="2590800"/>
            <a:ext cx="5905292" cy="3707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027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879601"/>
            <a:ext cx="8153400" cy="3785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2223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1543" y="1600200"/>
            <a:ext cx="8106362" cy="3471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6085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427038"/>
            <a:ext cx="7620000" cy="792162"/>
          </a:xfrm>
        </p:spPr>
        <p:txBody>
          <a:bodyPr/>
          <a:lstStyle/>
          <a:p>
            <a:r>
              <a:rPr lang="en-US" dirty="0" smtClean="0"/>
              <a:t>3. Cyclic Redundancy 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219200"/>
            <a:ext cx="11357264" cy="5181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SG" sz="2400" b="1" dirty="0"/>
              <a:t>CRC</a:t>
            </a:r>
            <a:r>
              <a:rPr lang="en-SG" sz="2400" dirty="0"/>
              <a:t> (Cyclic Redundancy Check) </a:t>
            </a:r>
            <a:r>
              <a:rPr lang="en-SG" sz="2400" dirty="0" err="1"/>
              <a:t>adalah</a:t>
            </a:r>
            <a:r>
              <a:rPr lang="en-SG" sz="2400" dirty="0"/>
              <a:t> </a:t>
            </a:r>
            <a:r>
              <a:rPr lang="en-SG" sz="2400" dirty="0" err="1"/>
              <a:t>algoritma</a:t>
            </a:r>
            <a:r>
              <a:rPr lang="en-SG" sz="2400" dirty="0"/>
              <a:t> </a:t>
            </a:r>
            <a:r>
              <a:rPr lang="en-SG" sz="2400" dirty="0" err="1"/>
              <a:t>untuk</a:t>
            </a:r>
            <a:r>
              <a:rPr lang="en-SG" sz="2400" dirty="0"/>
              <a:t> </a:t>
            </a:r>
            <a:r>
              <a:rPr lang="en-SG" sz="2400" dirty="0" err="1"/>
              <a:t>memastikan</a:t>
            </a:r>
            <a:r>
              <a:rPr lang="en-SG" sz="2400" dirty="0"/>
              <a:t> </a:t>
            </a:r>
            <a:r>
              <a:rPr lang="en-SG" sz="2400" dirty="0" err="1"/>
              <a:t>integritas</a:t>
            </a:r>
            <a:r>
              <a:rPr lang="en-SG" sz="2400" dirty="0"/>
              <a:t> data </a:t>
            </a:r>
            <a:r>
              <a:rPr lang="en-SG" sz="2400" dirty="0" err="1"/>
              <a:t>dan</a:t>
            </a:r>
            <a:r>
              <a:rPr lang="en-SG" sz="2400" dirty="0"/>
              <a:t> </a:t>
            </a:r>
            <a:r>
              <a:rPr lang="en-SG" sz="2400" dirty="0" err="1"/>
              <a:t>mengecek</a:t>
            </a:r>
            <a:r>
              <a:rPr lang="en-SG" sz="2400" dirty="0"/>
              <a:t> </a:t>
            </a:r>
            <a:r>
              <a:rPr lang="en-SG" sz="2400" dirty="0" err="1"/>
              <a:t>kesalahan</a:t>
            </a:r>
            <a:r>
              <a:rPr lang="en-SG" sz="2400" dirty="0"/>
              <a:t> </a:t>
            </a:r>
            <a:r>
              <a:rPr lang="en-SG" sz="2400" dirty="0" err="1"/>
              <a:t>pada</a:t>
            </a:r>
            <a:r>
              <a:rPr lang="en-SG" sz="2400" dirty="0"/>
              <a:t> </a:t>
            </a:r>
            <a:r>
              <a:rPr lang="en-SG" sz="2400" dirty="0" err="1"/>
              <a:t>suatu</a:t>
            </a:r>
            <a:r>
              <a:rPr lang="en-SG" sz="2400" dirty="0"/>
              <a:t> data yang </a:t>
            </a:r>
            <a:r>
              <a:rPr lang="en-SG" sz="2400" dirty="0" err="1"/>
              <a:t>akan</a:t>
            </a:r>
            <a:r>
              <a:rPr lang="en-SG" sz="2400" dirty="0"/>
              <a:t> </a:t>
            </a:r>
            <a:r>
              <a:rPr lang="en-SG" sz="2400" dirty="0" err="1"/>
              <a:t>ditransmisikan</a:t>
            </a:r>
            <a:r>
              <a:rPr lang="en-SG" sz="2400" dirty="0"/>
              <a:t> </a:t>
            </a:r>
            <a:r>
              <a:rPr lang="en-SG" sz="2400" dirty="0" err="1"/>
              <a:t>atau</a:t>
            </a:r>
            <a:r>
              <a:rPr lang="en-SG" sz="2400" dirty="0"/>
              <a:t> </a:t>
            </a:r>
            <a:r>
              <a:rPr lang="en-SG" sz="2400" dirty="0" err="1"/>
              <a:t>disimpan</a:t>
            </a:r>
            <a:r>
              <a:rPr lang="en-SG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SG" sz="2400" dirty="0"/>
              <a:t>CRC </a:t>
            </a:r>
            <a:r>
              <a:rPr lang="en-SG" sz="2400" dirty="0" err="1"/>
              <a:t>bekerja</a:t>
            </a:r>
            <a:r>
              <a:rPr lang="en-SG" sz="2400" dirty="0"/>
              <a:t> </a:t>
            </a:r>
            <a:r>
              <a:rPr lang="en-SG" sz="2400" dirty="0" err="1"/>
              <a:t>secara</a:t>
            </a:r>
            <a:r>
              <a:rPr lang="en-SG" sz="2400" dirty="0"/>
              <a:t> </a:t>
            </a:r>
            <a:r>
              <a:rPr lang="en-SG" sz="2400" dirty="0" err="1"/>
              <a:t>sederhana</a:t>
            </a:r>
            <a:r>
              <a:rPr lang="en-SG" sz="2400" dirty="0"/>
              <a:t>, </a:t>
            </a:r>
            <a:r>
              <a:rPr lang="en-SG" sz="2400" dirty="0" err="1"/>
              <a:t>yakni</a:t>
            </a:r>
            <a:r>
              <a:rPr lang="en-SG" sz="2400" dirty="0"/>
              <a:t> </a:t>
            </a:r>
            <a:r>
              <a:rPr lang="en-SG" sz="2400" dirty="0" err="1"/>
              <a:t>dengan</a:t>
            </a:r>
            <a:r>
              <a:rPr lang="en-SG" sz="2400" dirty="0"/>
              <a:t> </a:t>
            </a:r>
            <a:r>
              <a:rPr lang="en-SG" sz="2400" dirty="0" err="1"/>
              <a:t>menggunakan</a:t>
            </a:r>
            <a:r>
              <a:rPr lang="en-SG" sz="2400" dirty="0"/>
              <a:t> </a:t>
            </a:r>
            <a:r>
              <a:rPr lang="en-SG" sz="2400" dirty="0" err="1"/>
              <a:t>perhitungan</a:t>
            </a:r>
            <a:r>
              <a:rPr lang="en-SG" sz="2400" dirty="0"/>
              <a:t> </a:t>
            </a:r>
            <a:r>
              <a:rPr lang="en-SG" sz="2400" dirty="0" err="1"/>
              <a:t>matematika</a:t>
            </a:r>
            <a:r>
              <a:rPr lang="en-SG" sz="2400" dirty="0"/>
              <a:t> </a:t>
            </a:r>
            <a:r>
              <a:rPr lang="en-SG" sz="2400" dirty="0" err="1"/>
              <a:t>terhadap</a:t>
            </a:r>
            <a:r>
              <a:rPr lang="en-SG" sz="2400" dirty="0"/>
              <a:t> </a:t>
            </a:r>
            <a:r>
              <a:rPr lang="en-SG" sz="2400" dirty="0" err="1"/>
              <a:t>sebuah</a:t>
            </a:r>
            <a:r>
              <a:rPr lang="en-SG" sz="2400" dirty="0"/>
              <a:t> </a:t>
            </a:r>
            <a:r>
              <a:rPr lang="en-SG" sz="2400" dirty="0" err="1"/>
              <a:t>bilangan</a:t>
            </a:r>
            <a:r>
              <a:rPr lang="en-SG" sz="2400" dirty="0"/>
              <a:t> yang </a:t>
            </a:r>
            <a:r>
              <a:rPr lang="en-SG" sz="2400" dirty="0" err="1"/>
              <a:t>disebut</a:t>
            </a:r>
            <a:r>
              <a:rPr lang="en-SG" sz="2400" dirty="0"/>
              <a:t> </a:t>
            </a:r>
            <a:r>
              <a:rPr lang="en-SG" sz="2400" dirty="0" err="1"/>
              <a:t>sebagai</a:t>
            </a:r>
            <a:r>
              <a:rPr lang="en-SG" sz="2400" dirty="0"/>
              <a:t> </a:t>
            </a:r>
            <a:r>
              <a:rPr lang="en-SG" sz="2400" b="1" dirty="0"/>
              <a:t>Checksum</a:t>
            </a:r>
            <a:r>
              <a:rPr lang="en-SG" sz="2400" dirty="0"/>
              <a:t>, yang </a:t>
            </a:r>
            <a:r>
              <a:rPr lang="en-SG" sz="2400" dirty="0" err="1"/>
              <a:t>dibuat</a:t>
            </a:r>
            <a:r>
              <a:rPr lang="en-SG" sz="2400" dirty="0"/>
              <a:t> </a:t>
            </a:r>
            <a:r>
              <a:rPr lang="en-SG" sz="2400" dirty="0" err="1"/>
              <a:t>berdasarkan</a:t>
            </a:r>
            <a:r>
              <a:rPr lang="en-SG" sz="2400" dirty="0"/>
              <a:t> total bit yang </a:t>
            </a:r>
            <a:r>
              <a:rPr lang="en-SG" sz="2400" dirty="0" err="1"/>
              <a:t>hendak</a:t>
            </a:r>
            <a:r>
              <a:rPr lang="en-SG" sz="2400" dirty="0"/>
              <a:t> </a:t>
            </a:r>
            <a:r>
              <a:rPr lang="en-SG" sz="2400" dirty="0" err="1"/>
              <a:t>ditransmisikan</a:t>
            </a:r>
            <a:r>
              <a:rPr lang="en-SG" sz="2400" dirty="0"/>
              <a:t> </a:t>
            </a:r>
            <a:r>
              <a:rPr lang="en-SG" sz="2400" dirty="0" err="1"/>
              <a:t>atau</a:t>
            </a:r>
            <a:r>
              <a:rPr lang="en-SG" sz="2400" dirty="0"/>
              <a:t> yang </a:t>
            </a:r>
            <a:r>
              <a:rPr lang="en-SG" sz="2400" dirty="0" err="1"/>
              <a:t>hendak</a:t>
            </a:r>
            <a:r>
              <a:rPr lang="en-SG" sz="2400" dirty="0"/>
              <a:t> </a:t>
            </a:r>
            <a:r>
              <a:rPr lang="en-SG" sz="2400" dirty="0" err="1"/>
              <a:t>disimpan</a:t>
            </a:r>
            <a:r>
              <a:rPr lang="en-SG" sz="2400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2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09" y="198440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3. Cyclic Redundancy 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2" y="1219200"/>
            <a:ext cx="11180618" cy="5334000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SG" dirty="0" err="1"/>
              <a:t>Dengan</a:t>
            </a:r>
            <a:r>
              <a:rPr lang="en-SG" dirty="0"/>
              <a:t> </a:t>
            </a:r>
            <a:r>
              <a:rPr lang="en-SG" dirty="0" err="1"/>
              <a:t>adanya</a:t>
            </a:r>
            <a:r>
              <a:rPr lang="en-SG" dirty="0"/>
              <a:t> </a:t>
            </a:r>
            <a:r>
              <a:rPr lang="en-SG" dirty="0" err="1"/>
              <a:t>blok</a:t>
            </a:r>
            <a:r>
              <a:rPr lang="en-SG" dirty="0"/>
              <a:t> bit k bit, </a:t>
            </a:r>
            <a:r>
              <a:rPr lang="en-SG" dirty="0" err="1"/>
              <a:t>atau</a:t>
            </a:r>
            <a:r>
              <a:rPr lang="en-SG" dirty="0"/>
              <a:t> </a:t>
            </a:r>
            <a:r>
              <a:rPr lang="en-SG" dirty="0" err="1"/>
              <a:t>pesan</a:t>
            </a:r>
            <a:r>
              <a:rPr lang="en-SG" dirty="0"/>
              <a:t>, transmitter </a:t>
            </a:r>
            <a:r>
              <a:rPr lang="en-SG" dirty="0" err="1"/>
              <a:t>mengirimkan</a:t>
            </a:r>
            <a:r>
              <a:rPr lang="en-SG" dirty="0"/>
              <a:t> </a:t>
            </a:r>
            <a:r>
              <a:rPr lang="en-SG" dirty="0" err="1"/>
              <a:t>suatu</a:t>
            </a:r>
            <a:r>
              <a:rPr lang="en-SG" dirty="0"/>
              <a:t> </a:t>
            </a:r>
            <a:r>
              <a:rPr lang="en-SG" dirty="0" err="1"/>
              <a:t>deretan</a:t>
            </a:r>
            <a:r>
              <a:rPr lang="en-SG" dirty="0"/>
              <a:t> n bit, </a:t>
            </a:r>
            <a:r>
              <a:rPr lang="en-SG" dirty="0" err="1"/>
              <a:t>disebut</a:t>
            </a:r>
            <a:r>
              <a:rPr lang="en-SG" dirty="0"/>
              <a:t> </a:t>
            </a:r>
            <a:r>
              <a:rPr lang="en-SG" dirty="0" err="1"/>
              <a:t>sebagai</a:t>
            </a:r>
            <a:r>
              <a:rPr lang="en-SG" dirty="0"/>
              <a:t> Frame Check Sequence (FCS), </a:t>
            </a:r>
            <a:r>
              <a:rPr lang="en-SG" dirty="0" err="1"/>
              <a:t>sehingga</a:t>
            </a:r>
            <a:r>
              <a:rPr lang="en-SG" dirty="0"/>
              <a:t> frame yang </a:t>
            </a:r>
            <a:r>
              <a:rPr lang="en-SG" dirty="0" err="1"/>
              <a:t>dihasilkan</a:t>
            </a:r>
            <a:r>
              <a:rPr lang="en-SG" dirty="0"/>
              <a:t>, </a:t>
            </a:r>
            <a:r>
              <a:rPr lang="en-SG" dirty="0" err="1"/>
              <a:t>terdiri</a:t>
            </a:r>
            <a:r>
              <a:rPr lang="en-SG" dirty="0"/>
              <a:t> </a:t>
            </a:r>
            <a:r>
              <a:rPr lang="en-SG" dirty="0" err="1"/>
              <a:t>dari</a:t>
            </a:r>
            <a:r>
              <a:rPr lang="en-SG" dirty="0"/>
              <a:t> </a:t>
            </a:r>
            <a:r>
              <a:rPr lang="en-SG" i="1" dirty="0" err="1"/>
              <a:t>k+n</a:t>
            </a:r>
            <a:r>
              <a:rPr lang="en-SG" i="1" dirty="0"/>
              <a:t> bit, </a:t>
            </a:r>
            <a:r>
              <a:rPr lang="en-SG" dirty="0" err="1"/>
              <a:t>dapat</a:t>
            </a:r>
            <a:r>
              <a:rPr lang="en-SG" dirty="0"/>
              <a:t> </a:t>
            </a:r>
            <a:r>
              <a:rPr lang="en-SG" dirty="0" err="1"/>
              <a:t>dibagi</a:t>
            </a:r>
            <a:r>
              <a:rPr lang="en-SG" dirty="0"/>
              <a:t> </a:t>
            </a:r>
            <a:r>
              <a:rPr lang="en-SG" dirty="0" err="1"/>
              <a:t>dengan</a:t>
            </a:r>
            <a:r>
              <a:rPr lang="en-SG" dirty="0"/>
              <a:t> </a:t>
            </a:r>
            <a:r>
              <a:rPr lang="en-SG" dirty="0" err="1"/>
              <a:t>jelas</a:t>
            </a:r>
            <a:r>
              <a:rPr lang="en-SG" dirty="0"/>
              <a:t> </a:t>
            </a:r>
            <a:r>
              <a:rPr lang="en-SG" dirty="0" err="1"/>
              <a:t>oleh</a:t>
            </a:r>
            <a:r>
              <a:rPr lang="en-SG" dirty="0"/>
              <a:t> </a:t>
            </a:r>
            <a:r>
              <a:rPr lang="en-SG" dirty="0" err="1"/>
              <a:t>beberapa</a:t>
            </a:r>
            <a:r>
              <a:rPr lang="en-SG" dirty="0"/>
              <a:t> </a:t>
            </a:r>
            <a:r>
              <a:rPr lang="en-SG" dirty="0" err="1"/>
              <a:t>nomor</a:t>
            </a:r>
            <a:r>
              <a:rPr lang="en-SG" dirty="0"/>
              <a:t> yang </a:t>
            </a:r>
            <a:r>
              <a:rPr lang="en-SG" dirty="0" err="1"/>
              <a:t>sebelumnya</a:t>
            </a:r>
            <a:r>
              <a:rPr lang="en-SG" dirty="0"/>
              <a:t> </a:t>
            </a:r>
            <a:r>
              <a:rPr lang="en-SG" dirty="0" err="1"/>
              <a:t>sudah</a:t>
            </a:r>
            <a:r>
              <a:rPr lang="en-SG" dirty="0"/>
              <a:t> </a:t>
            </a:r>
            <a:r>
              <a:rPr lang="en-SG" dirty="0" err="1"/>
              <a:t>ditetapkan</a:t>
            </a:r>
            <a:r>
              <a:rPr lang="en-SG" dirty="0"/>
              <a:t>. </a:t>
            </a:r>
            <a:endParaRPr lang="en-SG" dirty="0" smtClean="0"/>
          </a:p>
          <a:p>
            <a:pPr algn="just"/>
            <a:r>
              <a:rPr lang="en-SG" dirty="0" err="1" smtClean="0"/>
              <a:t>Kemudian</a:t>
            </a:r>
            <a:r>
              <a:rPr lang="en-SG" dirty="0" smtClean="0"/>
              <a:t> </a:t>
            </a:r>
            <a:r>
              <a:rPr lang="en-SG" dirty="0"/>
              <a:t>receiver </a:t>
            </a:r>
            <a:r>
              <a:rPr lang="en-SG" dirty="0" err="1"/>
              <a:t>membagi</a:t>
            </a:r>
            <a:r>
              <a:rPr lang="en-SG" dirty="0"/>
              <a:t> frame yang </a:t>
            </a:r>
            <a:r>
              <a:rPr lang="en-SG" dirty="0" err="1"/>
              <a:t>datang</a:t>
            </a:r>
            <a:r>
              <a:rPr lang="en-SG" dirty="0"/>
              <a:t> </a:t>
            </a:r>
            <a:r>
              <a:rPr lang="en-SG" dirty="0" err="1"/>
              <a:t>dengan</a:t>
            </a:r>
            <a:r>
              <a:rPr lang="en-SG" dirty="0"/>
              <a:t> </a:t>
            </a:r>
            <a:r>
              <a:rPr lang="en-SG" dirty="0" err="1"/>
              <a:t>nomor</a:t>
            </a:r>
            <a:r>
              <a:rPr lang="en-SG" dirty="0"/>
              <a:t> </a:t>
            </a:r>
            <a:r>
              <a:rPr lang="en-SG" dirty="0" err="1"/>
              <a:t>tersebut</a:t>
            </a:r>
            <a:r>
              <a:rPr lang="en-SG" dirty="0"/>
              <a:t> </a:t>
            </a:r>
            <a:r>
              <a:rPr lang="en-SG" dirty="0" err="1"/>
              <a:t>dan</a:t>
            </a:r>
            <a:r>
              <a:rPr lang="en-SG" dirty="0"/>
              <a:t>, </a:t>
            </a:r>
            <a:r>
              <a:rPr lang="en-SG" dirty="0" err="1"/>
              <a:t>bila</a:t>
            </a:r>
            <a:r>
              <a:rPr lang="en-SG" dirty="0"/>
              <a:t> </a:t>
            </a:r>
            <a:r>
              <a:rPr lang="en-SG" dirty="0" err="1"/>
              <a:t>tidak</a:t>
            </a:r>
            <a:r>
              <a:rPr lang="en-SG" dirty="0"/>
              <a:t> </a:t>
            </a:r>
            <a:r>
              <a:rPr lang="en-SG" dirty="0" err="1"/>
              <a:t>ada</a:t>
            </a:r>
            <a:r>
              <a:rPr lang="en-SG" dirty="0"/>
              <a:t> </a:t>
            </a:r>
            <a:r>
              <a:rPr lang="en-SG" dirty="0" err="1"/>
              <a:t>sisa</a:t>
            </a:r>
            <a:r>
              <a:rPr lang="en-SG" dirty="0"/>
              <a:t>, </a:t>
            </a:r>
            <a:r>
              <a:rPr lang="en-SG" dirty="0" err="1"/>
              <a:t>maka</a:t>
            </a:r>
            <a:r>
              <a:rPr lang="en-SG" dirty="0"/>
              <a:t> </a:t>
            </a:r>
            <a:r>
              <a:rPr lang="en-SG" dirty="0" err="1"/>
              <a:t>diasumsikan</a:t>
            </a:r>
            <a:r>
              <a:rPr lang="en-SG" dirty="0"/>
              <a:t> </a:t>
            </a:r>
            <a:r>
              <a:rPr lang="en-SG" dirty="0" err="1"/>
              <a:t>tidak</a:t>
            </a:r>
            <a:r>
              <a:rPr lang="en-SG" dirty="0"/>
              <a:t> </a:t>
            </a:r>
            <a:r>
              <a:rPr lang="en-SG" dirty="0" err="1"/>
              <a:t>terdapat</a:t>
            </a:r>
            <a:r>
              <a:rPr lang="en-SG" dirty="0"/>
              <a:t> </a:t>
            </a:r>
            <a:r>
              <a:rPr lang="en-SG" dirty="0" err="1"/>
              <a:t>kesalahan</a:t>
            </a:r>
            <a:r>
              <a:rPr lang="en-SG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914401"/>
            <a:ext cx="8001000" cy="298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240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r>
              <a:rPr lang="en-US" dirty="0" err="1" smtClean="0"/>
              <a:t>Prosedur</a:t>
            </a:r>
            <a:r>
              <a:rPr lang="en-US" dirty="0" smtClean="0"/>
              <a:t> CRC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762000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 err="1"/>
              <a:t>Prosedur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2 </a:t>
            </a:r>
            <a:r>
              <a:rPr lang="en-US" sz="3600" dirty="0" err="1"/>
              <a:t>cara</a:t>
            </a:r>
            <a:r>
              <a:rPr lang="en-US" sz="3600" dirty="0"/>
              <a:t>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Modulo 2 </a:t>
            </a:r>
            <a:r>
              <a:rPr lang="en-US" sz="3600" dirty="0" err="1"/>
              <a:t>Aritmatik</a:t>
            </a:r>
            <a:endParaRPr lang="en-US" sz="3600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Polynomial</a:t>
            </a:r>
            <a:endParaRPr lang="en-SG" sz="3600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0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944562"/>
          </a:xfrm>
        </p:spPr>
        <p:txBody>
          <a:bodyPr/>
          <a:lstStyle/>
          <a:p>
            <a:r>
              <a:rPr lang="en-US" sz="4800" dirty="0"/>
              <a:t>Modulo 2 Arithmetic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7620000" cy="5105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295400"/>
            <a:ext cx="6934200" cy="4528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02929" y="4537612"/>
            <a:ext cx="5429288" cy="12858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indent="-342900">
              <a:lnSpc>
                <a:spcPct val="17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err="1">
                <a:latin typeface="Franklin Gothic Book" pitchFamily="34" charset="0"/>
              </a:rPr>
              <a:t>Operasi</a:t>
            </a:r>
            <a:r>
              <a:rPr lang="en-US" sz="2800" dirty="0">
                <a:latin typeface="Franklin Gothic Book" pitchFamily="34" charset="0"/>
              </a:rPr>
              <a:t> </a:t>
            </a:r>
            <a:r>
              <a:rPr lang="en-US" sz="2800" dirty="0" err="1">
                <a:latin typeface="Franklin Gothic Book" pitchFamily="34" charset="0"/>
              </a:rPr>
              <a:t>penambahan</a:t>
            </a:r>
            <a:r>
              <a:rPr lang="en-US" sz="2800" dirty="0">
                <a:latin typeface="Franklin Gothic Book" pitchFamily="34" charset="0"/>
              </a:rPr>
              <a:t> </a:t>
            </a:r>
            <a:r>
              <a:rPr lang="en-US" sz="2800" dirty="0" err="1">
                <a:latin typeface="Franklin Gothic Book" pitchFamily="34" charset="0"/>
              </a:rPr>
              <a:t>dan</a:t>
            </a:r>
            <a:r>
              <a:rPr lang="en-US" sz="2800" dirty="0">
                <a:latin typeface="Franklin Gothic Book" pitchFamily="34" charset="0"/>
              </a:rPr>
              <a:t> </a:t>
            </a:r>
            <a:r>
              <a:rPr lang="en-US" sz="2800" dirty="0" err="1">
                <a:latin typeface="Franklin Gothic Book" pitchFamily="34" charset="0"/>
              </a:rPr>
              <a:t>pengurangan</a:t>
            </a:r>
            <a:r>
              <a:rPr lang="en-US" sz="2800" dirty="0">
                <a:latin typeface="Franklin Gothic Book" pitchFamily="34" charset="0"/>
              </a:rPr>
              <a:t> </a:t>
            </a:r>
            <a:r>
              <a:rPr lang="th-TH" sz="2800" dirty="0">
                <a:latin typeface="Franklin Gothic Book" pitchFamily="34" charset="0"/>
              </a:rPr>
              <a:t>= </a:t>
            </a:r>
            <a:r>
              <a:rPr lang="en-US" sz="2800" dirty="0">
                <a:latin typeface="Franklin Gothic Book" pitchFamily="34" charset="0"/>
              </a:rPr>
              <a:t>XOR</a:t>
            </a:r>
            <a:endParaRPr lang="th-TH" sz="2800" dirty="0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34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944562"/>
          </a:xfrm>
        </p:spPr>
        <p:txBody>
          <a:bodyPr/>
          <a:lstStyle/>
          <a:p>
            <a:r>
              <a:rPr lang="en-US" sz="4800" dirty="0"/>
              <a:t>Modulo 2 Arithmetic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41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809720" y="1219200"/>
            <a:ext cx="527688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80000"/>
              </a:lnSpc>
              <a:buNone/>
            </a:pPr>
            <a:r>
              <a:rPr lang="en-US" sz="2400" b="1" dirty="0" err="1"/>
              <a:t>Contoh</a:t>
            </a:r>
            <a:r>
              <a:rPr lang="th-TH" sz="2400" b="1" dirty="0"/>
              <a:t>:</a:t>
            </a:r>
            <a:r>
              <a:rPr lang="th-TH" sz="2400" dirty="0"/>
              <a:t> </a:t>
            </a:r>
            <a:endParaRPr lang="en-US" sz="2400" dirty="0"/>
          </a:p>
          <a:p>
            <a:pPr marL="533400" indent="-533400">
              <a:lnSpc>
                <a:spcPct val="80000"/>
              </a:lnSpc>
            </a:pPr>
            <a:r>
              <a:rPr lang="en-US" sz="2400" dirty="0"/>
              <a:t>Data </a:t>
            </a:r>
            <a:r>
              <a:rPr lang="en-US" sz="2400" dirty="0" err="1"/>
              <a:t>berukuran</a:t>
            </a:r>
            <a:r>
              <a:rPr lang="en-US" sz="2400" dirty="0"/>
              <a:t> m bit </a:t>
            </a:r>
            <a:endParaRPr lang="th-TH" sz="2400" dirty="0"/>
          </a:p>
          <a:p>
            <a:pPr marL="914400" lvl="1" indent="-457200">
              <a:lnSpc>
                <a:spcPct val="80000"/>
              </a:lnSpc>
            </a:pPr>
            <a:r>
              <a:rPr lang="en-US" dirty="0" err="1"/>
              <a:t>Misalnya</a:t>
            </a:r>
            <a:r>
              <a:rPr lang="en-US" dirty="0"/>
              <a:t>: 1001, di </a:t>
            </a:r>
            <a:r>
              <a:rPr lang="en-US" dirty="0" err="1"/>
              <a:t>mana</a:t>
            </a:r>
            <a:r>
              <a:rPr lang="en-US" dirty="0"/>
              <a:t> m </a:t>
            </a:r>
            <a:r>
              <a:rPr lang="th-TH" dirty="0"/>
              <a:t>= </a:t>
            </a:r>
            <a:r>
              <a:rPr lang="en-US" dirty="0"/>
              <a:t>4</a:t>
            </a:r>
            <a:r>
              <a:rPr lang="th-TH" dirty="0"/>
              <a:t> </a:t>
            </a:r>
          </a:p>
          <a:p>
            <a:pPr marL="533400" indent="-533400">
              <a:lnSpc>
                <a:spcPct val="80000"/>
              </a:lnSpc>
            </a:pPr>
            <a:r>
              <a:rPr lang="en-US" sz="2400" dirty="0"/>
              <a:t>Generator (</a:t>
            </a:r>
            <a:r>
              <a:rPr lang="en-US" sz="2400" dirty="0" err="1"/>
              <a:t>pembagi</a:t>
            </a:r>
            <a:r>
              <a:rPr lang="en-US" sz="2400" dirty="0"/>
              <a:t>)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panjang</a:t>
            </a:r>
            <a:r>
              <a:rPr lang="en-US" sz="2400" dirty="0"/>
              <a:t> r bit </a:t>
            </a:r>
            <a:endParaRPr lang="th-TH" sz="2400" dirty="0"/>
          </a:p>
          <a:p>
            <a:pPr marL="914400" lvl="1" indent="-457200">
              <a:lnSpc>
                <a:spcPct val="80000"/>
              </a:lnSpc>
            </a:pPr>
            <a:r>
              <a:rPr lang="en-US" dirty="0" err="1"/>
              <a:t>Misalnya</a:t>
            </a:r>
            <a:r>
              <a:rPr lang="en-US" dirty="0"/>
              <a:t>: 101, di </a:t>
            </a:r>
            <a:r>
              <a:rPr lang="en-US" dirty="0" err="1"/>
              <a:t>mana</a:t>
            </a:r>
            <a:r>
              <a:rPr lang="en-US" dirty="0"/>
              <a:t> r </a:t>
            </a:r>
            <a:r>
              <a:rPr lang="th-TH" dirty="0"/>
              <a:t>= </a:t>
            </a:r>
            <a:r>
              <a:rPr lang="en-US" dirty="0"/>
              <a:t>3</a:t>
            </a:r>
            <a:r>
              <a:rPr lang="th-TH" dirty="0"/>
              <a:t> </a:t>
            </a:r>
            <a:endParaRPr lang="en-US" dirty="0"/>
          </a:p>
          <a:p>
            <a:pPr marL="914400" lvl="1" indent="-457200">
              <a:lnSpc>
                <a:spcPct val="80000"/>
              </a:lnSpc>
              <a:buNone/>
            </a:pPr>
            <a:endParaRPr lang="en-US" dirty="0"/>
          </a:p>
          <a:p>
            <a:pPr marL="533400" indent="-533400">
              <a:lnSpc>
                <a:spcPct val="80000"/>
              </a:lnSpc>
              <a:buNone/>
            </a:pPr>
            <a:r>
              <a:rPr lang="en-US" sz="2400" b="1" dirty="0" err="1"/>
              <a:t>Menentukan</a:t>
            </a:r>
            <a:r>
              <a:rPr lang="en-US" sz="2400" b="1" dirty="0"/>
              <a:t> checksum:</a:t>
            </a:r>
            <a:endParaRPr lang="th-TH" sz="2400" b="1" dirty="0"/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err="1"/>
              <a:t>Tambahkan</a:t>
            </a:r>
            <a:r>
              <a:rPr lang="en-US" sz="2400" dirty="0"/>
              <a:t> </a:t>
            </a:r>
            <a:r>
              <a:rPr lang="en-US" sz="2400" dirty="0" err="1"/>
              <a:t>sejumlah</a:t>
            </a:r>
            <a:r>
              <a:rPr lang="en-US" sz="2400" dirty="0"/>
              <a:t> r-1 bit 0 </a:t>
            </a:r>
            <a:r>
              <a:rPr lang="en-US" sz="2400" dirty="0" err="1"/>
              <a:t>ke</a:t>
            </a:r>
            <a:r>
              <a:rPr lang="en-US" sz="2400" dirty="0"/>
              <a:t> data</a:t>
            </a:r>
            <a:r>
              <a:rPr lang="th-TH" sz="2400" dirty="0"/>
              <a:t>: </a:t>
            </a:r>
            <a:endParaRPr lang="en-US" sz="2400" dirty="0"/>
          </a:p>
          <a:p>
            <a:pPr marL="1295400" lvl="2" indent="-381000">
              <a:lnSpc>
                <a:spcPct val="80000"/>
              </a:lnSpc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100100</a:t>
            </a:r>
            <a:r>
              <a:rPr lang="th-TH" dirty="0"/>
              <a:t> </a:t>
            </a:r>
          </a:p>
          <a:p>
            <a:pPr marL="1295400" lvl="2" indent="-381000">
              <a:lnSpc>
                <a:spcPct val="80000"/>
              </a:lnSpc>
              <a:buNone/>
            </a:pPr>
            <a:endParaRPr lang="th-TH" dirty="0"/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generator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err="1"/>
              <a:t>Sisanya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checksum </a:t>
            </a:r>
            <a:r>
              <a:rPr lang="th-TH" sz="2400" dirty="0"/>
              <a:t>(</a:t>
            </a:r>
            <a:r>
              <a:rPr lang="en-US" sz="2400" dirty="0"/>
              <a:t>11</a:t>
            </a:r>
            <a:r>
              <a:rPr lang="th-TH" sz="2400" dirty="0"/>
              <a:t>)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err="1"/>
              <a:t>Tambahkan</a:t>
            </a:r>
            <a:r>
              <a:rPr lang="en-US" sz="2400" dirty="0"/>
              <a:t> checksum </a:t>
            </a:r>
            <a:r>
              <a:rPr lang="en-US" sz="2400" dirty="0" err="1"/>
              <a:t>ke</a:t>
            </a:r>
            <a:r>
              <a:rPr lang="en-US" sz="2400" dirty="0"/>
              <a:t> data </a:t>
            </a:r>
            <a:r>
              <a:rPr lang="en-US" sz="2400" dirty="0" err="1"/>
              <a:t>asal</a:t>
            </a:r>
            <a:r>
              <a:rPr lang="th-TH" sz="2400" dirty="0"/>
              <a:t>: </a:t>
            </a:r>
          </a:p>
          <a:p>
            <a:pPr marL="1295400" lvl="2" indent="-381000">
              <a:lnSpc>
                <a:spcPct val="80000"/>
              </a:lnSpc>
            </a:pPr>
            <a:r>
              <a:rPr lang="en-US" dirty="0"/>
              <a:t>100111</a:t>
            </a:r>
            <a:r>
              <a:rPr lang="th-TH" dirty="0"/>
              <a:t> </a:t>
            </a:r>
            <a:endParaRPr lang="th-TH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0" y="1524000"/>
            <a:ext cx="2697162" cy="44196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789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42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809720" y="1676400"/>
            <a:ext cx="5572164" cy="4471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2400" dirty="0"/>
              <a:t>Data </a:t>
            </a:r>
            <a:r>
              <a:rPr lang="en-US" sz="2400" dirty="0" err="1"/>
              <a:t>dan</a:t>
            </a:r>
            <a:r>
              <a:rPr lang="en-US" sz="2400" dirty="0"/>
              <a:t> checksum </a:t>
            </a:r>
            <a:r>
              <a:rPr lang="en-US" sz="2400" dirty="0" err="1"/>
              <a:t>dikirimkan</a:t>
            </a:r>
            <a:r>
              <a:rPr lang="en-US" sz="2400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en-US" sz="2400" dirty="0" err="1"/>
              <a:t>penerima</a:t>
            </a:r>
            <a:r>
              <a:rPr lang="en-US" sz="2400" dirty="0"/>
              <a:t>, data </a:t>
            </a:r>
            <a:r>
              <a:rPr lang="en-US" sz="2400" dirty="0" err="1"/>
              <a:t>dan</a:t>
            </a:r>
            <a:r>
              <a:rPr lang="en-US" sz="2400" dirty="0"/>
              <a:t> checksum yang </a:t>
            </a:r>
            <a:r>
              <a:rPr lang="en-US" sz="2400" dirty="0" err="1"/>
              <a:t>diterima</a:t>
            </a:r>
            <a:r>
              <a:rPr lang="en-US" sz="2400" dirty="0"/>
              <a:t> </a:t>
            </a:r>
            <a:r>
              <a:rPr lang="en-US" sz="2400" dirty="0" err="1"/>
              <a:t>dibagi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generator</a:t>
            </a:r>
            <a:r>
              <a:rPr lang="th-TH" sz="2400" dirty="0"/>
              <a:t>.</a:t>
            </a:r>
            <a:endParaRPr lang="en-US" sz="2400" dirty="0"/>
          </a:p>
          <a:p>
            <a:pPr algn="just">
              <a:lnSpc>
                <a:spcPct val="90000"/>
              </a:lnSpc>
            </a:pP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sisanya</a:t>
            </a:r>
            <a:r>
              <a:rPr lang="en-US" sz="2400" dirty="0"/>
              <a:t> 0, </a:t>
            </a:r>
            <a:r>
              <a:rPr lang="en-US" sz="2400" dirty="0" err="1"/>
              <a:t>berarti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</a:t>
            </a:r>
          </a:p>
          <a:p>
            <a:pPr algn="just">
              <a:lnSpc>
                <a:spcPct val="90000"/>
              </a:lnSpc>
            </a:pP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sisanya</a:t>
            </a:r>
            <a:r>
              <a:rPr lang="en-US" sz="2400" dirty="0"/>
              <a:t> </a:t>
            </a:r>
            <a:r>
              <a:rPr lang="en-US" sz="2400" dirty="0" err="1"/>
              <a:t>bukan</a:t>
            </a:r>
            <a:r>
              <a:rPr lang="en-US" sz="2400" dirty="0"/>
              <a:t> 0, </a:t>
            </a:r>
            <a:r>
              <a:rPr lang="en-US" sz="2400" dirty="0" err="1"/>
              <a:t>berarti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</a:t>
            </a:r>
            <a:endParaRPr lang="th-TH" sz="2400" dirty="0"/>
          </a:p>
          <a:p>
            <a:pPr algn="just">
              <a:lnSpc>
                <a:spcPct val="90000"/>
              </a:lnSpc>
            </a:pPr>
            <a:endParaRPr lang="th-TH" sz="2400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400" y="1816899"/>
            <a:ext cx="2514600" cy="41910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8974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Polynomial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43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844872" y="1371601"/>
            <a:ext cx="80611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/>
              <a:t>Cara lain </a:t>
            </a:r>
            <a:r>
              <a:rPr lang="en-US" sz="2400" dirty="0" err="1"/>
              <a:t>mengamati</a:t>
            </a:r>
            <a:r>
              <a:rPr lang="en-US" sz="2400" dirty="0"/>
              <a:t> proses CRC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polynomial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model </a:t>
            </a:r>
            <a:r>
              <a:rPr lang="en-US" sz="2400" dirty="0" err="1"/>
              <a:t>variabel</a:t>
            </a:r>
            <a:r>
              <a:rPr lang="en-US" sz="2400" dirty="0"/>
              <a:t> X,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koefisien-koefisien</a:t>
            </a:r>
            <a:r>
              <a:rPr lang="en-US" sz="2400" dirty="0"/>
              <a:t> </a:t>
            </a:r>
            <a:r>
              <a:rPr lang="en-US" sz="2400" dirty="0" err="1"/>
              <a:t>biner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M=110011</a:t>
            </a:r>
            <a:r>
              <a:rPr lang="en-US" dirty="0">
                <a:cs typeface="Arial" pitchFamily="34" charset="0"/>
              </a:rPr>
              <a:t>→ M(X) = X</a:t>
            </a:r>
            <a:r>
              <a:rPr lang="en-US" baseline="30000" dirty="0">
                <a:cs typeface="Arial" pitchFamily="34" charset="0"/>
              </a:rPr>
              <a:t>5</a:t>
            </a:r>
            <a:r>
              <a:rPr lang="en-US" dirty="0">
                <a:cs typeface="Arial" pitchFamily="34" charset="0"/>
              </a:rPr>
              <a:t>+X</a:t>
            </a:r>
            <a:r>
              <a:rPr lang="en-US" baseline="30000" dirty="0">
                <a:cs typeface="Arial" pitchFamily="34" charset="0"/>
              </a:rPr>
              <a:t>4</a:t>
            </a:r>
            <a:r>
              <a:rPr lang="en-US" dirty="0">
                <a:cs typeface="Arial" pitchFamily="34" charset="0"/>
              </a:rPr>
              <a:t>+X+1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cs typeface="Arial" pitchFamily="34" charset="0"/>
              </a:rPr>
              <a:t>R=1101 → R(X)= X</a:t>
            </a:r>
            <a:r>
              <a:rPr lang="en-US" baseline="30000" dirty="0">
                <a:cs typeface="Arial" pitchFamily="34" charset="0"/>
              </a:rPr>
              <a:t>4</a:t>
            </a:r>
            <a:r>
              <a:rPr lang="en-US" dirty="0">
                <a:cs typeface="Arial" pitchFamily="34" charset="0"/>
              </a:rPr>
              <a:t>+X</a:t>
            </a:r>
            <a:r>
              <a:rPr lang="en-US" baseline="30000" dirty="0">
                <a:cs typeface="Arial" pitchFamily="34" charset="0"/>
              </a:rPr>
              <a:t>3</a:t>
            </a:r>
            <a:r>
              <a:rPr lang="en-US" dirty="0">
                <a:cs typeface="Arial" pitchFamily="34" charset="0"/>
              </a:rPr>
              <a:t>+1</a:t>
            </a:r>
          </a:p>
          <a:p>
            <a:pPr algn="just">
              <a:lnSpc>
                <a:spcPct val="150000"/>
              </a:lnSpc>
            </a:pP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273794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752600"/>
            <a:ext cx="666275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1098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3657600" cy="2297156"/>
          </a:xfrm>
        </p:spPr>
        <p:txBody>
          <a:bodyPr>
            <a:normAutofit/>
          </a:bodyPr>
          <a:lstStyle/>
          <a:p>
            <a:r>
              <a:rPr lang="en-US" dirty="0"/>
              <a:t>Polynomial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divisor (</a:t>
            </a:r>
            <a:r>
              <a:rPr lang="en-US" dirty="0" err="1"/>
              <a:t>pembagi</a:t>
            </a:r>
            <a:r>
              <a:rPr lang="en-US" dirty="0"/>
              <a:t>)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1722506"/>
            <a:ext cx="3643338" cy="434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100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46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095604" y="214290"/>
            <a:ext cx="7115196" cy="1143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ko-KR"/>
              <a:t>Standard Polynomials</a:t>
            </a:r>
            <a:endParaRPr lang="en-US" altLang="ko-KR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26642" y="1676401"/>
            <a:ext cx="832964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rgbClr val="000000"/>
                </a:solidFill>
              </a:rPr>
              <a:t>Standard polynomials</a:t>
            </a:r>
          </a:p>
          <a:p>
            <a:pPr>
              <a:buFont typeface="Arial" pitchFamily="34" charset="0"/>
              <a:buNone/>
            </a:pPr>
            <a:r>
              <a:rPr lang="en-US" sz="2400" dirty="0"/>
              <a:t>	</a:t>
            </a:r>
            <a:r>
              <a:rPr lang="en-US" sz="2400" dirty="0" err="1"/>
              <a:t>Empat</a:t>
            </a:r>
            <a:r>
              <a:rPr lang="en-US" sz="2400" dirty="0"/>
              <a:t> </a:t>
            </a:r>
            <a:r>
              <a:rPr lang="en-US" sz="2400" dirty="0" err="1"/>
              <a:t>versi</a:t>
            </a:r>
            <a:r>
              <a:rPr lang="en-US" sz="2400" dirty="0"/>
              <a:t> R(X) yang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luas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:</a:t>
            </a:r>
          </a:p>
          <a:p>
            <a:endParaRPr lang="en-US" altLang="ko-KR" sz="2400" dirty="0">
              <a:solidFill>
                <a:srgbClr val="000000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3900" y="3276601"/>
            <a:ext cx="8095901" cy="274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116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F09B-48B8-4AF2-A23A-8157E1C58D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71BC-9659-4480-AF05-4821EB9FCB18}" type="slidenum">
              <a:rPr lang="en-US" smtClean="0"/>
              <a:t>47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2827" y="3347316"/>
            <a:ext cx="10515600" cy="132556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7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9581</TotalTime>
  <Words>2275</Words>
  <Application>Microsoft Office PowerPoint</Application>
  <PresentationFormat>Widescreen</PresentationFormat>
  <Paragraphs>331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맑은 고딕</vt:lpstr>
      <vt:lpstr>Angsana New</vt:lpstr>
      <vt:lpstr>Arial</vt:lpstr>
      <vt:lpstr>Calibri</vt:lpstr>
      <vt:lpstr>Calibri Light</vt:lpstr>
      <vt:lpstr>Cambria Math</vt:lpstr>
      <vt:lpstr>Cordia New</vt:lpstr>
      <vt:lpstr>Franklin Gothic Book</vt:lpstr>
      <vt:lpstr>Wingdings</vt:lpstr>
      <vt:lpstr>Office Theme</vt:lpstr>
      <vt:lpstr>PowerPoint Presentation</vt:lpstr>
      <vt:lpstr>Multiplexing </vt:lpstr>
      <vt:lpstr>PowerPoint Presentation</vt:lpstr>
      <vt:lpstr>Contoh FDM</vt:lpstr>
      <vt:lpstr>Teknik Multiplexing (2)</vt:lpstr>
      <vt:lpstr>Jenis-Jenis TDM</vt:lpstr>
      <vt:lpstr>Jenis-Jenis TDM</vt:lpstr>
      <vt:lpstr>Ex</vt:lpstr>
      <vt:lpstr> Multiplexing, Flow Control dan Error Detection</vt:lpstr>
      <vt:lpstr>Multiplexing </vt:lpstr>
      <vt:lpstr>PowerPoint Presentation</vt:lpstr>
      <vt:lpstr>Teknik Multiplexing (1)</vt:lpstr>
      <vt:lpstr>Contoh FDM</vt:lpstr>
      <vt:lpstr>Teknik Multiplexing (2)</vt:lpstr>
      <vt:lpstr>Jenis-Jenis TDM</vt:lpstr>
      <vt:lpstr>Jenis-Jenis TDM</vt:lpstr>
      <vt:lpstr>FLOW CONTROL</vt:lpstr>
      <vt:lpstr>1. Stop and wait flow control </vt:lpstr>
      <vt:lpstr>Ilustrasi Stop and wait flow control </vt:lpstr>
      <vt:lpstr>2. Sliding window flow control </vt:lpstr>
      <vt:lpstr>Ilustrasi Sliding window flow control </vt:lpstr>
      <vt:lpstr>DETEKSI KESALAHAN</vt:lpstr>
      <vt:lpstr>PRINSIP DASAR (2)</vt:lpstr>
      <vt:lpstr>PRINSIP DASAR (3)</vt:lpstr>
      <vt:lpstr>PRINSIP DASAR (4)</vt:lpstr>
      <vt:lpstr>PRINSIP DASAR (5)</vt:lpstr>
      <vt:lpstr>PRINSIP DASAR (6)</vt:lpstr>
      <vt:lpstr>PRINSIP DASAR (6)</vt:lpstr>
      <vt:lpstr>Error Detection and Correction</vt:lpstr>
      <vt:lpstr>METODE PENDETEKSIAN ERROR</vt:lpstr>
      <vt:lpstr>Bit Parity / Bit Paritas</vt:lpstr>
      <vt:lpstr>1. VERTICAL REDUNDANCY CHECK</vt:lpstr>
      <vt:lpstr>Contoh Generator Parity Bit</vt:lpstr>
      <vt:lpstr>2. Longitudinal Redundancy Check</vt:lpstr>
      <vt:lpstr>PowerPoint Presentation</vt:lpstr>
      <vt:lpstr>PowerPoint Presentation</vt:lpstr>
      <vt:lpstr>3. Cyclic Redundancy Check</vt:lpstr>
      <vt:lpstr>3. Cyclic Redundancy Check</vt:lpstr>
      <vt:lpstr>Prosedur CRC</vt:lpstr>
      <vt:lpstr>Modulo 2 Arithmetic </vt:lpstr>
      <vt:lpstr>Modulo 2 Arithmetic </vt:lpstr>
      <vt:lpstr>PowerPoint Presentation</vt:lpstr>
      <vt:lpstr>Polynomial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83</cp:revision>
  <dcterms:created xsi:type="dcterms:W3CDTF">2022-08-25T13:17:53Z</dcterms:created>
  <dcterms:modified xsi:type="dcterms:W3CDTF">2026-04-27T10:08:01Z</dcterms:modified>
</cp:coreProperties>
</file>