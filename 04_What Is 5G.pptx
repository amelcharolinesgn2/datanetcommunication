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358" r:id="rId2"/>
    <p:sldId id="359" r:id="rId3"/>
    <p:sldId id="360" r:id="rId4"/>
    <p:sldId id="361" r:id="rId5"/>
    <p:sldId id="362" r:id="rId6"/>
    <p:sldId id="363" r:id="rId7"/>
    <p:sldId id="364" r:id="rId8"/>
    <p:sldId id="365" r:id="rId9"/>
    <p:sldId id="366" r:id="rId10"/>
    <p:sldId id="367" r:id="rId11"/>
    <p:sldId id="368" r:id="rId12"/>
    <p:sldId id="369" r:id="rId13"/>
    <p:sldId id="370" r:id="rId14"/>
    <p:sldId id="371" r:id="rId15"/>
    <p:sldId id="372" r:id="rId16"/>
    <p:sldId id="373" r:id="rId17"/>
    <p:sldId id="309" r:id="rId18"/>
  </p:sldIdLst>
  <p:sldSz cx="18288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A8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7" autoAdjust="0"/>
    <p:restoredTop sz="72390" autoAdjust="0"/>
  </p:normalViewPr>
  <p:slideViewPr>
    <p:cSldViewPr snapToGrid="0">
      <p:cViewPr>
        <p:scale>
          <a:sx n="60" d="100"/>
          <a:sy n="60" d="100"/>
        </p:scale>
        <p:origin x="1296" y="8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DDF89F-52F8-4F03-87EB-19BAA8A560B9}" type="datetimeFigureOut">
              <a:rPr lang="en-US" smtClean="0"/>
              <a:t>2/20/2025</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2875A6-9D03-4636-B619-E0857D04C032}" type="slidenum">
              <a:rPr lang="en-US" smtClean="0"/>
              <a:t>‹#›</a:t>
            </a:fld>
            <a:endParaRPr lang="en-US"/>
          </a:p>
        </p:txBody>
      </p:sp>
    </p:spTree>
    <p:extLst>
      <p:ext uri="{BB962C8B-B14F-4D97-AF65-F5344CB8AC3E}">
        <p14:creationId xmlns:p14="http://schemas.microsoft.com/office/powerpoint/2010/main" val="2062777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2</a:t>
            </a:fld>
            <a:endParaRPr lang="en-GB"/>
          </a:p>
        </p:txBody>
      </p:sp>
    </p:spTree>
    <p:extLst>
      <p:ext uri="{BB962C8B-B14F-4D97-AF65-F5344CB8AC3E}">
        <p14:creationId xmlns:p14="http://schemas.microsoft.com/office/powerpoint/2010/main" val="2992066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3684CBA-3B3F-403F-9888-DD4FE2FF48A4}" type="slidenum">
              <a:rPr lang="en-GB" smtClean="0"/>
              <a:t>3</a:t>
            </a:fld>
            <a:endParaRPr lang="en-GB"/>
          </a:p>
        </p:txBody>
      </p:sp>
    </p:spTree>
    <p:extLst>
      <p:ext uri="{BB962C8B-B14F-4D97-AF65-F5344CB8AC3E}">
        <p14:creationId xmlns:p14="http://schemas.microsoft.com/office/powerpoint/2010/main" val="2886418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5</a:t>
            </a:fld>
            <a:endParaRPr lang="en-GB"/>
          </a:p>
        </p:txBody>
      </p:sp>
    </p:spTree>
    <p:extLst>
      <p:ext uri="{BB962C8B-B14F-4D97-AF65-F5344CB8AC3E}">
        <p14:creationId xmlns:p14="http://schemas.microsoft.com/office/powerpoint/2010/main" val="2668136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6</a:t>
            </a:fld>
            <a:endParaRPr lang="en-GB"/>
          </a:p>
        </p:txBody>
      </p:sp>
    </p:spTree>
    <p:extLst>
      <p:ext uri="{BB962C8B-B14F-4D97-AF65-F5344CB8AC3E}">
        <p14:creationId xmlns:p14="http://schemas.microsoft.com/office/powerpoint/2010/main" val="4182710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smtClean="0"/>
          </a:p>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7</a:t>
            </a:fld>
            <a:endParaRPr lang="en-GB"/>
          </a:p>
        </p:txBody>
      </p:sp>
    </p:spTree>
    <p:extLst>
      <p:ext uri="{BB962C8B-B14F-4D97-AF65-F5344CB8AC3E}">
        <p14:creationId xmlns:p14="http://schemas.microsoft.com/office/powerpoint/2010/main" val="1092419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3684CBA-3B3F-403F-9888-DD4FE2FF48A4}" type="slidenum">
              <a:rPr lang="en-GB" smtClean="0"/>
              <a:t>8</a:t>
            </a:fld>
            <a:endParaRPr lang="en-GB"/>
          </a:p>
        </p:txBody>
      </p:sp>
    </p:spTree>
    <p:extLst>
      <p:ext uri="{BB962C8B-B14F-4D97-AF65-F5344CB8AC3E}">
        <p14:creationId xmlns:p14="http://schemas.microsoft.com/office/powerpoint/2010/main" val="309780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14</a:t>
            </a:fld>
            <a:endParaRPr lang="en-GB"/>
          </a:p>
        </p:txBody>
      </p:sp>
    </p:spTree>
    <p:extLst>
      <p:ext uri="{BB962C8B-B14F-4D97-AF65-F5344CB8AC3E}">
        <p14:creationId xmlns:p14="http://schemas.microsoft.com/office/powerpoint/2010/main" val="4075298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3684CBA-3B3F-403F-9888-DD4FE2FF48A4}" type="slidenum">
              <a:rPr lang="en-GB" smtClean="0"/>
              <a:t>16</a:t>
            </a:fld>
            <a:endParaRPr lang="en-GB"/>
          </a:p>
        </p:txBody>
      </p:sp>
    </p:spTree>
    <p:extLst>
      <p:ext uri="{BB962C8B-B14F-4D97-AF65-F5344CB8AC3E}">
        <p14:creationId xmlns:p14="http://schemas.microsoft.com/office/powerpoint/2010/main" val="1096307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496484"/>
            <a:ext cx="13716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286000" y="4802717"/>
            <a:ext cx="13716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2AFAC7-9529-4A9A-BF85-B7BA5F258E30}"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2455355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AFAC7-9529-4A9A-BF85-B7BA5F258E30}"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2879800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279652"/>
            <a:ext cx="157734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247775" y="6119285"/>
            <a:ext cx="15773400" cy="2000249"/>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2AFAC7-9529-4A9A-BF85-B7BA5F258E30}"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4195042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434167"/>
            <a:ext cx="77724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434167"/>
            <a:ext cx="77724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2AFAC7-9529-4A9A-BF85-B7BA5F258E30}"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1451632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486834"/>
            <a:ext cx="157734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241551"/>
            <a:ext cx="7736681"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4" name="Content Placeholder 3"/>
          <p:cNvSpPr>
            <a:spLocks noGrp="1"/>
          </p:cNvSpPr>
          <p:nvPr>
            <p:ph sz="half" idx="2"/>
          </p:nvPr>
        </p:nvSpPr>
        <p:spPr>
          <a:xfrm>
            <a:off x="1259683" y="3340100"/>
            <a:ext cx="7736681"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241551"/>
            <a:ext cx="7774782"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6" name="Content Placeholder 5"/>
          <p:cNvSpPr>
            <a:spLocks noGrp="1"/>
          </p:cNvSpPr>
          <p:nvPr>
            <p:ph sz="quarter" idx="4"/>
          </p:nvPr>
        </p:nvSpPr>
        <p:spPr>
          <a:xfrm>
            <a:off x="9258300" y="3340100"/>
            <a:ext cx="7774782"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2AFAC7-9529-4A9A-BF85-B7BA5F258E30}" type="datetimeFigureOut">
              <a:rPr lang="en-US" smtClean="0"/>
              <a:t>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1791476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2AFAC7-9529-4A9A-BF85-B7BA5F258E30}" type="datetimeFigureOut">
              <a:rPr lang="en-US" smtClean="0"/>
              <a:t>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30199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AFAC7-9529-4A9A-BF85-B7BA5F258E30}" type="datetimeFigureOut">
              <a:rPr lang="en-US" smtClean="0"/>
              <a:t>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436540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09600"/>
            <a:ext cx="5898356"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7774782" y="1316567"/>
            <a:ext cx="92583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2743200"/>
            <a:ext cx="5898356"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5B2AFAC7-9529-4A9A-BF85-B7BA5F258E30}"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9172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09600"/>
            <a:ext cx="5898356"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316567"/>
            <a:ext cx="92583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259683" y="2743200"/>
            <a:ext cx="5898356"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5B2AFAC7-9529-4A9A-BF85-B7BA5F258E30}"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4037850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AFAC7-9529-4A9A-BF85-B7BA5F258E30}"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32766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486834"/>
            <a:ext cx="394335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486834"/>
            <a:ext cx="11601450"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2AFAC7-9529-4A9A-BF85-B7BA5F258E30}"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2515F7-53E5-4A62-8A83-FD482F75CCC4}" type="slidenum">
              <a:rPr lang="en-US" smtClean="0"/>
              <a:t>‹#›</a:t>
            </a:fld>
            <a:endParaRPr lang="en-US"/>
          </a:p>
        </p:txBody>
      </p:sp>
    </p:spTree>
    <p:extLst>
      <p:ext uri="{BB962C8B-B14F-4D97-AF65-F5344CB8AC3E}">
        <p14:creationId xmlns:p14="http://schemas.microsoft.com/office/powerpoint/2010/main" val="1870446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486834"/>
            <a:ext cx="157734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434167"/>
            <a:ext cx="15773400"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8475134"/>
            <a:ext cx="41148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5B2AFAC7-9529-4A9A-BF85-B7BA5F258E30}" type="datetimeFigureOut">
              <a:rPr lang="en-US" smtClean="0"/>
              <a:t>2/20/2025</a:t>
            </a:fld>
            <a:endParaRPr lang="en-US"/>
          </a:p>
        </p:txBody>
      </p:sp>
      <p:sp>
        <p:nvSpPr>
          <p:cNvPr id="5" name="Footer Placeholder 4"/>
          <p:cNvSpPr>
            <a:spLocks noGrp="1"/>
          </p:cNvSpPr>
          <p:nvPr>
            <p:ph type="ftr" sz="quarter" idx="3"/>
          </p:nvPr>
        </p:nvSpPr>
        <p:spPr>
          <a:xfrm>
            <a:off x="6057900" y="8475134"/>
            <a:ext cx="61722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8475134"/>
            <a:ext cx="41148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622515F7-53E5-4A62-8A83-FD482F75CCC4}" type="slidenum">
              <a:rPr lang="en-US" smtClean="0"/>
              <a:t>‹#›</a:t>
            </a:fld>
            <a:endParaRPr lang="en-US"/>
          </a:p>
        </p:txBody>
      </p:sp>
    </p:spTree>
    <p:extLst>
      <p:ext uri="{BB962C8B-B14F-4D97-AF65-F5344CB8AC3E}">
        <p14:creationId xmlns:p14="http://schemas.microsoft.com/office/powerpoint/2010/main" val="18665337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gif"/><Relationship Id="rId5" Type="http://schemas.openxmlformats.org/officeDocument/2006/relationships/image" Target="../media/image4.gif"/><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www.google.com/url?sa=i&amp;rct=j&amp;q=&amp;esrc=s&amp;source=images&amp;cd=&amp;cad=rja&amp;uact=8&amp;ved=0ahUKEwismrXFm__KAhVFWhQKHcryB3kQjRwIBw&amp;url=http://www.scampstudy.org/the-science/&amp;bvm=bv.114195076,d.d24&amp;psig=AFQjCNE278C8YFR16dCDqoMNGBKytIolTQ&amp;ust=1455812811843540"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www.health.govt.nz/publication/electric-and-magnetic-fields-and-your-health" TargetMode="External"/><Relationship Id="rId3" Type="http://schemas.openxmlformats.org/officeDocument/2006/relationships/hyperlink" Target="https://carrier.huawei.com/~/media/cnbgv2/download/products/antenna/go-for-5g.pdf" TargetMode="External"/><Relationship Id="rId7" Type="http://schemas.openxmlformats.org/officeDocument/2006/relationships/hyperlink" Target="https://www.arpansa.gov.au/understanding-radiation/radiation-sources/more-radiation-sources/electricity" TargetMode="External"/><Relationship Id="rId12" Type="http://schemas.openxmlformats.org/officeDocument/2006/relationships/hyperlink" Target="https://www.emf-portal.org/e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gov.uk/government/publications/radiofrequency-electromagnetic-fields-health-effects" TargetMode="External"/><Relationship Id="rId11" Type="http://schemas.openxmlformats.org/officeDocument/2006/relationships/hyperlink" Target="http://www.emfandhealth.com/" TargetMode="External"/><Relationship Id="rId5" Type="http://schemas.openxmlformats.org/officeDocument/2006/relationships/hyperlink" Target="https://www.who.int/peh-emf/project/en/" TargetMode="External"/><Relationship Id="rId10" Type="http://schemas.openxmlformats.org/officeDocument/2006/relationships/hyperlink" Target="https://www.fcc.gov/general/radio-frequency-safety-0" TargetMode="External"/><Relationship Id="rId4" Type="http://schemas.openxmlformats.org/officeDocument/2006/relationships/hyperlink" Target="https://support.huawei.com/enterprise/en/doc/EDOC1100112349/cfb76756/5g-network-architectures-and-technologies" TargetMode="External"/><Relationship Id="rId9" Type="http://schemas.openxmlformats.org/officeDocument/2006/relationships/hyperlink" Target="https://www.ic.gc.ca/eic/site/smt-gst.nsf/eng/sf09583.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69434" y="252249"/>
            <a:ext cx="2970951" cy="1893514"/>
          </a:xfrm>
          <a:prstGeom prst="rect">
            <a:avLst/>
          </a:prstGeom>
        </p:spPr>
      </p:pic>
      <p:sp>
        <p:nvSpPr>
          <p:cNvPr id="15" name="Rectangle 14"/>
          <p:cNvSpPr/>
          <p:nvPr/>
        </p:nvSpPr>
        <p:spPr>
          <a:xfrm>
            <a:off x="13835766" y="7708717"/>
            <a:ext cx="4217028" cy="338554"/>
          </a:xfrm>
          <a:prstGeom prst="rect">
            <a:avLst/>
          </a:prstGeom>
        </p:spPr>
        <p:txBody>
          <a:bodyPr wrap="square">
            <a:spAutoFit/>
          </a:bodyPr>
          <a:lstStyle/>
          <a:p>
            <a:r>
              <a:rPr lang="en-US" sz="1600" dirty="0"/>
              <a:t>https://www.youtube.com/@AmelOline/videos</a:t>
            </a:r>
          </a:p>
        </p:txBody>
      </p:sp>
      <p:sp>
        <p:nvSpPr>
          <p:cNvPr id="16" name="Rectangle 15"/>
          <p:cNvSpPr/>
          <p:nvPr/>
        </p:nvSpPr>
        <p:spPr>
          <a:xfrm>
            <a:off x="15376467" y="7477885"/>
            <a:ext cx="2566444" cy="338554"/>
          </a:xfrm>
          <a:prstGeom prst="rect">
            <a:avLst/>
          </a:prstGeom>
        </p:spPr>
        <p:txBody>
          <a:bodyPr wrap="square">
            <a:spAutoFit/>
          </a:bodyPr>
          <a:lstStyle/>
          <a:p>
            <a:r>
              <a:rPr lang="en-US" sz="1600" dirty="0"/>
              <a:t>https://github.com/siagianp</a:t>
            </a:r>
          </a:p>
        </p:txBody>
      </p:sp>
      <p:sp>
        <p:nvSpPr>
          <p:cNvPr id="17" name="Rectangle 16"/>
          <p:cNvSpPr/>
          <p:nvPr/>
        </p:nvSpPr>
        <p:spPr>
          <a:xfrm>
            <a:off x="12135242" y="7986320"/>
            <a:ext cx="6034529" cy="338554"/>
          </a:xfrm>
          <a:prstGeom prst="rect">
            <a:avLst/>
          </a:prstGeom>
        </p:spPr>
        <p:txBody>
          <a:bodyPr wrap="square">
            <a:spAutoFit/>
          </a:bodyPr>
          <a:lstStyle/>
          <a:p>
            <a:r>
              <a:rPr lang="en-US" sz="1600" dirty="0"/>
              <a:t>https://github.com/amelcharolinesgn2/IoT_simulator-mqtt-NodeRed</a:t>
            </a:r>
          </a:p>
        </p:txBody>
      </p:sp>
      <p:pic>
        <p:nvPicPr>
          <p:cNvPr id="30" name="Picture 29"/>
          <p:cNvPicPr>
            <a:picLocks noChangeAspect="1"/>
          </p:cNvPicPr>
          <p:nvPr/>
        </p:nvPicPr>
        <p:blipFill rotWithShape="1">
          <a:blip r:embed="rId3"/>
          <a:srcRect l="8646" t="12924" r="16013" b="9596"/>
          <a:stretch/>
        </p:blipFill>
        <p:spPr>
          <a:xfrm>
            <a:off x="523338" y="2845716"/>
            <a:ext cx="1814802" cy="1866326"/>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717481" y="3785172"/>
            <a:ext cx="1528139" cy="485916"/>
          </a:xfrm>
          <a:prstGeom prst="rect">
            <a:avLst/>
          </a:prstGeom>
          <a:ln>
            <a:noFill/>
          </a:ln>
          <a:effectLst>
            <a:softEdge rad="112500"/>
          </a:effectLst>
        </p:spPr>
      </p:pic>
      <p:pic>
        <p:nvPicPr>
          <p:cNvPr id="23" name="Picture 20" descr="GIFs Fish Transparent School GIF"/>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06376" y="6171812"/>
            <a:ext cx="2697065" cy="202279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Download Abstract Bubble 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0" y="7265638"/>
            <a:ext cx="1106421" cy="76304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Download Abstract Bubble 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9434" y="6326182"/>
            <a:ext cx="1106421" cy="7630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7"/>
          <a:stretch>
            <a:fillRect/>
          </a:stretch>
        </p:blipFill>
        <p:spPr>
          <a:xfrm>
            <a:off x="459104" y="1823915"/>
            <a:ext cx="2844104" cy="319983"/>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716252" y="1305401"/>
            <a:ext cx="1465449" cy="553927"/>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algn="ctr"/>
              <a:endParaRPr lang="ko-KR" altLang="en-US" sz="48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62560" tIns="81280" rIns="162560" bIns="81280" numCol="1" spcCol="0" rtlCol="0" fromWordArt="0" anchor="ctr" anchorCtr="0" forceAA="0" compatLnSpc="1">
              <a:prstTxWarp prst="textNoShape">
                <a:avLst/>
              </a:prstTxWarp>
              <a:noAutofit/>
            </a:bodyPr>
            <a:lstStyle/>
            <a:p>
              <a:pPr algn="ctr"/>
              <a:endParaRPr lang="ko-KR" altLang="en-US" sz="48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646818" y="1267288"/>
            <a:ext cx="504739" cy="257272"/>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704964" y="1313092"/>
            <a:ext cx="548702" cy="187826"/>
          </a:xfrm>
          <a:prstGeom prst="rect">
            <a:avLst/>
          </a:prstGeom>
        </p:spPr>
        <p:txBody>
          <a:bodyPr vert="horz" lIns="121920" tIns="60960" rIns="121920" bIns="6096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33" dirty="0">
                <a:solidFill>
                  <a:srgbClr val="7030A0"/>
                </a:solidFill>
              </a:rPr>
              <a:t>PDS</a:t>
            </a:r>
          </a:p>
        </p:txBody>
      </p:sp>
      <p:pic>
        <p:nvPicPr>
          <p:cNvPr id="18" name="Picture 17"/>
          <p:cNvPicPr>
            <a:picLocks noChangeAspect="1"/>
          </p:cNvPicPr>
          <p:nvPr/>
        </p:nvPicPr>
        <p:blipFill>
          <a:blip r:embed="rId8"/>
          <a:stretch>
            <a:fillRect/>
          </a:stretch>
        </p:blipFill>
        <p:spPr>
          <a:xfrm>
            <a:off x="2234537" y="1481878"/>
            <a:ext cx="293324" cy="418112"/>
          </a:xfrm>
          <a:prstGeom prst="rect">
            <a:avLst/>
          </a:prstGeom>
        </p:spPr>
      </p:pic>
      <p:pic>
        <p:nvPicPr>
          <p:cNvPr id="19" name="Picture 18"/>
          <p:cNvPicPr>
            <a:picLocks noChangeAspect="1"/>
          </p:cNvPicPr>
          <p:nvPr/>
        </p:nvPicPr>
        <p:blipFill>
          <a:blip r:embed="rId9"/>
          <a:stretch>
            <a:fillRect/>
          </a:stretch>
        </p:blipFill>
        <p:spPr>
          <a:xfrm>
            <a:off x="1393446" y="1449176"/>
            <a:ext cx="403335" cy="383168"/>
          </a:xfrm>
          <a:prstGeom prst="rect">
            <a:avLst/>
          </a:prstGeom>
        </p:spPr>
      </p:pic>
      <p:pic>
        <p:nvPicPr>
          <p:cNvPr id="20" name="Picture 19"/>
          <p:cNvPicPr>
            <a:picLocks noChangeAspect="1"/>
          </p:cNvPicPr>
          <p:nvPr/>
        </p:nvPicPr>
        <p:blipFill>
          <a:blip r:embed="rId10"/>
          <a:stretch>
            <a:fillRect/>
          </a:stretch>
        </p:blipFill>
        <p:spPr>
          <a:xfrm>
            <a:off x="1002875" y="1498613"/>
            <a:ext cx="394308" cy="37977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387418" y="1613285"/>
            <a:ext cx="2756171" cy="391676"/>
          </a:xfrm>
          <a:prstGeom prst="rect">
            <a:avLst/>
          </a:prstGeom>
        </p:spPr>
        <p:txBody>
          <a:bodyPr vert="horz" lIns="121920" tIns="60960" rIns="121920" bIns="6096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a:solidFill>
                  <a:schemeClr val="accent1">
                    <a:lumMod val="75000"/>
                  </a:schemeClr>
                </a:solidFill>
              </a:rPr>
              <a:t>Computer </a:t>
            </a:r>
            <a:r>
              <a:rPr lang="en-US" sz="2800" dirty="0">
                <a:solidFill>
                  <a:srgbClr val="00B0F0"/>
                </a:solidFill>
              </a:rPr>
              <a:t>Vision</a:t>
            </a:r>
          </a:p>
        </p:txBody>
      </p:sp>
      <p:sp>
        <p:nvSpPr>
          <p:cNvPr id="26" name="Title 1"/>
          <p:cNvSpPr txBox="1">
            <a:spLocks/>
          </p:cNvSpPr>
          <p:nvPr/>
        </p:nvSpPr>
        <p:spPr>
          <a:xfrm>
            <a:off x="3460120" y="2944625"/>
            <a:ext cx="14020800" cy="1767417"/>
          </a:xfrm>
          <a:prstGeom prst="rect">
            <a:avLst/>
          </a:prstGeom>
        </p:spPr>
        <p:txBody>
          <a:bodyPr vert="horz" lIns="121920" tIns="60960" rIns="121920" bIns="6096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8000" dirty="0">
                <a:solidFill>
                  <a:srgbClr val="002060"/>
                </a:solidFill>
              </a:rPr>
              <a:t>What Is 5G</a:t>
            </a:r>
            <a:endParaRPr lang="en-US" sz="8000" dirty="0">
              <a:solidFill>
                <a:srgbClr val="002060"/>
              </a:solidFill>
            </a:endParaRPr>
          </a:p>
        </p:txBody>
      </p:sp>
      <p:sp>
        <p:nvSpPr>
          <p:cNvPr id="3" name="Rectangle 2"/>
          <p:cNvSpPr/>
          <p:nvPr/>
        </p:nvSpPr>
        <p:spPr>
          <a:xfrm>
            <a:off x="12135242" y="8272411"/>
            <a:ext cx="3798476" cy="369332"/>
          </a:xfrm>
          <a:prstGeom prst="rect">
            <a:avLst/>
          </a:prstGeom>
        </p:spPr>
        <p:txBody>
          <a:bodyPr wrap="none">
            <a:spAutoFit/>
          </a:bodyPr>
          <a:lstStyle/>
          <a:p>
            <a:r>
              <a:rPr lang="en-US" dirty="0"/>
              <a:t>github.com/amelcharolinesgn2/ANJAR</a:t>
            </a:r>
          </a:p>
        </p:txBody>
      </p:sp>
    </p:spTree>
    <p:extLst>
      <p:ext uri="{BB962C8B-B14F-4D97-AF65-F5344CB8AC3E}">
        <p14:creationId xmlns:p14="http://schemas.microsoft.com/office/powerpoint/2010/main" val="96405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392" y="155510"/>
            <a:ext cx="10972800" cy="941453"/>
          </a:xfrm>
        </p:spPr>
        <p:txBody>
          <a:bodyPr>
            <a:normAutofit/>
          </a:bodyPr>
          <a:lstStyle/>
          <a:p>
            <a:r>
              <a:rPr lang="en-GB" sz="3733" dirty="0"/>
              <a:t>Policy and Strategy</a:t>
            </a:r>
            <a:endParaRPr lang="en-GB" sz="3733" dirty="0"/>
          </a:p>
        </p:txBody>
      </p:sp>
      <p:sp>
        <p:nvSpPr>
          <p:cNvPr id="3" name="Content Placeholder 2"/>
          <p:cNvSpPr>
            <a:spLocks noGrp="1"/>
          </p:cNvSpPr>
          <p:nvPr>
            <p:ph idx="1"/>
          </p:nvPr>
        </p:nvSpPr>
        <p:spPr>
          <a:xfrm>
            <a:off x="3191339" y="1307637"/>
            <a:ext cx="11809312" cy="7200800"/>
          </a:xfrm>
        </p:spPr>
        <p:txBody>
          <a:bodyPr>
            <a:normAutofit/>
          </a:bodyPr>
          <a:lstStyle/>
          <a:p>
            <a:r>
              <a:rPr lang="en-GB" dirty="0" smtClean="0"/>
              <a:t>Chief Ministers Committee Report</a:t>
            </a:r>
          </a:p>
          <a:p>
            <a:pPr lvl="1"/>
            <a:r>
              <a:rPr lang="en-GB" dirty="0" smtClean="0"/>
              <a:t>Received by Tynwald in May 2018</a:t>
            </a:r>
          </a:p>
          <a:p>
            <a:pPr lvl="1"/>
            <a:r>
              <a:rPr lang="en-GB" dirty="0" smtClean="0"/>
              <a:t>Identified the importance of new technology such as 5G</a:t>
            </a:r>
          </a:p>
          <a:p>
            <a:pPr marL="609585" lvl="1" indent="0">
              <a:buNone/>
            </a:pPr>
            <a:endParaRPr lang="en-GB" dirty="0"/>
          </a:p>
          <a:p>
            <a:r>
              <a:rPr lang="en-GB" dirty="0" smtClean="0"/>
              <a:t>National Telecoms Strategy</a:t>
            </a:r>
          </a:p>
          <a:p>
            <a:pPr lvl="1"/>
            <a:r>
              <a:rPr lang="en-GB" dirty="0" smtClean="0"/>
              <a:t>Unanimously approved by Tynwald in October 2018</a:t>
            </a:r>
          </a:p>
          <a:p>
            <a:pPr lvl="1"/>
            <a:r>
              <a:rPr lang="en-GB" dirty="0" smtClean="0"/>
              <a:t>Supportive of 5G implementation</a:t>
            </a:r>
          </a:p>
          <a:p>
            <a:pPr lvl="1"/>
            <a:endParaRPr lang="en-GB" dirty="0"/>
          </a:p>
          <a:p>
            <a:r>
              <a:rPr lang="en-GB" sz="4800" dirty="0">
                <a:latin typeface="Arial" charset="0"/>
              </a:rPr>
              <a:t>Programme for Government </a:t>
            </a:r>
            <a:endParaRPr lang="en-GB" sz="4800" dirty="0">
              <a:latin typeface="Arial" charset="0"/>
            </a:endParaRPr>
          </a:p>
          <a:p>
            <a:pPr lvl="1"/>
            <a:r>
              <a:rPr lang="en-GB" dirty="0"/>
              <a:t>Enterprise and opportunity Island </a:t>
            </a:r>
          </a:p>
          <a:p>
            <a:pPr lvl="1"/>
            <a:endParaRPr lang="en-GB" dirty="0">
              <a:latin typeface="Arial" charset="0"/>
            </a:endParaRPr>
          </a:p>
          <a:p>
            <a:pPr lvl="1"/>
            <a:endParaRPr lang="en-GB" dirty="0"/>
          </a:p>
        </p:txBody>
      </p:sp>
    </p:spTree>
    <p:extLst>
      <p:ext uri="{BB962C8B-B14F-4D97-AF65-F5344CB8AC3E}">
        <p14:creationId xmlns:p14="http://schemas.microsoft.com/office/powerpoint/2010/main" val="40191541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4"/>
          <p:cNvSpPr>
            <a:spLocks noGrp="1"/>
          </p:cNvSpPr>
          <p:nvPr>
            <p:ph type="title"/>
          </p:nvPr>
        </p:nvSpPr>
        <p:spPr/>
        <p:txBody>
          <a:bodyPr>
            <a:normAutofit/>
          </a:bodyPr>
          <a:lstStyle/>
          <a:p>
            <a:pPr eaLnBrk="1" hangingPunct="1"/>
            <a:r>
              <a:rPr lang="en-US" dirty="0" smtClean="0">
                <a:latin typeface="Calibri" charset="0"/>
                <a:ea typeface="宋体" charset="0"/>
              </a:rPr>
              <a:t>Value of mobile networks to our economic and social development</a:t>
            </a:r>
            <a:endParaRPr lang="en-US" dirty="0">
              <a:latin typeface="Calibri" charset="0"/>
              <a:ea typeface="宋体" charset="0"/>
            </a:endParaRPr>
          </a:p>
        </p:txBody>
      </p:sp>
      <p:sp>
        <p:nvSpPr>
          <p:cNvPr id="6147" name="Content Placeholder 5"/>
          <p:cNvSpPr>
            <a:spLocks noGrp="1"/>
          </p:cNvSpPr>
          <p:nvPr>
            <p:ph idx="1"/>
          </p:nvPr>
        </p:nvSpPr>
        <p:spPr/>
        <p:txBody>
          <a:bodyPr>
            <a:normAutofit fontScale="62500" lnSpcReduction="20000"/>
          </a:bodyPr>
          <a:lstStyle/>
          <a:p>
            <a:pPr marL="0" indent="0">
              <a:buNone/>
            </a:pPr>
            <a:r>
              <a:rPr lang="en-GB" sz="3867" dirty="0"/>
              <a:t>T</a:t>
            </a:r>
            <a:r>
              <a:rPr lang="en-GB" sz="3867" dirty="0"/>
              <a:t>hrough revenue generation, investment and employment</a:t>
            </a:r>
          </a:p>
          <a:p>
            <a:pPr marL="0" indent="0">
              <a:buNone/>
            </a:pPr>
            <a:endParaRPr lang="en-GB" sz="3867" dirty="0"/>
          </a:p>
          <a:p>
            <a:pPr marL="0" indent="0">
              <a:buNone/>
            </a:pPr>
            <a:r>
              <a:rPr lang="en-GB" sz="3867" dirty="0"/>
              <a:t>They allow businesses </a:t>
            </a:r>
            <a:r>
              <a:rPr lang="en-GB" sz="3867" dirty="0"/>
              <a:t>and consumers </a:t>
            </a:r>
            <a:r>
              <a:rPr lang="en-GB" sz="3867" dirty="0"/>
              <a:t>to </a:t>
            </a:r>
            <a:r>
              <a:rPr lang="en-GB" sz="3867" dirty="0"/>
              <a:t>increase </a:t>
            </a:r>
            <a:r>
              <a:rPr lang="en-GB" sz="3867" dirty="0"/>
              <a:t>productivity</a:t>
            </a:r>
          </a:p>
          <a:p>
            <a:pPr marL="0" indent="0">
              <a:buNone/>
            </a:pPr>
            <a:endParaRPr lang="en-GB" sz="3867" dirty="0"/>
          </a:p>
          <a:p>
            <a:pPr marL="0" indent="0">
              <a:buNone/>
            </a:pPr>
            <a:r>
              <a:rPr lang="en-GB" sz="3867" dirty="0"/>
              <a:t>As </a:t>
            </a:r>
            <a:r>
              <a:rPr lang="en-GB" sz="3867" dirty="0"/>
              <a:t>mobile networks are used for an increasingly wide range of functions, their economic and social impact </a:t>
            </a:r>
            <a:r>
              <a:rPr lang="en-GB" sz="3867" dirty="0"/>
              <a:t>will </a:t>
            </a:r>
            <a:r>
              <a:rPr lang="en-GB" sz="3867" dirty="0"/>
              <a:t>continue to </a:t>
            </a:r>
            <a:r>
              <a:rPr lang="en-GB" sz="3867" dirty="0"/>
              <a:t>rise</a:t>
            </a:r>
          </a:p>
          <a:p>
            <a:pPr marL="0" indent="0">
              <a:buNone/>
            </a:pPr>
            <a:endParaRPr lang="en-GB" sz="3867" dirty="0"/>
          </a:p>
          <a:p>
            <a:pPr marL="0" indent="0">
              <a:buNone/>
            </a:pPr>
            <a:r>
              <a:rPr lang="en-GB" sz="3867" dirty="0"/>
              <a:t>There are over 88,000 mobile phones on Island </a:t>
            </a:r>
            <a:r>
              <a:rPr lang="en-GB" sz="3867" dirty="0"/>
              <a:t>increasingly </a:t>
            </a:r>
            <a:r>
              <a:rPr lang="en-GB" sz="3867" dirty="0"/>
              <a:t>used to </a:t>
            </a:r>
            <a:r>
              <a:rPr lang="en-GB" sz="3867" dirty="0"/>
              <a:t>communicate, work, play, transact, and to contact </a:t>
            </a:r>
            <a:r>
              <a:rPr lang="en-GB" sz="3867" dirty="0"/>
              <a:t>the emergency </a:t>
            </a:r>
            <a:r>
              <a:rPr lang="en-GB" sz="3867" dirty="0"/>
              <a:t>services</a:t>
            </a:r>
          </a:p>
          <a:p>
            <a:pPr marL="0" indent="0">
              <a:buNone/>
            </a:pPr>
            <a:endParaRPr lang="en-GB" sz="3867" dirty="0"/>
          </a:p>
          <a:p>
            <a:pPr marL="0" indent="0" algn="ctr">
              <a:buNone/>
            </a:pPr>
            <a:r>
              <a:rPr lang="en-GB" sz="3867" dirty="0">
                <a:solidFill>
                  <a:srgbClr val="FF0000"/>
                </a:solidFill>
              </a:rPr>
              <a:t>Without them we would not attract new business to the island and existing ones (and people) would leave</a:t>
            </a:r>
          </a:p>
          <a:p>
            <a:pPr marL="0" indent="0">
              <a:buNone/>
            </a:pPr>
            <a:endParaRPr lang="en-GB" sz="3867" dirty="0"/>
          </a:p>
          <a:p>
            <a:pPr marL="0" indent="0">
              <a:buNone/>
            </a:pPr>
            <a:endParaRPr lang="en-GB" sz="1867" dirty="0"/>
          </a:p>
          <a:p>
            <a:endParaRPr lang="en-GB" sz="2400" dirty="0"/>
          </a:p>
          <a:p>
            <a:pPr marL="0" indent="0">
              <a:buNone/>
            </a:pPr>
            <a:r>
              <a:rPr lang="en-US" sz="3200" dirty="0">
                <a:latin typeface="Calibri" charset="0"/>
                <a:ea typeface="宋体" charset="0"/>
              </a:rPr>
              <a:t/>
            </a:r>
            <a:br>
              <a:rPr lang="en-US" sz="3200" dirty="0">
                <a:latin typeface="Calibri" charset="0"/>
                <a:ea typeface="宋体" charset="0"/>
              </a:rPr>
            </a:br>
            <a:endParaRPr lang="en-US" sz="3200" dirty="0">
              <a:latin typeface="Calibri" charset="0"/>
              <a:ea typeface="宋体" charset="0"/>
            </a:endParaRPr>
          </a:p>
        </p:txBody>
      </p:sp>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7724" y="6396203"/>
            <a:ext cx="4399305" cy="2463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6693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5G in Context</a:t>
            </a:r>
            <a:endParaRPr lang="en-GB" dirty="0"/>
          </a:p>
        </p:txBody>
      </p:sp>
      <p:sp>
        <p:nvSpPr>
          <p:cNvPr id="3" name="Content Placeholder 2"/>
          <p:cNvSpPr>
            <a:spLocks noGrp="1"/>
          </p:cNvSpPr>
          <p:nvPr>
            <p:ph idx="1"/>
          </p:nvPr>
        </p:nvSpPr>
        <p:spPr/>
        <p:txBody>
          <a:bodyPr>
            <a:normAutofit/>
          </a:bodyPr>
          <a:lstStyle/>
          <a:p>
            <a:r>
              <a:rPr lang="en-GB" sz="3200" dirty="0"/>
              <a:t>5G is scheduled to be fully standardised and ratified at the end of 2019 as part of the IMT2020 vision</a:t>
            </a:r>
            <a:r>
              <a:rPr lang="en-GB" dirty="0" smtClean="0"/>
              <a:t>.</a:t>
            </a:r>
          </a:p>
          <a:p>
            <a:endParaRPr lang="en-GB" dirty="0"/>
          </a:p>
          <a:p>
            <a:r>
              <a:rPr lang="en-GB" sz="3200" dirty="0"/>
              <a:t>It will enable higher download speeds for consumers, massive machine-to-machine (IoT) connections, and provide low latency for critical communications.</a:t>
            </a:r>
          </a:p>
          <a:p>
            <a:endParaRPr lang="en-GB" sz="3200" dirty="0"/>
          </a:p>
          <a:p>
            <a:r>
              <a:rPr lang="en-GB" sz="3200" dirty="0"/>
              <a:t>It is expected that in the Isle of Man that the key bands for delivery of 5G will be 700MHz and 3.6GHz, </a:t>
            </a:r>
          </a:p>
          <a:p>
            <a:endParaRPr lang="en-GB" sz="3200" dirty="0"/>
          </a:p>
          <a:p>
            <a:r>
              <a:rPr lang="en-GB" sz="3200" dirty="0"/>
              <a:t>The Commission is currently working on releasing these bands for licensing.</a:t>
            </a:r>
          </a:p>
          <a:p>
            <a:endParaRPr lang="en-GB" dirty="0"/>
          </a:p>
        </p:txBody>
      </p:sp>
    </p:spTree>
    <p:extLst>
      <p:ext uri="{BB962C8B-B14F-4D97-AF65-F5344CB8AC3E}">
        <p14:creationId xmlns:p14="http://schemas.microsoft.com/office/powerpoint/2010/main" val="5674812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Planning</a:t>
            </a:r>
            <a:endParaRPr lang="en-GB" dirty="0"/>
          </a:p>
        </p:txBody>
      </p:sp>
      <p:sp>
        <p:nvSpPr>
          <p:cNvPr id="3" name="Content Placeholder 2"/>
          <p:cNvSpPr>
            <a:spLocks noGrp="1"/>
          </p:cNvSpPr>
          <p:nvPr>
            <p:ph idx="1"/>
          </p:nvPr>
        </p:nvSpPr>
        <p:spPr>
          <a:xfrm>
            <a:off x="3657600" y="2075723"/>
            <a:ext cx="10972800" cy="6092495"/>
          </a:xfrm>
        </p:spPr>
        <p:txBody>
          <a:bodyPr>
            <a:normAutofit fontScale="85000" lnSpcReduction="20000"/>
          </a:bodyPr>
          <a:lstStyle/>
          <a:p>
            <a:r>
              <a:rPr lang="en-GB" dirty="0" smtClean="0">
                <a:latin typeface="Tahoma" panose="020B0604030504040204" pitchFamily="34" charset="0"/>
                <a:ea typeface="Tahoma" panose="020B0604030504040204" pitchFamily="34" charset="0"/>
                <a:cs typeface="Tahoma" panose="020B0604030504040204" pitchFamily="34" charset="0"/>
              </a:rPr>
              <a:t>Enabling infrastructure through Permitted Development</a:t>
            </a:r>
            <a:br>
              <a:rPr lang="en-GB" dirty="0" smtClean="0">
                <a:latin typeface="Tahoma" panose="020B0604030504040204" pitchFamily="34" charset="0"/>
                <a:ea typeface="Tahoma" panose="020B0604030504040204" pitchFamily="34" charset="0"/>
                <a:cs typeface="Tahoma" panose="020B0604030504040204" pitchFamily="34" charset="0"/>
              </a:rPr>
            </a:br>
            <a:endParaRPr lang="en-GB" dirty="0" smtClean="0">
              <a:latin typeface="Tahoma" panose="020B0604030504040204" pitchFamily="34" charset="0"/>
              <a:ea typeface="Tahoma" panose="020B0604030504040204" pitchFamily="34" charset="0"/>
              <a:cs typeface="Tahoma" panose="020B0604030504040204" pitchFamily="34" charset="0"/>
            </a:endParaRPr>
          </a:p>
          <a:p>
            <a:r>
              <a:rPr lang="en-GB" dirty="0" smtClean="0">
                <a:latin typeface="Tahoma" panose="020B0604030504040204" pitchFamily="34" charset="0"/>
                <a:ea typeface="Tahoma" panose="020B0604030504040204" pitchFamily="34" charset="0"/>
                <a:cs typeface="Tahoma" panose="020B0604030504040204" pitchFamily="34" charset="0"/>
              </a:rPr>
              <a:t>Planning Reform</a:t>
            </a:r>
            <a:br>
              <a:rPr lang="en-GB" dirty="0" smtClean="0">
                <a:latin typeface="Tahoma" panose="020B0604030504040204" pitchFamily="34" charset="0"/>
                <a:ea typeface="Tahoma" panose="020B0604030504040204" pitchFamily="34" charset="0"/>
                <a:cs typeface="Tahoma" panose="020B0604030504040204" pitchFamily="34" charset="0"/>
              </a:rPr>
            </a:br>
            <a:r>
              <a:rPr lang="en-GB" dirty="0" smtClean="0">
                <a:latin typeface="Tahoma" panose="020B0604030504040204" pitchFamily="34" charset="0"/>
                <a:ea typeface="Tahoma" panose="020B0604030504040204" pitchFamily="34" charset="0"/>
                <a:cs typeface="Tahoma" panose="020B0604030504040204" pitchFamily="34" charset="0"/>
              </a:rPr>
              <a:t/>
            </a:r>
            <a:br>
              <a:rPr lang="en-GB" dirty="0" smtClean="0">
                <a:latin typeface="Tahoma" panose="020B0604030504040204" pitchFamily="34" charset="0"/>
                <a:ea typeface="Tahoma" panose="020B0604030504040204" pitchFamily="34" charset="0"/>
                <a:cs typeface="Tahoma" panose="020B0604030504040204" pitchFamily="34" charset="0"/>
              </a:rPr>
            </a:br>
            <a:r>
              <a:rPr lang="en-AU" sz="3467" i="1" dirty="0">
                <a:latin typeface="Tahoma" panose="020B0604030504040204" pitchFamily="34" charset="0"/>
                <a:ea typeface="Tahoma" panose="020B0604030504040204" pitchFamily="34" charset="0"/>
                <a:cs typeface="Tahoma" panose="020B0604030504040204" pitchFamily="34" charset="0"/>
              </a:rPr>
              <a:t>undertake a range of procedural changes which introduce </a:t>
            </a:r>
            <a:r>
              <a:rPr lang="en-AU" sz="3467" i="1" dirty="0">
                <a:latin typeface="Tahoma" panose="020B0604030504040204" pitchFamily="34" charset="0"/>
                <a:ea typeface="Tahoma" panose="020B0604030504040204" pitchFamily="34" charset="0"/>
                <a:cs typeface="Tahoma" panose="020B0604030504040204" pitchFamily="34" charset="0"/>
              </a:rPr>
              <a:t>faster </a:t>
            </a:r>
            <a:r>
              <a:rPr lang="en-AU" sz="3467" i="1" dirty="0">
                <a:latin typeface="Tahoma" panose="020B0604030504040204" pitchFamily="34" charset="0"/>
                <a:ea typeface="Tahoma" panose="020B0604030504040204" pitchFamily="34" charset="0"/>
                <a:cs typeface="Tahoma" panose="020B0604030504040204" pitchFamily="34" charset="0"/>
              </a:rPr>
              <a:t>processes to allow new smaller telecoms improvements</a:t>
            </a:r>
            <a:r>
              <a:rPr lang="en-AU" sz="3467" i="1" dirty="0">
                <a:latin typeface="Tahoma" panose="020B0604030504040204" pitchFamily="34" charset="0"/>
                <a:ea typeface="Tahoma" panose="020B0604030504040204" pitchFamily="34" charset="0"/>
                <a:cs typeface="Tahoma" panose="020B0604030504040204" pitchFamily="34" charset="0"/>
              </a:rPr>
              <a:t>”</a:t>
            </a:r>
          </a:p>
          <a:p>
            <a:pPr marL="0" indent="0">
              <a:buNone/>
            </a:pPr>
            <a:r>
              <a:rPr lang="en-AU" sz="2933" i="1" dirty="0">
                <a:latin typeface="Tahoma" panose="020B0604030504040204" pitchFamily="34" charset="0"/>
                <a:ea typeface="Tahoma" panose="020B0604030504040204" pitchFamily="34" charset="0"/>
                <a:cs typeface="Tahoma" panose="020B0604030504040204" pitchFamily="34" charset="0"/>
              </a:rPr>
              <a:t/>
            </a:r>
            <a:br>
              <a:rPr lang="en-AU" sz="2933" i="1" dirty="0">
                <a:latin typeface="Tahoma" panose="020B0604030504040204" pitchFamily="34" charset="0"/>
                <a:ea typeface="Tahoma" panose="020B0604030504040204" pitchFamily="34" charset="0"/>
                <a:cs typeface="Tahoma" panose="020B0604030504040204" pitchFamily="34" charset="0"/>
              </a:rPr>
            </a:br>
            <a:endParaRPr lang="en-AU" sz="2933" i="1" dirty="0">
              <a:latin typeface="Tahoma" panose="020B0604030504040204" pitchFamily="34" charset="0"/>
              <a:ea typeface="Tahoma" panose="020B0604030504040204" pitchFamily="34" charset="0"/>
              <a:cs typeface="Tahoma" panose="020B0604030504040204" pitchFamily="34" charset="0"/>
            </a:endParaRPr>
          </a:p>
          <a:p>
            <a:r>
              <a:rPr lang="en-GB" dirty="0" smtClean="0">
                <a:latin typeface="Tahoma" panose="020B0604030504040204" pitchFamily="34" charset="0"/>
                <a:ea typeface="Tahoma" panose="020B0604030504040204" pitchFamily="34" charset="0"/>
                <a:cs typeface="Tahoma" panose="020B0604030504040204" pitchFamily="34" charset="0"/>
              </a:rPr>
              <a:t>Proposed PD</a:t>
            </a:r>
            <a:br>
              <a:rPr lang="en-GB" dirty="0" smtClean="0">
                <a:latin typeface="Tahoma" panose="020B0604030504040204" pitchFamily="34" charset="0"/>
                <a:ea typeface="Tahoma" panose="020B0604030504040204" pitchFamily="34" charset="0"/>
                <a:cs typeface="Tahoma" panose="020B0604030504040204" pitchFamily="34" charset="0"/>
              </a:rPr>
            </a:br>
            <a:r>
              <a:rPr lang="en-GB" dirty="0" smtClean="0">
                <a:latin typeface="Tahoma" panose="020B0604030504040204" pitchFamily="34" charset="0"/>
                <a:ea typeface="Tahoma" panose="020B0604030504040204" pitchFamily="34" charset="0"/>
                <a:cs typeface="Tahoma" panose="020B0604030504040204" pitchFamily="34" charset="0"/>
              </a:rPr>
              <a:t> </a:t>
            </a:r>
            <a:r>
              <a:rPr lang="en-GB" sz="3467" dirty="0">
                <a:latin typeface="Tahoma" panose="020B0604030504040204" pitchFamily="34" charset="0"/>
                <a:ea typeface="Tahoma" panose="020B0604030504040204" pitchFamily="34" charset="0"/>
                <a:cs typeface="Tahoma" panose="020B0604030504040204" pitchFamily="34" charset="0"/>
              </a:rPr>
              <a:t>easier to understand </a:t>
            </a:r>
          </a:p>
          <a:p>
            <a:pPr marL="533387" lvl="1" indent="0">
              <a:buNone/>
            </a:pPr>
            <a:r>
              <a:rPr lang="en-GB" sz="3467" dirty="0">
                <a:latin typeface="Tahoma" panose="020B0604030504040204" pitchFamily="34" charset="0"/>
                <a:ea typeface="Tahoma" panose="020B0604030504040204" pitchFamily="34" charset="0"/>
                <a:cs typeface="Tahoma" panose="020B0604030504040204" pitchFamily="34" charset="0"/>
              </a:rPr>
              <a:t>speedier</a:t>
            </a:r>
            <a:br>
              <a:rPr lang="en-GB" sz="3467" dirty="0">
                <a:latin typeface="Tahoma" panose="020B0604030504040204" pitchFamily="34" charset="0"/>
                <a:ea typeface="Tahoma" panose="020B0604030504040204" pitchFamily="34" charset="0"/>
                <a:cs typeface="Tahoma" panose="020B0604030504040204" pitchFamily="34" charset="0"/>
              </a:rPr>
            </a:br>
            <a:r>
              <a:rPr lang="en-GB" sz="3467" dirty="0">
                <a:latin typeface="Tahoma" panose="020B0604030504040204" pitchFamily="34" charset="0"/>
                <a:ea typeface="Tahoma" panose="020B0604030504040204" pitchFamily="34" charset="0"/>
                <a:cs typeface="Tahoma" panose="020B0604030504040204" pitchFamily="34" charset="0"/>
              </a:rPr>
              <a:t>allows for development in Conservation Areas subject to Prior Approval</a:t>
            </a:r>
          </a:p>
          <a:p>
            <a:pPr marL="533387" lvl="1" indent="0">
              <a:buNone/>
            </a:pPr>
            <a:r>
              <a:rPr lang="en-GB" sz="3467" dirty="0">
                <a:latin typeface="Tahoma" panose="020B0604030504040204" pitchFamily="34" charset="0"/>
                <a:ea typeface="Tahoma" panose="020B0604030504040204" pitchFamily="34" charset="0"/>
                <a:cs typeface="Tahoma" panose="020B0604030504040204" pitchFamily="34" charset="0"/>
              </a:rPr>
              <a:t>c</a:t>
            </a:r>
            <a:r>
              <a:rPr lang="en-GB" sz="3467">
                <a:latin typeface="Tahoma" panose="020B0604030504040204" pitchFamily="34" charset="0"/>
                <a:ea typeface="Tahoma" panose="020B0604030504040204" pitchFamily="34" charset="0"/>
                <a:cs typeface="Tahoma" panose="020B0604030504040204" pitchFamily="34" charset="0"/>
              </a:rPr>
              <a:t>ontrols </a:t>
            </a:r>
            <a:r>
              <a:rPr lang="en-GB" sz="3467" dirty="0">
                <a:latin typeface="Tahoma" panose="020B0604030504040204" pitchFamily="34" charset="0"/>
                <a:ea typeface="Tahoma" panose="020B0604030504040204" pitchFamily="34" charset="0"/>
                <a:cs typeface="Tahoma" panose="020B0604030504040204" pitchFamily="34" charset="0"/>
              </a:rPr>
              <a:t>development in special areas</a:t>
            </a:r>
            <a:br>
              <a:rPr lang="en-GB" sz="3467" dirty="0">
                <a:latin typeface="Tahoma" panose="020B0604030504040204" pitchFamily="34" charset="0"/>
                <a:ea typeface="Tahoma" panose="020B0604030504040204" pitchFamily="34" charset="0"/>
                <a:cs typeface="Tahoma" panose="020B0604030504040204" pitchFamily="34" charset="0"/>
              </a:rPr>
            </a:br>
            <a:r>
              <a:rPr lang="en-GB" sz="3467" dirty="0">
                <a:latin typeface="Tahoma" panose="020B0604030504040204" pitchFamily="34" charset="0"/>
                <a:ea typeface="Tahoma" panose="020B0604030504040204" pitchFamily="34" charset="0"/>
                <a:cs typeface="Tahoma" panose="020B0604030504040204" pitchFamily="34" charset="0"/>
              </a:rPr>
              <a:t>large masts removed </a:t>
            </a:r>
            <a:r>
              <a:rPr lang="en-GB" sz="2133" dirty="0">
                <a:latin typeface="Tahoma" panose="020B0604030504040204" pitchFamily="34" charset="0"/>
                <a:ea typeface="Tahoma" panose="020B0604030504040204" pitchFamily="34" charset="0"/>
                <a:cs typeface="Tahoma" panose="020B0604030504040204" pitchFamily="34" charset="0"/>
              </a:rPr>
              <a:t/>
            </a:r>
            <a:br>
              <a:rPr lang="en-GB" sz="2133" dirty="0">
                <a:latin typeface="Tahoma" panose="020B0604030504040204" pitchFamily="34" charset="0"/>
                <a:ea typeface="Tahoma" panose="020B0604030504040204" pitchFamily="34" charset="0"/>
                <a:cs typeface="Tahoma" panose="020B0604030504040204" pitchFamily="34" charset="0"/>
              </a:rPr>
            </a:br>
            <a:r>
              <a:rPr lang="en-GB" dirty="0" smtClean="0">
                <a:latin typeface="Tahoma" panose="020B0604030504040204" pitchFamily="34" charset="0"/>
                <a:ea typeface="Tahoma" panose="020B0604030504040204" pitchFamily="34" charset="0"/>
                <a:cs typeface="Tahoma" panose="020B0604030504040204" pitchFamily="34" charset="0"/>
              </a:rPr>
              <a:t/>
            </a:r>
            <a:br>
              <a:rPr lang="en-GB" dirty="0" smtClean="0">
                <a:latin typeface="Tahoma" panose="020B0604030504040204" pitchFamily="34" charset="0"/>
                <a:ea typeface="Tahoma" panose="020B0604030504040204" pitchFamily="34" charset="0"/>
                <a:cs typeface="Tahoma" panose="020B0604030504040204" pitchFamily="34" charset="0"/>
              </a:rPr>
            </a:br>
            <a:r>
              <a:rPr lang="en-GB" dirty="0" smtClean="0"/>
              <a:t> </a:t>
            </a:r>
          </a:p>
          <a:p>
            <a:endParaRPr lang="en-GB" dirty="0"/>
          </a:p>
        </p:txBody>
      </p:sp>
    </p:spTree>
    <p:extLst>
      <p:ext uri="{BB962C8B-B14F-4D97-AF65-F5344CB8AC3E}">
        <p14:creationId xmlns:p14="http://schemas.microsoft.com/office/powerpoint/2010/main" val="14058427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Health Issues in Perspective</a:t>
            </a:r>
            <a:endParaRPr lang="en-GB" dirty="0"/>
          </a:p>
        </p:txBody>
      </p:sp>
    </p:spTree>
    <p:extLst>
      <p:ext uri="{BB962C8B-B14F-4D97-AF65-F5344CB8AC3E}">
        <p14:creationId xmlns:p14="http://schemas.microsoft.com/office/powerpoint/2010/main" val="20277270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electromagnetic spectrum</a:t>
            </a:r>
            <a:endParaRPr lang="en-GB" dirty="0"/>
          </a:p>
        </p:txBody>
      </p:sp>
      <p:sp>
        <p:nvSpPr>
          <p:cNvPr id="3" name="Rectangle 2"/>
          <p:cNvSpPr/>
          <p:nvPr/>
        </p:nvSpPr>
        <p:spPr>
          <a:xfrm>
            <a:off x="3671392" y="1740457"/>
            <a:ext cx="11137237" cy="830997"/>
          </a:xfrm>
          <a:prstGeom prst="rect">
            <a:avLst/>
          </a:prstGeom>
        </p:spPr>
        <p:txBody>
          <a:bodyPr wrap="square">
            <a:spAutoFit/>
          </a:bodyPr>
          <a:lstStyle/>
          <a:p>
            <a:endParaRPr lang="en-GB" sz="2400" dirty="0">
              <a:solidFill>
                <a:prstClr val="black"/>
              </a:solidFill>
            </a:endParaRPr>
          </a:p>
          <a:p>
            <a:endParaRPr lang="en-GB" sz="2400" dirty="0">
              <a:solidFill>
                <a:prstClr val="black"/>
              </a:solidFill>
            </a:endParaRPr>
          </a:p>
        </p:txBody>
      </p:sp>
      <p:pic>
        <p:nvPicPr>
          <p:cNvPr id="6146" name="Picture 2" descr="http://www.scampstudy.org/wordpress/wp-content/uploads/2014/05/electromagnetic.jpg">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668" b="1"/>
          <a:stretch/>
        </p:blipFill>
        <p:spPr bwMode="auto">
          <a:xfrm>
            <a:off x="3088995" y="2114218"/>
            <a:ext cx="12103677" cy="7066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1138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Sources of </a:t>
            </a:r>
            <a:r>
              <a:rPr lang="en-GB" dirty="0" smtClean="0"/>
              <a:t>electromagnetic energy</a:t>
            </a:r>
            <a:endParaRPr lang="en-GB"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9371" y="1979713"/>
            <a:ext cx="11524027" cy="6766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8630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Radiation</a:t>
            </a:r>
            <a:endParaRPr lang="en-GB" dirty="0"/>
          </a:p>
        </p:txBody>
      </p:sp>
      <p:sp>
        <p:nvSpPr>
          <p:cNvPr id="3" name="Rectangle 3"/>
          <p:cNvSpPr>
            <a:spLocks noChangeArrowheads="1"/>
          </p:cNvSpPr>
          <p:nvPr/>
        </p:nvSpPr>
        <p:spPr bwMode="auto">
          <a:xfrm>
            <a:off x="8909906" y="-26073"/>
            <a:ext cx="468188" cy="661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49140" tIns="-76176" rIns="0" bIns="0" numCol="1" anchor="ctr" anchorCtr="0" compatLnSpc="1">
            <a:prstTxWarp prst="textNoShape">
              <a:avLst/>
            </a:prstTxWarp>
            <a:spAutoFit/>
          </a:bodyPr>
          <a:lstStyle/>
          <a:p>
            <a:pPr algn="ctr" defTabSz="1219170" fontAlgn="base">
              <a:spcBef>
                <a:spcPct val="0"/>
              </a:spcBef>
              <a:spcAft>
                <a:spcPct val="0"/>
              </a:spcAft>
            </a:pPr>
            <a:r>
              <a:rPr lang="en-US" altLang="en-US" sz="2400">
                <a:latin typeface="Arial" charset="0"/>
                <a:cs typeface="Arial" charset="0"/>
              </a:rPr>
              <a:t>rises. </a:t>
            </a:r>
          </a:p>
          <a:p>
            <a:pPr algn="ctr" defTabSz="1219170" eaLnBrk="0" fontAlgn="base" hangingPunct="0">
              <a:spcBef>
                <a:spcPct val="0"/>
              </a:spcBef>
              <a:spcAft>
                <a:spcPct val="0"/>
              </a:spcAft>
            </a:pPr>
            <a:r>
              <a:rPr lang="en-US" altLang="en-US" sz="2400">
                <a:latin typeface="Arial" charset="0"/>
                <a:cs typeface="Arial" charset="0"/>
              </a:rPr>
              <a:t>  </a:t>
            </a:r>
            <a:endParaRPr lang="en-US" altLang="en-US" sz="21733">
              <a:latin typeface="Arial" charset="0"/>
              <a:cs typeface="Arial" charset="0"/>
            </a:endParaRPr>
          </a:p>
        </p:txBody>
      </p:sp>
      <p:pic>
        <p:nvPicPr>
          <p:cNvPr id="5124" name="Picture 4" descr="The energy of the radiation shown on the spectrum below increases from left to right as the frequency rises. Non-ionizing radiation ranges from extremely low frequency radiation, shown on the far left through the audible, microwave, and visible portions of the spectrum into the ultraviolet range. Higher frequency ultraviolet radiation begins to have enough energy to break chemical bonds. X-ray and gamma ray radiation, which are at the upper end of magnetic radiation have very high frequency in the range of 100 billion billion Hertz and very short wavelengths 1 million millionth of a meter. Radiation in this range has extremely high energy. It has enough energy to strip off electrons or, in the case of very high-energy radiation, break up the nucleus of atom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9477" y="2363755"/>
            <a:ext cx="8352928" cy="5206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6560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Is 5G different?</a:t>
            </a:r>
            <a:endParaRPr lang="en-GB" dirty="0"/>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41112" y="1883702"/>
            <a:ext cx="10205777" cy="5664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37158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the evidence for impact on human health?</a:t>
            </a:r>
            <a:endParaRPr lang="en-GB" dirty="0"/>
          </a:p>
        </p:txBody>
      </p:sp>
      <p:sp>
        <p:nvSpPr>
          <p:cNvPr id="3" name="Content Placeholder 2"/>
          <p:cNvSpPr>
            <a:spLocks noGrp="1"/>
          </p:cNvSpPr>
          <p:nvPr>
            <p:ph idx="1"/>
          </p:nvPr>
        </p:nvSpPr>
        <p:spPr/>
        <p:txBody>
          <a:bodyPr>
            <a:normAutofit/>
          </a:bodyPr>
          <a:lstStyle/>
          <a:p>
            <a:r>
              <a:rPr lang="en-GB" dirty="0" smtClean="0"/>
              <a:t>25,000+ research papers published over last 30 years</a:t>
            </a:r>
          </a:p>
          <a:p>
            <a:r>
              <a:rPr lang="en-GB" dirty="0" smtClean="0"/>
              <a:t>WHO International EMF Project</a:t>
            </a:r>
          </a:p>
          <a:p>
            <a:r>
              <a:rPr lang="en-GB" dirty="0" smtClean="0"/>
              <a:t>Multiple independent reviews by national governments and health protection agencies (from more than 30 countries)</a:t>
            </a:r>
          </a:p>
          <a:p>
            <a:r>
              <a:rPr lang="en-GB" dirty="0" smtClean="0"/>
              <a:t>Systematic review of all the evidence has repeatedly indicated no evidence of harm to human health from EMF exposures within existing safety guidelines (ICNIRP)</a:t>
            </a:r>
            <a:endParaRPr lang="en-GB" dirty="0"/>
          </a:p>
        </p:txBody>
      </p:sp>
    </p:spTree>
    <p:extLst>
      <p:ext uri="{BB962C8B-B14F-4D97-AF65-F5344CB8AC3E}">
        <p14:creationId xmlns:p14="http://schemas.microsoft.com/office/powerpoint/2010/main" val="38770563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Claims by anti-EMF lobbyists</a:t>
            </a:r>
            <a:endParaRPr lang="en-GB" dirty="0"/>
          </a:p>
        </p:txBody>
      </p:sp>
      <p:sp>
        <p:nvSpPr>
          <p:cNvPr id="3" name="Content Placeholder 2"/>
          <p:cNvSpPr>
            <a:spLocks noGrp="1"/>
          </p:cNvSpPr>
          <p:nvPr>
            <p:ph idx="1"/>
          </p:nvPr>
        </p:nvSpPr>
        <p:spPr/>
        <p:txBody>
          <a:bodyPr>
            <a:normAutofit/>
          </a:bodyPr>
          <a:lstStyle/>
          <a:p>
            <a:r>
              <a:rPr lang="en-GB" dirty="0" smtClean="0"/>
              <a:t>Some lobbyists argue against all EMF (from electricity power lines through to mobile phones, </a:t>
            </a:r>
            <a:r>
              <a:rPr lang="en-GB" dirty="0" err="1" smtClean="0"/>
              <a:t>wi-fi</a:t>
            </a:r>
            <a:r>
              <a:rPr lang="en-GB" dirty="0" smtClean="0"/>
              <a:t> and so called ‘dirty electricity’)</a:t>
            </a:r>
          </a:p>
          <a:p>
            <a:r>
              <a:rPr lang="en-GB" dirty="0" smtClean="0"/>
              <a:t>Others focus specifically on 5G</a:t>
            </a:r>
          </a:p>
          <a:p>
            <a:r>
              <a:rPr lang="en-GB" dirty="0" smtClean="0"/>
              <a:t>5G claims include:</a:t>
            </a:r>
          </a:p>
          <a:p>
            <a:r>
              <a:rPr lang="en-GB" dirty="0" smtClean="0"/>
              <a:t>This is new radiation to which the population has never been exposed and about which there is no evidence for impact on human health (False)</a:t>
            </a:r>
          </a:p>
          <a:p>
            <a:endParaRPr lang="en-GB" dirty="0"/>
          </a:p>
        </p:txBody>
      </p:sp>
    </p:spTree>
    <p:extLst>
      <p:ext uri="{BB962C8B-B14F-4D97-AF65-F5344CB8AC3E}">
        <p14:creationId xmlns:p14="http://schemas.microsoft.com/office/powerpoint/2010/main" val="13575210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Anti-5G claims continued</a:t>
            </a:r>
            <a:endParaRPr lang="en-GB" dirty="0"/>
          </a:p>
        </p:txBody>
      </p:sp>
      <p:sp>
        <p:nvSpPr>
          <p:cNvPr id="3" name="Content Placeholder 2"/>
          <p:cNvSpPr>
            <a:spLocks noGrp="1"/>
          </p:cNvSpPr>
          <p:nvPr>
            <p:ph idx="1"/>
          </p:nvPr>
        </p:nvSpPr>
        <p:spPr/>
        <p:txBody>
          <a:bodyPr>
            <a:normAutofit/>
          </a:bodyPr>
          <a:lstStyle/>
          <a:p>
            <a:r>
              <a:rPr lang="en-GB" dirty="0" smtClean="0"/>
              <a:t>More and more experts are accepting that EMF and 5G in particular is harmful to health:</a:t>
            </a:r>
          </a:p>
          <a:p>
            <a:pPr lvl="1"/>
            <a:r>
              <a:rPr lang="en-GB" dirty="0" smtClean="0"/>
              <a:t>Environmental Health Trust</a:t>
            </a:r>
          </a:p>
          <a:p>
            <a:pPr lvl="1"/>
            <a:r>
              <a:rPr lang="en-GB" dirty="0" smtClean="0"/>
              <a:t>Bio-initiative Report</a:t>
            </a:r>
          </a:p>
          <a:p>
            <a:pPr lvl="1"/>
            <a:r>
              <a:rPr lang="en-GB" dirty="0" smtClean="0"/>
              <a:t>International Scientists 5G Appeal</a:t>
            </a:r>
          </a:p>
          <a:p>
            <a:pPr lvl="1"/>
            <a:r>
              <a:rPr lang="en-GB" dirty="0" smtClean="0"/>
              <a:t>Sarah Starkey (independent expert, UK)</a:t>
            </a:r>
          </a:p>
          <a:p>
            <a:pPr lvl="1"/>
            <a:r>
              <a:rPr lang="en-GB" dirty="0" smtClean="0"/>
              <a:t>Lennart </a:t>
            </a:r>
            <a:r>
              <a:rPr lang="en-GB" dirty="0" err="1" smtClean="0"/>
              <a:t>Hardell</a:t>
            </a:r>
            <a:r>
              <a:rPr lang="en-GB" dirty="0" smtClean="0"/>
              <a:t> (clinical oncologist, Sweden)</a:t>
            </a:r>
          </a:p>
          <a:p>
            <a:pPr lvl="1"/>
            <a:r>
              <a:rPr lang="en-GB" dirty="0" smtClean="0"/>
              <a:t>Martin Pall (emeritus professor of biochemistry, Washington State)</a:t>
            </a:r>
          </a:p>
          <a:p>
            <a:pPr lvl="1"/>
            <a:r>
              <a:rPr lang="en-GB" dirty="0" smtClean="0"/>
              <a:t>Joel Moskowitz (social scientist, California)</a:t>
            </a:r>
          </a:p>
          <a:p>
            <a:pPr lvl="1"/>
            <a:r>
              <a:rPr lang="en-GB" dirty="0" smtClean="0"/>
              <a:t>Mark Steele (expert ‘inventor’, Gateshead)</a:t>
            </a:r>
          </a:p>
          <a:p>
            <a:endParaRPr lang="en-GB" dirty="0"/>
          </a:p>
        </p:txBody>
      </p:sp>
    </p:spTree>
    <p:extLst>
      <p:ext uri="{BB962C8B-B14F-4D97-AF65-F5344CB8AC3E}">
        <p14:creationId xmlns:p14="http://schemas.microsoft.com/office/powerpoint/2010/main" val="38890827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Characteristics of ‘experts’ and their websites</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‘Argument from authority’ – ‘I/we are experts so must be believed’.  No – this is a logical fallacy – arguments should be judged on quality of evidence, not on individuals</a:t>
            </a:r>
          </a:p>
          <a:p>
            <a:r>
              <a:rPr lang="en-GB" dirty="0" smtClean="0"/>
              <a:t>Use of strong, </a:t>
            </a:r>
            <a:r>
              <a:rPr lang="en-GB" dirty="0" err="1" smtClean="0"/>
              <a:t>unevidenced</a:t>
            </a:r>
            <a:r>
              <a:rPr lang="en-GB" dirty="0" smtClean="0"/>
              <a:t> statements to set tone for their website/paper (</a:t>
            </a:r>
            <a:r>
              <a:rPr lang="en-GB" dirty="0" err="1" smtClean="0"/>
              <a:t>eg</a:t>
            </a:r>
            <a:r>
              <a:rPr lang="en-GB" dirty="0" smtClean="0"/>
              <a:t> ‘the evidence that radiofrequency radiation is harmful to life is already overwhelming, 5G Appeal – statement is false)</a:t>
            </a:r>
          </a:p>
          <a:p>
            <a:r>
              <a:rPr lang="en-GB" dirty="0" smtClean="0"/>
              <a:t>Presentation of masses of ‘stuff’, poorly organised, no critical appraisal but all said to prove harms</a:t>
            </a:r>
          </a:p>
          <a:p>
            <a:r>
              <a:rPr lang="en-GB" dirty="0" smtClean="0"/>
              <a:t>Follow up of references cited often indicates misinterpretation, misquoting and/or misrepresentation</a:t>
            </a:r>
          </a:p>
          <a:p>
            <a:r>
              <a:rPr lang="en-GB" dirty="0" smtClean="0"/>
              <a:t>Highly selective use of studies which support their </a:t>
            </a:r>
            <a:r>
              <a:rPr lang="en-GB" i="1" dirty="0" smtClean="0"/>
              <a:t>a priori</a:t>
            </a:r>
            <a:r>
              <a:rPr lang="en-GB" dirty="0" smtClean="0"/>
              <a:t> position (cherry picking)</a:t>
            </a:r>
          </a:p>
          <a:p>
            <a:endParaRPr lang="en-GB" dirty="0" smtClean="0"/>
          </a:p>
        </p:txBody>
      </p:sp>
    </p:spTree>
    <p:extLst>
      <p:ext uri="{BB962C8B-B14F-4D97-AF65-F5344CB8AC3E}">
        <p14:creationId xmlns:p14="http://schemas.microsoft.com/office/powerpoint/2010/main" val="19528974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t>
            </a:r>
            <a:r>
              <a:rPr lang="en-GB" smtClean="0"/>
              <a:t>about the precautionary </a:t>
            </a:r>
            <a:r>
              <a:rPr lang="en-GB" dirty="0" smtClean="0"/>
              <a:t>principle?</a:t>
            </a:r>
            <a:endParaRPr lang="en-GB" dirty="0"/>
          </a:p>
        </p:txBody>
      </p:sp>
      <p:sp>
        <p:nvSpPr>
          <p:cNvPr id="3" name="Content Placeholder 2"/>
          <p:cNvSpPr>
            <a:spLocks noGrp="1"/>
          </p:cNvSpPr>
          <p:nvPr>
            <p:ph idx="1"/>
          </p:nvPr>
        </p:nvSpPr>
        <p:spPr/>
        <p:txBody>
          <a:bodyPr/>
          <a:lstStyle/>
          <a:p>
            <a:r>
              <a:rPr lang="en-GB" dirty="0" smtClean="0"/>
              <a:t>If it hasn’t been proven beyond doubt that a technology is 100% safe, then it shouldn’t be used</a:t>
            </a:r>
          </a:p>
          <a:p>
            <a:r>
              <a:rPr lang="en-GB" dirty="0" smtClean="0"/>
              <a:t>Science can never prove a negative! </a:t>
            </a:r>
          </a:p>
          <a:p>
            <a:r>
              <a:rPr lang="en-GB" dirty="0" smtClean="0"/>
              <a:t>Application of precautionary principle would have precluded introduction of multiple everyday technologies (motor transport, air travel, trains, electricity, ladders – to name a few)</a:t>
            </a:r>
            <a:endParaRPr lang="en-GB" dirty="0"/>
          </a:p>
        </p:txBody>
      </p:sp>
    </p:spTree>
    <p:extLst>
      <p:ext uri="{BB962C8B-B14F-4D97-AF65-F5344CB8AC3E}">
        <p14:creationId xmlns:p14="http://schemas.microsoft.com/office/powerpoint/2010/main" val="8660759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Sources of evidence (based on principles of evidence-based science)</a:t>
            </a:r>
            <a:endParaRPr lang="en-GB" dirty="0"/>
          </a:p>
        </p:txBody>
      </p:sp>
      <p:sp>
        <p:nvSpPr>
          <p:cNvPr id="3" name="Content Placeholder 2"/>
          <p:cNvSpPr>
            <a:spLocks noGrp="1"/>
          </p:cNvSpPr>
          <p:nvPr>
            <p:ph idx="1"/>
          </p:nvPr>
        </p:nvSpPr>
        <p:spPr/>
        <p:txBody>
          <a:bodyPr>
            <a:normAutofit fontScale="47500" lnSpcReduction="20000"/>
          </a:bodyPr>
          <a:lstStyle/>
          <a:p>
            <a:r>
              <a:rPr lang="en-GB" b="1" dirty="0">
                <a:solidFill>
                  <a:srgbClr val="002060"/>
                </a:solidFill>
                <a:hlinkClick r:id="rId3"/>
              </a:rPr>
              <a:t>https://www.ciena.com/insights/what-is/What-Is-5G.html?utm_campaign=X857818&amp;utm_source=Google&amp;utm_term=whatis5G&amp;utm_medium=PaidSearch&amp;lang=EN&amp;si=5G&amp;s_kwcid=AL!12312!3!646967714381!p!!g!!</a:t>
            </a:r>
            <a:r>
              <a:rPr lang="en-GB" b="1" dirty="0" smtClean="0">
                <a:solidFill>
                  <a:srgbClr val="002060"/>
                </a:solidFill>
                <a:hlinkClick r:id="rId3"/>
              </a:rPr>
              <a:t>5g%20network%20architecture&amp;gad_source=1&amp;gclid=CjwKCAiAzvC9BhADEiwAEhtlN6J2W0hD25pluuvaTIdbHsdMbeS9Z70ypfGUSSWlBLOUHnCmLiWPGBoCCu8QAvD_BwE</a:t>
            </a:r>
          </a:p>
          <a:p>
            <a:endParaRPr lang="en-GB" b="1" dirty="0">
              <a:solidFill>
                <a:srgbClr val="002060"/>
              </a:solidFill>
              <a:hlinkClick r:id="rId3"/>
            </a:endParaRPr>
          </a:p>
          <a:p>
            <a:r>
              <a:rPr lang="en-GB" b="1" dirty="0" smtClean="0">
                <a:solidFill>
                  <a:srgbClr val="002060"/>
                </a:solidFill>
                <a:hlinkClick r:id="rId3"/>
              </a:rPr>
              <a:t>https</a:t>
            </a:r>
            <a:r>
              <a:rPr lang="en-GB" b="1" dirty="0">
                <a:solidFill>
                  <a:srgbClr val="002060"/>
                </a:solidFill>
                <a:hlinkClick r:id="rId3"/>
              </a:rPr>
              <a:t>://carrier.huawei.com/~/</a:t>
            </a:r>
            <a:r>
              <a:rPr lang="en-GB" b="1" dirty="0" smtClean="0">
                <a:solidFill>
                  <a:srgbClr val="002060"/>
                </a:solidFill>
                <a:hlinkClick r:id="rId3"/>
              </a:rPr>
              <a:t>media/cnbgv2/download/products/antenna/go-for-5g.pdf</a:t>
            </a:r>
            <a:endParaRPr lang="en-GB" b="1" dirty="0" smtClean="0">
              <a:solidFill>
                <a:srgbClr val="002060"/>
              </a:solidFill>
            </a:endParaRPr>
          </a:p>
          <a:p>
            <a:r>
              <a:rPr lang="en-GB" b="1" dirty="0">
                <a:solidFill>
                  <a:srgbClr val="002060"/>
                </a:solidFill>
                <a:hlinkClick r:id="rId4"/>
              </a:rPr>
              <a:t>https://</a:t>
            </a:r>
            <a:r>
              <a:rPr lang="en-GB" b="1" dirty="0" smtClean="0">
                <a:solidFill>
                  <a:srgbClr val="002060"/>
                </a:solidFill>
                <a:hlinkClick r:id="rId4"/>
              </a:rPr>
              <a:t>support.huawei.com/enterprise/en/doc/EDOC1100112349/cfb76756/5g-network-architectures-and-technologies</a:t>
            </a:r>
            <a:endParaRPr lang="en-GB" b="1" dirty="0" smtClean="0">
              <a:solidFill>
                <a:srgbClr val="002060"/>
              </a:solidFill>
            </a:endParaRPr>
          </a:p>
          <a:p>
            <a:endParaRPr lang="en-GB" dirty="0" smtClean="0"/>
          </a:p>
          <a:p>
            <a:r>
              <a:rPr lang="en-GB" dirty="0" smtClean="0"/>
              <a:t>WHO </a:t>
            </a:r>
            <a:r>
              <a:rPr lang="en-GB" dirty="0" smtClean="0"/>
              <a:t>International </a:t>
            </a:r>
            <a:r>
              <a:rPr lang="en-GB" dirty="0"/>
              <a:t>EMF Project: </a:t>
            </a:r>
            <a:r>
              <a:rPr lang="en-GB" dirty="0">
                <a:hlinkClick r:id="rId5"/>
              </a:rPr>
              <a:t>https://www.who.int/peh-emf/project/en</a:t>
            </a:r>
            <a:r>
              <a:rPr lang="en-GB" dirty="0" smtClean="0">
                <a:hlinkClick r:id="rId5"/>
              </a:rPr>
              <a:t>/</a:t>
            </a:r>
            <a:endParaRPr lang="en-GB" dirty="0" smtClean="0"/>
          </a:p>
          <a:p>
            <a:r>
              <a:rPr lang="en-GB" dirty="0" smtClean="0"/>
              <a:t>National government and health agency reports, e.g.:</a:t>
            </a:r>
          </a:p>
          <a:p>
            <a:pPr lvl="1"/>
            <a:r>
              <a:rPr lang="en-GB" u="sng" dirty="0">
                <a:hlinkClick r:id="rId6"/>
              </a:rPr>
              <a:t>https://www.gov.uk/government/publications/radiofrequency-electromagnetic-fields-health-effects</a:t>
            </a:r>
            <a:r>
              <a:rPr lang="en-GB" dirty="0"/>
              <a:t> (for the UK)</a:t>
            </a:r>
          </a:p>
          <a:p>
            <a:pPr lvl="1"/>
            <a:r>
              <a:rPr lang="en-GB" u="sng" dirty="0">
                <a:hlinkClick r:id="rId7"/>
              </a:rPr>
              <a:t>https://www.arpansa.gov.au/understanding-radiation/radiation-sources/more-radiation-sources/electricity</a:t>
            </a:r>
            <a:r>
              <a:rPr lang="en-GB" dirty="0"/>
              <a:t> (Australia)</a:t>
            </a:r>
          </a:p>
          <a:p>
            <a:pPr lvl="1"/>
            <a:r>
              <a:rPr lang="en-GB" u="sng" dirty="0">
                <a:hlinkClick r:id="rId8"/>
              </a:rPr>
              <a:t>https://www.health.govt.nz/publication/electric-and-magnetic-fields-and-your-health</a:t>
            </a:r>
            <a:r>
              <a:rPr lang="en-GB" dirty="0"/>
              <a:t> (New Zealand)</a:t>
            </a:r>
          </a:p>
          <a:p>
            <a:pPr lvl="1"/>
            <a:r>
              <a:rPr lang="en-GB" u="sng" dirty="0">
                <a:hlinkClick r:id="rId9"/>
              </a:rPr>
              <a:t>https://www.ic.gc.ca/eic/site/smt-gst.nsf/eng/sf09583.html</a:t>
            </a:r>
            <a:r>
              <a:rPr lang="en-GB" dirty="0"/>
              <a:t> (Canada)</a:t>
            </a:r>
          </a:p>
          <a:p>
            <a:pPr lvl="1"/>
            <a:r>
              <a:rPr lang="en-GB" u="sng" dirty="0">
                <a:hlinkClick r:id="rId10"/>
              </a:rPr>
              <a:t>https://www.fcc.gov/general/radio-frequency-safety-0</a:t>
            </a:r>
            <a:r>
              <a:rPr lang="en-GB" dirty="0"/>
              <a:t> (US)</a:t>
            </a:r>
          </a:p>
          <a:p>
            <a:r>
              <a:rPr lang="en-GB" dirty="0" smtClean="0"/>
              <a:t>Independent critical appraisals of major publications </a:t>
            </a:r>
          </a:p>
          <a:p>
            <a:pPr lvl="1"/>
            <a:r>
              <a:rPr lang="en-GB" dirty="0" smtClean="0">
                <a:hlinkClick r:id="rId11"/>
              </a:rPr>
              <a:t>www.emfandhealth.com</a:t>
            </a:r>
            <a:endParaRPr lang="en-GB" dirty="0"/>
          </a:p>
          <a:p>
            <a:r>
              <a:rPr lang="en-GB" dirty="0" smtClean="0"/>
              <a:t>Quality assured database of EMF related publications:</a:t>
            </a:r>
          </a:p>
          <a:p>
            <a:pPr lvl="1"/>
            <a:r>
              <a:rPr lang="en-GB" u="sng" dirty="0">
                <a:hlinkClick r:id="rId12"/>
              </a:rPr>
              <a:t>https://www.emf-portal.org/en</a:t>
            </a:r>
            <a:r>
              <a:rPr lang="en-GB" dirty="0"/>
              <a:t>. </a:t>
            </a:r>
            <a:endParaRPr lang="en-GB" dirty="0" smtClean="0"/>
          </a:p>
          <a:p>
            <a:pPr lvl="1"/>
            <a:endParaRPr lang="en-GB" dirty="0"/>
          </a:p>
          <a:p>
            <a:endParaRPr lang="en-GB" dirty="0"/>
          </a:p>
        </p:txBody>
      </p:sp>
    </p:spTree>
    <p:extLst>
      <p:ext uri="{BB962C8B-B14F-4D97-AF65-F5344CB8AC3E}">
        <p14:creationId xmlns:p14="http://schemas.microsoft.com/office/powerpoint/2010/main" val="26538095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Tiga orang berbicara — Foto Stok © orlaimagen #620576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9796" y="2141955"/>
            <a:ext cx="6166204" cy="4624653"/>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Grp="1" noChangeAspect="1"/>
          </p:cNvPicPr>
          <p:nvPr>
            <p:ph idx="1"/>
          </p:nvPr>
        </p:nvPicPr>
        <p:blipFill>
          <a:blip r:embed="rId3"/>
          <a:stretch>
            <a:fillRect/>
          </a:stretch>
        </p:blipFill>
        <p:spPr>
          <a:xfrm rot="10800000">
            <a:off x="6129628" y="4691023"/>
            <a:ext cx="2710703" cy="2343413"/>
          </a:xfrm>
          <a:prstGeom prst="ellipse">
            <a:avLst/>
          </a:prstGeom>
          <a:ln>
            <a:noFill/>
          </a:ln>
          <a:effectLst>
            <a:softEdge rad="112500"/>
          </a:effectLst>
        </p:spPr>
      </p:pic>
      <p:sp>
        <p:nvSpPr>
          <p:cNvPr id="5" name="Rectangle 4"/>
          <p:cNvSpPr/>
          <p:nvPr/>
        </p:nvSpPr>
        <p:spPr>
          <a:xfrm>
            <a:off x="1257300" y="7490012"/>
            <a:ext cx="14563164" cy="1183341"/>
          </a:xfrm>
          <a:prstGeom prst="rect">
            <a:avLst/>
          </a:prstGeom>
          <a:solidFill>
            <a:schemeClr val="bg1">
              <a:lumMod val="75000"/>
            </a:schemeClr>
          </a:solid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1465729" y="7605787"/>
            <a:ext cx="1219480" cy="951789"/>
          </a:xfrm>
          <a:prstGeom prst="rect">
            <a:avLst/>
          </a:prstGeom>
        </p:spPr>
      </p:pic>
      <p:pic>
        <p:nvPicPr>
          <p:cNvPr id="7" name="Picture 6"/>
          <p:cNvPicPr>
            <a:picLocks noChangeAspect="1"/>
          </p:cNvPicPr>
          <p:nvPr/>
        </p:nvPicPr>
        <p:blipFill rotWithShape="1">
          <a:blip r:embed="rId5"/>
          <a:srcRect r="49238" b="50000"/>
          <a:stretch/>
        </p:blipFill>
        <p:spPr>
          <a:xfrm>
            <a:off x="5661308" y="3133281"/>
            <a:ext cx="1087891" cy="1066801"/>
          </a:xfrm>
          <a:prstGeom prst="rect">
            <a:avLst/>
          </a:prstGeom>
        </p:spPr>
      </p:pic>
    </p:spTree>
    <p:extLst>
      <p:ext uri="{BB962C8B-B14F-4D97-AF65-F5344CB8AC3E}">
        <p14:creationId xmlns:p14="http://schemas.microsoft.com/office/powerpoint/2010/main" val="42183409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59664</TotalTime>
  <Words>754</Words>
  <Application>Microsoft Office PowerPoint</Application>
  <PresentationFormat>Custom</PresentationFormat>
  <Paragraphs>109</Paragraphs>
  <Slides>17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Malgun Gothic</vt:lpstr>
      <vt:lpstr>SimSun</vt:lpstr>
      <vt:lpstr>Arial</vt:lpstr>
      <vt:lpstr>Calibri</vt:lpstr>
      <vt:lpstr>Calibri Light</vt:lpstr>
      <vt:lpstr>Tahoma</vt:lpstr>
      <vt:lpstr>Office Theme</vt:lpstr>
      <vt:lpstr>PowerPoint Presentation</vt:lpstr>
      <vt:lpstr>Policy and Strategy</vt:lpstr>
      <vt:lpstr>Value of mobile networks to our economic and social development</vt:lpstr>
      <vt:lpstr>5G in Context</vt:lpstr>
      <vt:lpstr>Planning</vt:lpstr>
      <vt:lpstr>Health Issues in Perspective</vt:lpstr>
      <vt:lpstr>The electromagnetic spectrum</vt:lpstr>
      <vt:lpstr>Sources of electromagnetic energy</vt:lpstr>
      <vt:lpstr>Radiation</vt:lpstr>
      <vt:lpstr>Is 5G different?</vt:lpstr>
      <vt:lpstr>What is the evidence for impact on human health?</vt:lpstr>
      <vt:lpstr>Claims by anti-EMF lobbyists</vt:lpstr>
      <vt:lpstr>Anti-5G claims continued</vt:lpstr>
      <vt:lpstr>Characteristics of ‘experts’ and their websites</vt:lpstr>
      <vt:lpstr>What about the precautionary principle?</vt:lpstr>
      <vt:lpstr>Sources of evidence (based on principles of evidence-based science)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Relu</dc:title>
  <dc:creator>pds</dc:creator>
  <cp:lastModifiedBy>Gde</cp:lastModifiedBy>
  <cp:revision>555</cp:revision>
  <dcterms:created xsi:type="dcterms:W3CDTF">2016-10-27T01:02:21Z</dcterms:created>
  <dcterms:modified xsi:type="dcterms:W3CDTF">2025-02-25T06:52:34Z</dcterms:modified>
</cp:coreProperties>
</file>