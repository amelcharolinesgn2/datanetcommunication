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8" r:id="rId10"/>
    <p:sldId id="270" r:id="rId11"/>
    <p:sldId id="271" r:id="rId12"/>
    <p:sldId id="272" r:id="rId13"/>
    <p:sldId id="273" r:id="rId14"/>
    <p:sldId id="274" r:id="rId15"/>
    <p:sldId id="275" r:id="rId1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4510" autoAdjust="0"/>
  </p:normalViewPr>
  <p:slideViewPr>
    <p:cSldViewPr>
      <p:cViewPr varScale="1">
        <p:scale>
          <a:sx n="78" d="100"/>
          <a:sy n="78" d="100"/>
        </p:scale>
        <p:origin x="210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/>
            </a:lvl1pPr>
          </a:lstStyle>
          <a:p>
            <a:fld id="{BF4A0A05-B5EB-4BD4-B691-78FF63F589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9082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2A2DD90-0153-4606-ACFD-018005082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0149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kumimoji="1" lang="en-US" altLang="en-US">
                <a:latin typeface="Times New Roman" pitchFamily="18" charset="0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algn="ctr" eaLnBrk="1" hangingPunct="1"/>
              <a:endParaRPr kumimoji="1" lang="en-US" altLang="en-US">
                <a:latin typeface="Times New Roman" pitchFamily="18" charset="0"/>
              </a:endParaRPr>
            </a:p>
          </p:txBody>
        </p:sp>
      </p:grp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</p:grpSp>
      <p:sp>
        <p:nvSpPr>
          <p:cNvPr id="6152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156" name="AutoShape 1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smtClean="0"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12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10CA5657-B3E8-40DB-BC47-A2923E6539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696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DE9FB4-3025-4A5E-8756-BB45A1EE96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270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1A494-9855-4619-AA79-80578743F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92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944C09-57D5-4E3C-BEA5-19D2841BE2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257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C6F7DF-D0DE-4960-812F-BA080DDD3D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32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B3BB7-ED99-4227-A316-7BC6FDE7F2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628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76AB6-DEF6-4CDC-8C56-5F756A21BA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51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88BD96-845C-47AE-A0B9-F1ED55B638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130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0B02BD-C918-47DA-9295-2A4DBE4822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9491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EBBD4-6987-4370-B849-EBE138FBD4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0240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9A393-B805-419D-A009-1697F53CF1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715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B36D54-5D44-4E35-80EF-A8C05A97F9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67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0913" y="2362200"/>
            <a:ext cx="3770312" cy="1785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0913" y="4300538"/>
            <a:ext cx="3770312" cy="1785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715E0-709F-425C-BAAF-C7487F750C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62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1032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1036" name="Rectangle 4"/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37" name="Freeform 5"/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033" name="Group 6"/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1034" name="AutoShape 7"/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035" name="AutoShape 8"/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itchFamily="34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</p:grpSp>
      <p:sp>
        <p:nvSpPr>
          <p:cNvPr id="1027" name="AutoShape 9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Copyright 2014 Jim Martin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7732E5D5-2B24-4869-821B-21397480929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8" r:id="rId13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  <a:ea typeface="ＭＳ Ｐゴシック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1639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How do computers </a:t>
            </a:r>
            <a:r>
              <a:rPr lang="en-US" altLang="en-US" i="1">
                <a:ea typeface="ＭＳ Ｐゴシック" pitchFamily="34" charset="-128"/>
              </a:rPr>
              <a:t>really</a:t>
            </a:r>
            <a:r>
              <a:rPr lang="en-US" altLang="en-US">
                <a:ea typeface="ＭＳ Ｐゴシック" pitchFamily="34" charset="-128"/>
              </a:rPr>
              <a:t> communicate?</a:t>
            </a:r>
          </a:p>
        </p:txBody>
      </p:sp>
      <p:pic>
        <p:nvPicPr>
          <p:cNvPr id="16387" name="Picture 3" descr="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48000"/>
            <a:ext cx="5492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667000" y="32004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6389" name="Picture 5" descr="compu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048000"/>
            <a:ext cx="54927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Line 6"/>
          <p:cNvSpPr>
            <a:spLocks noChangeShapeType="1"/>
          </p:cNvSpPr>
          <p:nvPr/>
        </p:nvSpPr>
        <p:spPr bwMode="auto">
          <a:xfrm flipH="1">
            <a:off x="2590800" y="3505200"/>
            <a:ext cx="3733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2" name="Text Box 8"/>
          <p:cNvSpPr txBox="1">
            <a:spLocks noChangeArrowheads="1"/>
          </p:cNvSpPr>
          <p:nvPr/>
        </p:nvSpPr>
        <p:spPr bwMode="auto">
          <a:xfrm>
            <a:off x="685800" y="4038600"/>
            <a:ext cx="79406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en-US" sz="2000">
                <a:latin typeface="Times New Roman" pitchFamily="18" charset="0"/>
              </a:rPr>
              <a:t>They need a physical connection.</a:t>
            </a:r>
          </a:p>
          <a:p>
            <a:pPr eaLnBrk="1" hangingPunct="1">
              <a:buFontTx/>
              <a:buAutoNum type="arabicPeriod"/>
            </a:pPr>
            <a:r>
              <a:rPr lang="en-US" altLang="en-US" sz="2000">
                <a:latin typeface="Times New Roman" pitchFamily="18" charset="0"/>
              </a:rPr>
              <a:t>Data is encoded and transmitted as energy.</a:t>
            </a:r>
          </a:p>
          <a:p>
            <a:pPr eaLnBrk="1" hangingPunct="1">
              <a:buFontTx/>
              <a:buAutoNum type="arabicPeriod"/>
            </a:pPr>
            <a:r>
              <a:rPr lang="en-US" altLang="en-US" sz="2000">
                <a:latin typeface="Times New Roman" pitchFamily="18" charset="0"/>
              </a:rPr>
              <a:t>Energy is decoded at the destination back into data.</a:t>
            </a:r>
          </a:p>
          <a:p>
            <a:pPr eaLnBrk="1" hangingPunct="1">
              <a:buFontTx/>
              <a:buAutoNum type="arabicPeriod"/>
            </a:pPr>
            <a:r>
              <a:rPr lang="en-US" altLang="en-US" sz="2000">
                <a:latin typeface="Times New Roman" pitchFamily="18" charset="0"/>
              </a:rPr>
              <a:t>Each form of energy has different properties and requirements for transmission.</a:t>
            </a:r>
          </a:p>
          <a:p>
            <a:pPr eaLnBrk="1" hangingPunct="1">
              <a:buFontTx/>
              <a:buAutoNum type="arabicPeriod"/>
            </a:pPr>
            <a:endParaRPr lang="en-US" altLang="en-US" sz="200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Transmission Media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Energy is carried through a medium</a:t>
            </a:r>
          </a:p>
          <a:p>
            <a:pPr lvl="1" eaLnBrk="1" hangingPunct="1"/>
            <a:r>
              <a:rPr lang="en-US" altLang="en-US">
                <a:ea typeface="ＭＳ Ｐゴシック" pitchFamily="34" charset="-128"/>
              </a:rPr>
              <a:t>Copper: twisted pair</a:t>
            </a:r>
          </a:p>
          <a:p>
            <a:pPr lvl="1" eaLnBrk="1" hangingPunct="1"/>
            <a:r>
              <a:rPr lang="en-US" altLang="en-US">
                <a:ea typeface="ＭＳ Ｐゴシック" pitchFamily="34" charset="-128"/>
              </a:rPr>
              <a:t>Glass: optical</a:t>
            </a:r>
          </a:p>
          <a:p>
            <a:pPr lvl="1" eaLnBrk="1" hangingPunct="1"/>
            <a:r>
              <a:rPr lang="en-US" altLang="en-US">
                <a:ea typeface="ＭＳ Ｐゴシック" pitchFamily="34" charset="-128"/>
              </a:rPr>
              <a:t>Air : radio (many portions of the frequency spectrum can be used)</a:t>
            </a:r>
          </a:p>
        </p:txBody>
      </p:sp>
      <p:pic>
        <p:nvPicPr>
          <p:cNvPr id="17412" name="Picture 5" descr="f4_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495800"/>
            <a:ext cx="5133975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Choosing a Medium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itchFamily="34" charset="-128"/>
              </a:rPr>
              <a:t>Copper wire (traditional wired network) is mature technology, rugged and inexpensive; maximum transmission speed is limited.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itchFamily="34" charset="-128"/>
              </a:rPr>
              <a:t> Glass fiber (optical network):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itchFamily="34" charset="-128"/>
              </a:rPr>
              <a:t>Higher speed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itchFamily="34" charset="-128"/>
              </a:rPr>
              <a:t>More resistant to electro-magnetic interference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itchFamily="34" charset="-128"/>
              </a:rPr>
              <a:t>Spans longer distances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itchFamily="34" charset="-128"/>
              </a:rPr>
              <a:t>Requires only single fiber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>
                <a:ea typeface="ＭＳ Ｐゴシック" pitchFamily="34" charset="-128"/>
              </a:rPr>
              <a:t>More expensive; less rugged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itchFamily="34" charset="-128"/>
              </a:rPr>
              <a:t>Radio and microwave (wireless network) don't require physical connection and can be used for mobile connections.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3724275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ＭＳ Ｐゴシック" pitchFamily="34" charset="-128"/>
              </a:rPr>
              <a:t>Simplest approach  - use varying voltages to represent 1s and 0s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 One common encoding use negative voltage for 1 and positive voltage for 0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In following figure, transmitter puts positive voltage on line for 0 and negative voltage on line for 1</a:t>
            </a: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</p:txBody>
      </p:sp>
      <p:pic>
        <p:nvPicPr>
          <p:cNvPr id="19460" name="Picture 5" descr="f5_1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90800" y="4419600"/>
            <a:ext cx="4456113" cy="210661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3724275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ＭＳ Ｐゴシック" pitchFamily="34" charset="-128"/>
              </a:rPr>
              <a:t>Encoding scheme leaves several questions unanswered:</a:t>
            </a:r>
          </a:p>
          <a:p>
            <a:pPr lvl="1" eaLnBrk="1" hangingPunct="1"/>
            <a:r>
              <a:rPr lang="en-US" altLang="en-US" sz="1800">
                <a:ea typeface="ＭＳ Ｐゴシック" pitchFamily="34" charset="-128"/>
              </a:rPr>
              <a:t>How long will voltage last for each bit?</a:t>
            </a:r>
          </a:p>
          <a:p>
            <a:pPr lvl="1" eaLnBrk="1" hangingPunct="1"/>
            <a:r>
              <a:rPr lang="en-US" altLang="en-US" sz="1800">
                <a:ea typeface="ＭＳ Ｐゴシック" pitchFamily="34" charset="-128"/>
              </a:rPr>
              <a:t>How soon will next bit start?</a:t>
            </a:r>
          </a:p>
          <a:p>
            <a:pPr lvl="1" eaLnBrk="1" hangingPunct="1"/>
            <a:r>
              <a:rPr lang="en-US" altLang="en-US" sz="1800">
                <a:ea typeface="ＭＳ Ｐゴシック" pitchFamily="34" charset="-128"/>
              </a:rPr>
              <a:t>How will the transmitter and receiver agree on timing?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Standards specify operation of communication systems</a:t>
            </a:r>
          </a:p>
          <a:p>
            <a:pPr lvl="1" eaLnBrk="1" hangingPunct="1"/>
            <a:r>
              <a:rPr lang="en-US" altLang="en-US" sz="1800">
                <a:ea typeface="ＭＳ Ｐゴシック" pitchFamily="34" charset="-128"/>
              </a:rPr>
              <a:t>Devices from different vendors that adhere to the standard can interoperate</a:t>
            </a:r>
          </a:p>
          <a:p>
            <a:pPr lvl="1" eaLnBrk="1" hangingPunct="1"/>
            <a:r>
              <a:rPr lang="en-US" altLang="en-US" sz="1800">
                <a:ea typeface="ＭＳ Ｐゴシック" pitchFamily="34" charset="-128"/>
              </a:rPr>
              <a:t>Example organizations:</a:t>
            </a:r>
          </a:p>
          <a:p>
            <a:pPr lvl="2" eaLnBrk="1" hangingPunct="1"/>
            <a:r>
              <a:rPr lang="en-US" altLang="en-US" sz="1600">
                <a:ea typeface="ＭＳ Ｐゴシック" pitchFamily="34" charset="-128"/>
              </a:rPr>
              <a:t>International Telecommunications Union (ITU)</a:t>
            </a:r>
          </a:p>
          <a:p>
            <a:pPr lvl="2" eaLnBrk="1" hangingPunct="1"/>
            <a:r>
              <a:rPr lang="en-US" altLang="en-US" sz="1600">
                <a:ea typeface="ＭＳ Ｐゴシック" pitchFamily="34" charset="-128"/>
              </a:rPr>
              <a:t>Electronic Industries Association (EIA)</a:t>
            </a:r>
          </a:p>
          <a:p>
            <a:pPr lvl="2" eaLnBrk="1" hangingPunct="1"/>
            <a:r>
              <a:rPr lang="en-US" altLang="en-US" sz="1600">
                <a:ea typeface="ＭＳ Ｐゴシック" pitchFamily="34" charset="-128"/>
              </a:rPr>
              <a:t>Institute for Electrical and Electronics Engineers (IEEE)</a:t>
            </a: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3724275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ＭＳ Ｐゴシック" pitchFamily="34" charset="-128"/>
              </a:rPr>
              <a:t>Digital signals can</a:t>
            </a:r>
            <a:r>
              <a:rPr lang="ja-JP" altLang="en-US" sz="2000">
                <a:ea typeface="ＭＳ Ｐゴシック" pitchFamily="34" charset="-128"/>
              </a:rPr>
              <a:t>’</a:t>
            </a:r>
            <a:r>
              <a:rPr lang="en-US" altLang="ja-JP" sz="2000">
                <a:ea typeface="ＭＳ Ｐゴシック" pitchFamily="34" charset="-128"/>
              </a:rPr>
              <a:t>t travel very far.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Continuous, oscillating signal will propagate farther than digital signal 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Long distance communication uses such a signal, called a </a:t>
            </a:r>
            <a:r>
              <a:rPr lang="en-US" altLang="en-US" sz="2000" i="1">
                <a:ea typeface="ＭＳ Ｐゴシック" pitchFamily="34" charset="-128"/>
              </a:rPr>
              <a:t>carrier</a:t>
            </a:r>
            <a:r>
              <a:rPr lang="en-US" altLang="en-US" sz="2000">
                <a:ea typeface="ＭＳ Ｐゴシック" pitchFamily="34" charset="-128"/>
              </a:rPr>
              <a:t> </a:t>
            </a: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Waveform for carrier looks like:  </a:t>
            </a: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  <a:p>
            <a:pPr eaLnBrk="1" hangingPunct="1"/>
            <a:r>
              <a:rPr lang="en-US" altLang="en-US" sz="2000">
                <a:ea typeface="ＭＳ Ｐゴシック" pitchFamily="34" charset="-128"/>
              </a:rPr>
              <a:t>Various methods used to </a:t>
            </a:r>
            <a:r>
              <a:rPr lang="ja-JP" altLang="en-US" sz="2000">
                <a:ea typeface="ＭＳ Ｐゴシック" pitchFamily="34" charset="-128"/>
              </a:rPr>
              <a:t>‘</a:t>
            </a:r>
            <a:r>
              <a:rPr lang="en-US" altLang="ja-JP" sz="2000">
                <a:ea typeface="ＭＳ Ｐゴシック" pitchFamily="34" charset="-128"/>
              </a:rPr>
              <a:t>modulate</a:t>
            </a:r>
            <a:r>
              <a:rPr lang="ja-JP" altLang="en-US" sz="2000">
                <a:ea typeface="ＭＳ Ｐゴシック" pitchFamily="34" charset="-128"/>
              </a:rPr>
              <a:t>’</a:t>
            </a:r>
            <a:r>
              <a:rPr lang="en-US" altLang="ja-JP" sz="2000">
                <a:ea typeface="ＭＳ Ｐゴシック" pitchFamily="34" charset="-128"/>
              </a:rPr>
              <a:t> data using a carrier</a:t>
            </a:r>
          </a:p>
          <a:p>
            <a:pPr eaLnBrk="1" hangingPunct="1"/>
            <a:endParaRPr lang="en-US" altLang="en-US" sz="1800">
              <a:ea typeface="ＭＳ Ｐゴシック" pitchFamily="34" charset="-128"/>
            </a:endParaRPr>
          </a:p>
        </p:txBody>
      </p:sp>
      <p:pic>
        <p:nvPicPr>
          <p:cNvPr id="21508" name="Picture 5" descr="f6_1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4572000"/>
            <a:ext cx="3770313" cy="1447800"/>
          </a:xfr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Multiplexing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3724275"/>
          </a:xfrm>
        </p:spPr>
        <p:txBody>
          <a:bodyPr/>
          <a:lstStyle/>
          <a:p>
            <a:pPr eaLnBrk="1" hangingPunct="1"/>
            <a:r>
              <a:rPr lang="en-US" altLang="en-US" sz="1600">
                <a:ea typeface="ＭＳ Ｐゴシック" pitchFamily="34" charset="-128"/>
              </a:rPr>
              <a:t>Modulation allows a medium to be shared by separate signals by using carriers of different frequencies. </a:t>
            </a:r>
          </a:p>
          <a:p>
            <a:pPr lvl="1" eaLnBrk="1" hangingPunct="1"/>
            <a:r>
              <a:rPr lang="en-US" altLang="en-US" sz="1400">
                <a:ea typeface="ＭＳ Ｐゴシック" pitchFamily="34" charset="-128"/>
              </a:rPr>
              <a:t>F</a:t>
            </a:r>
            <a:r>
              <a:rPr lang="en-US" altLang="en-US" sz="1400" i="1">
                <a:ea typeface="ＭＳ Ｐゴシック" pitchFamily="34" charset="-128"/>
              </a:rPr>
              <a:t>requency division multiplexing</a:t>
            </a:r>
            <a:r>
              <a:rPr lang="en-US" altLang="en-US" sz="1400">
                <a:ea typeface="ＭＳ Ｐゴシック" pitchFamily="34" charset="-128"/>
              </a:rPr>
              <a:t> (FDM) achieves multiplexing by using different carrier frequencies. </a:t>
            </a:r>
          </a:p>
          <a:p>
            <a:pPr lvl="1" eaLnBrk="1" hangingPunct="1"/>
            <a:r>
              <a:rPr lang="en-US" altLang="en-US" sz="1400">
                <a:ea typeface="ＭＳ Ｐゴシック" pitchFamily="34" charset="-128"/>
              </a:rPr>
              <a:t>Allows multiple sources to simultaneously share a single medium without interference</a:t>
            </a:r>
          </a:p>
          <a:p>
            <a:pPr eaLnBrk="1" hangingPunct="1"/>
            <a:r>
              <a:rPr lang="en-US" altLang="en-US" sz="1600">
                <a:ea typeface="ＭＳ Ｐゴシック" pitchFamily="34" charset="-128"/>
              </a:rPr>
              <a:t>Receiver can "tune" to specific frequency and extract modulation for that one channel </a:t>
            </a:r>
          </a:p>
          <a:p>
            <a:pPr lvl="1" eaLnBrk="1" hangingPunct="1"/>
            <a:r>
              <a:rPr lang="en-US" altLang="en-US" sz="1400">
                <a:ea typeface="ＭＳ Ｐゴシック" pitchFamily="34" charset="-128"/>
              </a:rPr>
              <a:t>Frequencies must be separated to avoid interference </a:t>
            </a:r>
          </a:p>
          <a:p>
            <a:pPr lvl="1" eaLnBrk="1" hangingPunct="1"/>
            <a:r>
              <a:rPr lang="en-US" altLang="en-US" sz="1400">
                <a:ea typeface="ＭＳ Ｐゴシック" pitchFamily="34" charset="-128"/>
              </a:rPr>
              <a:t>Only useful in media that can carry multiple signals with different frequencies - high-bandwidth required </a:t>
            </a:r>
          </a:p>
          <a:p>
            <a:pPr eaLnBrk="1" hangingPunct="1"/>
            <a:endParaRPr lang="en-US" altLang="en-US" sz="1400">
              <a:ea typeface="ＭＳ Ｐゴシック" pitchFamily="34" charset="-128"/>
            </a:endParaRPr>
          </a:p>
        </p:txBody>
      </p:sp>
      <p:pic>
        <p:nvPicPr>
          <p:cNvPr id="22532" name="Picture 5" descr="f6_6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5181600"/>
            <a:ext cx="5715000" cy="1819275"/>
          </a:xfr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Multiplexing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3724275"/>
          </a:xfrm>
        </p:spPr>
        <p:txBody>
          <a:bodyPr/>
          <a:lstStyle/>
          <a:p>
            <a:pPr eaLnBrk="1" hangingPunct="1"/>
            <a:r>
              <a:rPr lang="en-US" altLang="en-US" sz="2400" i="1">
                <a:ea typeface="ＭＳ Ｐゴシック" pitchFamily="34" charset="-128"/>
              </a:rPr>
              <a:t>Time division multiplexing</a:t>
            </a:r>
            <a:r>
              <a:rPr lang="en-US" altLang="en-US" sz="2400">
                <a:ea typeface="ＭＳ Ｐゴシック" pitchFamily="34" charset="-128"/>
              </a:rPr>
              <a:t> uses a single carrier and sends data streams sequentially </a:t>
            </a:r>
          </a:p>
          <a:p>
            <a:pPr lvl="1" eaLnBrk="1" hangingPunct="1"/>
            <a:r>
              <a:rPr lang="en-US" altLang="en-US" sz="2000">
                <a:ea typeface="ＭＳ Ｐゴシック" pitchFamily="34" charset="-128"/>
              </a:rPr>
              <a:t>Allow multiple sources to share a medium by </a:t>
            </a:r>
            <a:r>
              <a:rPr lang="ja-JP" altLang="en-US" sz="2000">
                <a:ea typeface="ＭＳ Ｐゴシック" pitchFamily="34" charset="-128"/>
              </a:rPr>
              <a:t>‘</a:t>
            </a:r>
            <a:r>
              <a:rPr lang="en-US" altLang="ja-JP" sz="2000">
                <a:ea typeface="ＭＳ Ｐゴシック" pitchFamily="34" charset="-128"/>
              </a:rPr>
              <a:t>taking turns</a:t>
            </a:r>
            <a:r>
              <a:rPr lang="ja-JP" altLang="en-US" sz="2000">
                <a:ea typeface="ＭＳ Ｐゴシック" pitchFamily="34" charset="-128"/>
              </a:rPr>
              <a:t>’</a:t>
            </a:r>
            <a:endParaRPr lang="en-US" altLang="ja-JP" sz="2000">
              <a:ea typeface="ＭＳ Ｐゴシック" pitchFamily="34" charset="-128"/>
            </a:endParaRPr>
          </a:p>
          <a:p>
            <a:pPr eaLnBrk="1" hangingPunct="1"/>
            <a:r>
              <a:rPr lang="en-US" altLang="en-US" sz="2400">
                <a:ea typeface="ＭＳ Ｐゴシック" pitchFamily="34" charset="-128"/>
              </a:rPr>
              <a:t>Transmitter/receiver pairs share single channel </a:t>
            </a:r>
          </a:p>
          <a:p>
            <a:pPr eaLnBrk="1" hangingPunct="1"/>
            <a:r>
              <a:rPr lang="en-US" altLang="en-US" sz="2400">
                <a:ea typeface="ＭＳ Ｐゴシック" pitchFamily="34" charset="-128"/>
              </a:rPr>
              <a:t>Basis for most computer networks used shared media</a:t>
            </a:r>
          </a:p>
          <a:p>
            <a:pPr eaLnBrk="1" hangingPunct="1"/>
            <a:r>
              <a:rPr lang="en-US" altLang="en-US" sz="2400" i="1">
                <a:ea typeface="ＭＳ Ｐゴシック" pitchFamily="34" charset="-128"/>
              </a:rPr>
              <a:t>Statistical multiplexing</a:t>
            </a:r>
            <a:r>
              <a:rPr lang="en-US" altLang="en-US" sz="2400">
                <a:ea typeface="ＭＳ Ｐゴシック" pitchFamily="34" charset="-128"/>
              </a:rPr>
              <a:t> is similar to TDM except if a source does not have data to send, the multiplexor skips the source</a:t>
            </a:r>
          </a:p>
          <a:p>
            <a:pPr eaLnBrk="1" hangingPunct="1"/>
            <a:endParaRPr lang="en-US" altLang="en-US" sz="200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Bandwidth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467600" cy="2743200"/>
          </a:xfrm>
        </p:spPr>
        <p:txBody>
          <a:bodyPr/>
          <a:lstStyle/>
          <a:p>
            <a:pPr eaLnBrk="1" hangingPunct="1"/>
            <a:r>
              <a:rPr lang="en-US" altLang="en-US" sz="1600" dirty="0">
                <a:ea typeface="ＭＳ Ｐゴシック" pitchFamily="34" charset="-128"/>
              </a:rPr>
              <a:t>The communications channel along with the modulation technique determines the bandwidth:	</a:t>
            </a:r>
          </a:p>
          <a:p>
            <a:pPr lvl="1" eaLnBrk="1" hangingPunct="1"/>
            <a:r>
              <a:rPr lang="en-US" altLang="en-US" sz="1600" dirty="0">
                <a:ea typeface="ＭＳ Ｐゴシック" pitchFamily="34" charset="-128"/>
              </a:rPr>
              <a:t>Channel bandwidth:  Measured in cycles per second or Hertz (</a:t>
            </a:r>
            <a:r>
              <a:rPr lang="en-US" altLang="en-US" sz="1600" dirty="0" err="1">
                <a:ea typeface="ＭＳ Ｐゴシック" pitchFamily="34" charset="-128"/>
              </a:rPr>
              <a:t>hz</a:t>
            </a:r>
            <a:r>
              <a:rPr lang="en-US" altLang="en-US" sz="1600" dirty="0">
                <a:ea typeface="ＭＳ Ｐゴシック" pitchFamily="34" charset="-128"/>
              </a:rPr>
              <a:t>), is the fastest continuously oscillating signal that can be sent over the channel.</a:t>
            </a:r>
          </a:p>
          <a:p>
            <a:pPr lvl="2" eaLnBrk="1" hangingPunct="1"/>
            <a:r>
              <a:rPr lang="en-US" altLang="en-US" sz="1600" dirty="0">
                <a:ea typeface="ＭＳ Ｐゴシック" pitchFamily="34" charset="-128"/>
              </a:rPr>
              <a:t>Can also refer to bandwidth as the width of the spectrum available to the signal.</a:t>
            </a:r>
          </a:p>
          <a:p>
            <a:pPr lvl="2" eaLnBrk="1" hangingPunct="1"/>
            <a:r>
              <a:rPr lang="en-US" altLang="en-US" sz="1600" dirty="0">
                <a:ea typeface="ＭＳ Ｐゴシック" pitchFamily="34" charset="-128"/>
              </a:rPr>
              <a:t>A transmitter</a:t>
            </a:r>
            <a:r>
              <a:rPr lang="ja-JP" altLang="en-US" sz="1600" dirty="0">
                <a:ea typeface="ＭＳ Ｐゴシック" pitchFamily="34" charset="-128"/>
              </a:rPr>
              <a:t>’</a:t>
            </a:r>
            <a:r>
              <a:rPr lang="en-US" altLang="ja-JP" sz="1600" dirty="0">
                <a:ea typeface="ＭＳ Ｐゴシック" pitchFamily="34" charset="-128"/>
              </a:rPr>
              <a:t>s maximum signal rate (i.e., baud rate) is limited by the channel bandwidth.</a:t>
            </a:r>
          </a:p>
          <a:p>
            <a:pPr eaLnBrk="1" hangingPunct="1"/>
            <a:r>
              <a:rPr lang="en-US" altLang="en-US" sz="1600" dirty="0">
                <a:ea typeface="ＭＳ Ｐゴシック" pitchFamily="34" charset="-128"/>
              </a:rPr>
              <a:t>Some might equate bandwidth to data rates or throughput</a:t>
            </a:r>
          </a:p>
          <a:p>
            <a:pPr lvl="1" eaLnBrk="1" hangingPunct="1"/>
            <a:r>
              <a:rPr lang="en-US" altLang="en-US" sz="1200" dirty="0">
                <a:ea typeface="ＭＳ Ｐゴシック" pitchFamily="34" charset="-128"/>
              </a:rPr>
              <a:t>Data rate:  the maximum possible rate at which link layer frames can be sent </a:t>
            </a:r>
          </a:p>
          <a:p>
            <a:pPr lvl="1" eaLnBrk="1" hangingPunct="1"/>
            <a:r>
              <a:rPr lang="en-US" altLang="en-US" sz="1200" dirty="0">
                <a:ea typeface="ＭＳ Ｐゴシック" pitchFamily="34" charset="-128"/>
              </a:rPr>
              <a:t>Throughput :  the rate at which application data is 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Data Communications </a:t>
            </a:r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315200" cy="12954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itchFamily="34" charset="-128"/>
              </a:rPr>
              <a:t>To fairly share resources….</a:t>
            </a:r>
          </a:p>
        </p:txBody>
      </p:sp>
      <p:pic>
        <p:nvPicPr>
          <p:cNvPr id="17413" name="Picture 11" descr="f7_1c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3200400"/>
            <a:ext cx="4495800" cy="1789113"/>
          </a:xfrm>
          <a:noFill/>
        </p:spPr>
      </p:pic>
      <p:sp>
        <p:nvSpPr>
          <p:cNvPr id="17412" name="Text Box 8"/>
          <p:cNvSpPr txBox="1">
            <a:spLocks noChangeArrowheads="1"/>
          </p:cNvSpPr>
          <p:nvPr/>
        </p:nvSpPr>
        <p:spPr bwMode="auto">
          <a:xfrm>
            <a:off x="914400" y="5181600"/>
            <a:ext cx="79406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>
                <a:latin typeface="Times New Roman" pitchFamily="18" charset="0"/>
              </a:rPr>
              <a:t>Data is divided into small blocks called packets.  Computers effectively take turn sending packets over a packet switched network.</a:t>
            </a:r>
          </a:p>
          <a:p>
            <a:pPr eaLnBrk="1" hangingPunct="1"/>
            <a:endParaRPr lang="en-US" altLang="en-US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910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391400" cy="9906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itchFamily="34" charset="-128"/>
              </a:rPr>
              <a:t>A packet is referred to as a frame once it </a:t>
            </a:r>
            <a:r>
              <a:rPr lang="ja-JP" altLang="en-US" sz="2400">
                <a:ea typeface="ＭＳ Ｐゴシック" pitchFamily="34" charset="-128"/>
              </a:rPr>
              <a:t>‘</a:t>
            </a:r>
            <a:r>
              <a:rPr lang="en-US" altLang="ja-JP" sz="2400">
                <a:ea typeface="ＭＳ Ｐゴシック" pitchFamily="34" charset="-128"/>
              </a:rPr>
              <a:t>hits</a:t>
            </a:r>
            <a:r>
              <a:rPr lang="ja-JP" altLang="en-US" sz="2400">
                <a:ea typeface="ＭＳ Ｐゴシック" pitchFamily="34" charset="-128"/>
              </a:rPr>
              <a:t>’</a:t>
            </a:r>
            <a:r>
              <a:rPr lang="en-US" altLang="ja-JP" sz="2400">
                <a:ea typeface="ＭＳ Ｐゴシック" pitchFamily="34" charset="-128"/>
              </a:rPr>
              <a:t> the wire. </a:t>
            </a:r>
            <a:endParaRPr lang="en-US" altLang="en-US" sz="2400">
              <a:ea typeface="ＭＳ Ｐゴシック" pitchFamily="34" charset="-128"/>
            </a:endParaRPr>
          </a:p>
        </p:txBody>
      </p:sp>
      <p:pic>
        <p:nvPicPr>
          <p:cNvPr id="18437" name="Picture 8" descr="f9_2c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4038600"/>
            <a:ext cx="3543300" cy="1238250"/>
          </a:xfrm>
          <a:noFill/>
        </p:spPr>
      </p:pic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914400" y="5181600"/>
            <a:ext cx="79406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en-US" sz="2000">
                <a:latin typeface="Times New Roman" pitchFamily="18" charset="0"/>
              </a:rPr>
              <a:t>The time it takes the frame to get from Host A to Host B includes the transmission time as well as the propagation delay.</a:t>
            </a:r>
          </a:p>
          <a:p>
            <a:pPr eaLnBrk="1" hangingPunct="1"/>
            <a:r>
              <a:rPr lang="en-US" altLang="en-US" sz="2000">
                <a:latin typeface="Times New Roman" pitchFamily="18" charset="0"/>
              </a:rPr>
              <a:t>     </a:t>
            </a:r>
          </a:p>
        </p:txBody>
      </p:sp>
      <p:sp>
        <p:nvSpPr>
          <p:cNvPr id="18438" name="Line 13"/>
          <p:cNvSpPr>
            <a:spLocks noChangeShapeType="1"/>
          </p:cNvSpPr>
          <p:nvPr/>
        </p:nvSpPr>
        <p:spPr bwMode="auto">
          <a:xfrm>
            <a:off x="2133600" y="3581400"/>
            <a:ext cx="480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Text Box 14"/>
          <p:cNvSpPr txBox="1">
            <a:spLocks noChangeArrowheads="1"/>
          </p:cNvSpPr>
          <p:nvPr/>
        </p:nvSpPr>
        <p:spPr bwMode="auto">
          <a:xfrm>
            <a:off x="1143000" y="3200400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/>
              <a:t>Host A</a:t>
            </a:r>
          </a:p>
        </p:txBody>
      </p:sp>
      <p:sp>
        <p:nvSpPr>
          <p:cNvPr id="18440" name="Text Box 15"/>
          <p:cNvSpPr txBox="1">
            <a:spLocks noChangeArrowheads="1"/>
          </p:cNvSpPr>
          <p:nvPr/>
        </p:nvSpPr>
        <p:spPr bwMode="auto">
          <a:xfrm>
            <a:off x="7239000" y="3048000"/>
            <a:ext cx="6413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/>
              <a:t>Host B</a:t>
            </a:r>
          </a:p>
        </p:txBody>
      </p:sp>
      <p:sp>
        <p:nvSpPr>
          <p:cNvPr id="18441" name="Line 16"/>
          <p:cNvSpPr>
            <a:spLocks noChangeShapeType="1"/>
          </p:cNvSpPr>
          <p:nvPr/>
        </p:nvSpPr>
        <p:spPr bwMode="auto">
          <a:xfrm>
            <a:off x="2133600" y="3733800"/>
            <a:ext cx="48006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7"/>
          <p:cNvSpPr>
            <a:spLocks noChangeShapeType="1"/>
          </p:cNvSpPr>
          <p:nvPr/>
        </p:nvSpPr>
        <p:spPr bwMode="auto">
          <a:xfrm>
            <a:off x="2133600" y="32004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Text Box 18"/>
          <p:cNvSpPr txBox="1">
            <a:spLocks noChangeArrowheads="1"/>
          </p:cNvSpPr>
          <p:nvPr/>
        </p:nvSpPr>
        <p:spPr bwMode="auto">
          <a:xfrm>
            <a:off x="1676400" y="5029200"/>
            <a:ext cx="5778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400"/>
              <a:t>Time</a:t>
            </a:r>
          </a:p>
        </p:txBody>
      </p:sp>
      <p:sp>
        <p:nvSpPr>
          <p:cNvPr id="18444" name="Text Box 20"/>
          <p:cNvSpPr txBox="1">
            <a:spLocks noChangeArrowheads="1"/>
          </p:cNvSpPr>
          <p:nvPr/>
        </p:nvSpPr>
        <p:spPr bwMode="auto">
          <a:xfrm>
            <a:off x="609600" y="3505200"/>
            <a:ext cx="1385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000"/>
              <a:t>Time first bit</a:t>
            </a:r>
          </a:p>
          <a:p>
            <a:r>
              <a:rPr lang="en-US" altLang="en-US" sz="1000"/>
              <a:t>Of frame hits the wire</a:t>
            </a:r>
          </a:p>
        </p:txBody>
      </p:sp>
      <p:sp>
        <p:nvSpPr>
          <p:cNvPr id="18445" name="Text Box 21"/>
          <p:cNvSpPr txBox="1">
            <a:spLocks noChangeArrowheads="1"/>
          </p:cNvSpPr>
          <p:nvPr/>
        </p:nvSpPr>
        <p:spPr bwMode="auto">
          <a:xfrm>
            <a:off x="685800" y="4114800"/>
            <a:ext cx="1385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000"/>
              <a:t>Time last  bit</a:t>
            </a:r>
          </a:p>
          <a:p>
            <a:r>
              <a:rPr lang="en-US" altLang="en-US" sz="1000"/>
              <a:t>Of frame hits the wire</a:t>
            </a:r>
          </a:p>
        </p:txBody>
      </p:sp>
      <p:sp>
        <p:nvSpPr>
          <p:cNvPr id="18446" name="Line 22"/>
          <p:cNvSpPr>
            <a:spLocks noChangeShapeType="1"/>
          </p:cNvSpPr>
          <p:nvPr/>
        </p:nvSpPr>
        <p:spPr bwMode="auto">
          <a:xfrm>
            <a:off x="1676400" y="3581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Line 23"/>
          <p:cNvSpPr>
            <a:spLocks noChangeShapeType="1"/>
          </p:cNvSpPr>
          <p:nvPr/>
        </p:nvSpPr>
        <p:spPr bwMode="auto">
          <a:xfrm flipV="1">
            <a:off x="1828800" y="3810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8" name="Line 24"/>
          <p:cNvSpPr>
            <a:spLocks noChangeShapeType="1"/>
          </p:cNvSpPr>
          <p:nvPr/>
        </p:nvSpPr>
        <p:spPr bwMode="auto">
          <a:xfrm>
            <a:off x="6934200" y="3200400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9" name="Line 25"/>
          <p:cNvSpPr>
            <a:spLocks noChangeShapeType="1"/>
          </p:cNvSpPr>
          <p:nvPr/>
        </p:nvSpPr>
        <p:spPr bwMode="auto">
          <a:xfrm>
            <a:off x="2133600" y="3581400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0" name="Line 26"/>
          <p:cNvSpPr>
            <a:spLocks noChangeShapeType="1"/>
          </p:cNvSpPr>
          <p:nvPr/>
        </p:nvSpPr>
        <p:spPr bwMode="auto">
          <a:xfrm>
            <a:off x="7010400" y="3581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1" name="Text Box 27"/>
          <p:cNvSpPr txBox="1">
            <a:spLocks noChangeArrowheads="1"/>
          </p:cNvSpPr>
          <p:nvPr/>
        </p:nvSpPr>
        <p:spPr bwMode="auto">
          <a:xfrm>
            <a:off x="7086600" y="3733800"/>
            <a:ext cx="19097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000"/>
              <a:t>Time it takes the first bit</a:t>
            </a:r>
          </a:p>
          <a:p>
            <a:r>
              <a:rPr lang="en-US" altLang="en-US" sz="1000"/>
              <a:t>To propagate over the medium</a:t>
            </a:r>
          </a:p>
          <a:p>
            <a:r>
              <a:rPr lang="en-US" altLang="en-US" sz="1000"/>
              <a:t>Before arriving at Host B</a:t>
            </a:r>
          </a:p>
        </p:txBody>
      </p:sp>
    </p:spTree>
    <p:extLst>
      <p:ext uri="{BB962C8B-B14F-4D97-AF65-F5344CB8AC3E}">
        <p14:creationId xmlns:p14="http://schemas.microsoft.com/office/powerpoint/2010/main" val="239561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pitchFamily="34" charset="-128"/>
              </a:rPr>
              <a:t>Data Communications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2667000"/>
            <a:ext cx="73914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ＭＳ Ｐゴシック" pitchFamily="34" charset="-128"/>
              </a:rPr>
              <a:t>What if a bit gets damaged while it is in flight?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itchFamily="34" charset="-128"/>
              </a:rPr>
              <a:t>Error Detection:  methods such as checksums can detect bit errors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ea typeface="ＭＳ Ｐゴシック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>
                <a:ea typeface="ＭＳ Ｐゴシック" pitchFamily="34" charset="-128"/>
              </a:rPr>
              <a:t>Error Recovery: : methods such as window-based protocols can detect a dropped packet and initiate a retransmission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 dirty="0">
                <a:ea typeface="ＭＳ Ｐゴシック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91806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Ethernet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2667000"/>
            <a:ext cx="7391400" cy="3352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ea typeface="ＭＳ Ｐゴシック" pitchFamily="34" charset="-128"/>
              </a:rPr>
              <a:t>On a shared communication channel (e.g., an Ethernet network)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ea typeface="ＭＳ Ｐゴシック" pitchFamily="34" charset="-128"/>
              </a:rPr>
              <a:t>Enhances network resource utilization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ea typeface="ＭＳ Ｐゴシック" pitchFamily="34" charset="-128"/>
              </a:rPr>
              <a:t>Three main topologies:  star, ring and bus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000">
                <a:ea typeface="ＭＳ Ｐゴシック" pitchFamily="34" charset="-128"/>
              </a:rPr>
              <a:t>What is an Ethernet ?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00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000">
                <a:ea typeface="ＭＳ Ｐゴシック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9810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itchFamily="34" charset="-128"/>
              </a:rPr>
              <a:t>Ethernet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90600" y="2438400"/>
            <a:ext cx="7391400" cy="33528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ea typeface="ＭＳ Ｐゴシック" pitchFamily="34" charset="-128"/>
              </a:rPr>
              <a:t>Ethernet is a bus network in which multiple computers share a single transmission medium.  While one computer transmits a frame, all others must wait.</a:t>
            </a:r>
          </a:p>
          <a:p>
            <a:pPr eaLnBrk="1" hangingPunct="1"/>
            <a:r>
              <a:rPr lang="en-US" altLang="en-US" sz="2400" dirty="0">
                <a:ea typeface="ＭＳ Ｐゴシック" pitchFamily="34" charset="-128"/>
              </a:rPr>
              <a:t>Evolution of Ethernet</a:t>
            </a:r>
          </a:p>
          <a:p>
            <a:pPr lvl="1" eaLnBrk="1" hangingPunct="1"/>
            <a:r>
              <a:rPr lang="en-US" altLang="en-US" sz="2000" dirty="0">
                <a:ea typeface="ＭＳ Ｐゴシック" pitchFamily="34" charset="-128"/>
              </a:rPr>
              <a:t>Original Ethernet was a true shared bus and involved a distributed coordination scheme called carrier sense multiple access with collision detection (CSMA/CD)</a:t>
            </a:r>
          </a:p>
          <a:p>
            <a:pPr lvl="1" eaLnBrk="1" hangingPunct="1"/>
            <a:r>
              <a:rPr lang="en-US" altLang="en-US" sz="2000" dirty="0">
                <a:ea typeface="ＭＳ Ｐゴシック" pitchFamily="34" charset="-128"/>
              </a:rPr>
              <a:t>Switched Ethernet- no longer a shared bus….switches interconnect computers</a:t>
            </a:r>
          </a:p>
          <a:p>
            <a:pPr lvl="1" eaLnBrk="1" hangingPunct="1"/>
            <a:r>
              <a:rPr lang="en-US" altLang="en-US" sz="2000" dirty="0">
                <a:ea typeface="ＭＳ Ｐゴシック" pitchFamily="34" charset="-128"/>
              </a:rPr>
              <a:t>Gigabit Ethernet is standard, high end is 100 </a:t>
            </a:r>
            <a:r>
              <a:rPr lang="en-US" altLang="en-US" sz="2000" dirty="0" err="1">
                <a:ea typeface="ＭＳ Ｐゴシック" pitchFamily="34" charset="-128"/>
              </a:rPr>
              <a:t>Gbps</a:t>
            </a:r>
            <a:r>
              <a:rPr lang="en-US" altLang="en-US" sz="2000" dirty="0">
                <a:ea typeface="ＭＳ Ｐゴシック" pitchFamily="34" charset="-128"/>
              </a:rPr>
              <a:t> </a:t>
            </a:r>
          </a:p>
          <a:p>
            <a:pPr lvl="1" eaLnBrk="1" hangingPunct="1"/>
            <a:endParaRPr lang="en-US" altLang="en-US" sz="2000" dirty="0">
              <a:ea typeface="ＭＳ Ｐゴシック" pitchFamily="34" charset="-128"/>
            </a:endParaRPr>
          </a:p>
          <a:p>
            <a:pPr marL="0" indent="0" eaLnBrk="1" hangingPunct="1">
              <a:buNone/>
            </a:pPr>
            <a:endParaRPr lang="en-US" altLang="en-US" sz="2400" dirty="0">
              <a:ea typeface="ＭＳ Ｐゴシック" pitchFamily="34" charset="-128"/>
            </a:endParaRPr>
          </a:p>
          <a:p>
            <a:pPr eaLnBrk="1" hangingPunct="1"/>
            <a:endParaRPr lang="en-US" altLang="en-US" sz="2400" dirty="0"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dirty="0">
                <a:ea typeface="ＭＳ Ｐゴシック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49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ea typeface="ＭＳ Ｐゴシック" pitchFamily="34" charset="-128"/>
              </a:rPr>
              <a:t>IEEE LAN (802.2/802.3) Frame Format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2667000"/>
            <a:ext cx="7391400" cy="3352800"/>
          </a:xfrm>
        </p:spPr>
        <p:txBody>
          <a:bodyPr/>
          <a:lstStyle/>
          <a:p>
            <a:pPr eaLnBrk="1" hangingPunct="1"/>
            <a:endParaRPr lang="en-US" altLang="en-US" sz="2400">
              <a:ea typeface="ＭＳ Ｐゴシック" pitchFamily="34" charset="-128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>
                <a:ea typeface="ＭＳ Ｐゴシック" pitchFamily="34" charset="-128"/>
              </a:rPr>
              <a:t> </a:t>
            </a:r>
          </a:p>
        </p:txBody>
      </p:sp>
      <p:sp>
        <p:nvSpPr>
          <p:cNvPr id="23556" name="Rectangle 5"/>
          <p:cNvSpPr>
            <a:spLocks noChangeArrowheads="1"/>
          </p:cNvSpPr>
          <p:nvPr/>
        </p:nvSpPr>
        <p:spPr bwMode="auto">
          <a:xfrm>
            <a:off x="1219200" y="3200400"/>
            <a:ext cx="76962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3557" name="Text Box 6"/>
          <p:cNvSpPr txBox="1">
            <a:spLocks noChangeArrowheads="1"/>
          </p:cNvSpPr>
          <p:nvPr/>
        </p:nvSpPr>
        <p:spPr bwMode="auto">
          <a:xfrm>
            <a:off x="838200" y="4267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Preamble</a:t>
            </a:r>
          </a:p>
          <a:p>
            <a:r>
              <a:rPr lang="en-US" altLang="en-US" sz="1200">
                <a:latin typeface="Times New Roman" pitchFamily="18" charset="0"/>
              </a:rPr>
              <a:t>(7)</a:t>
            </a:r>
          </a:p>
        </p:txBody>
      </p:sp>
      <p:sp>
        <p:nvSpPr>
          <p:cNvPr id="23558" name="Text Box 7"/>
          <p:cNvSpPr txBox="1">
            <a:spLocks noChangeArrowheads="1"/>
          </p:cNvSpPr>
          <p:nvPr/>
        </p:nvSpPr>
        <p:spPr bwMode="auto">
          <a:xfrm>
            <a:off x="3124200" y="3505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Length</a:t>
            </a:r>
          </a:p>
          <a:p>
            <a:r>
              <a:rPr lang="en-US" altLang="en-US" sz="1200">
                <a:latin typeface="Times New Roman" pitchFamily="18" charset="0"/>
              </a:rPr>
              <a:t>(2)</a:t>
            </a:r>
          </a:p>
        </p:txBody>
      </p:sp>
      <p:sp>
        <p:nvSpPr>
          <p:cNvPr id="23559" name="Text Box 8"/>
          <p:cNvSpPr txBox="1">
            <a:spLocks noChangeArrowheads="1"/>
          </p:cNvSpPr>
          <p:nvPr/>
        </p:nvSpPr>
        <p:spPr bwMode="auto">
          <a:xfrm>
            <a:off x="3886200" y="3505200"/>
            <a:ext cx="25146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400">
                <a:latin typeface="Times New Roman" pitchFamily="18" charset="0"/>
              </a:rPr>
              <a:t>DSAP   SSAP   cntl   code type</a:t>
            </a:r>
          </a:p>
          <a:p>
            <a:r>
              <a:rPr lang="en-US" altLang="en-US" sz="1400">
                <a:latin typeface="Times New Roman" pitchFamily="18" charset="0"/>
              </a:rPr>
              <a:t>  (1)         (1)       (1)    (3)    (2)  </a:t>
            </a:r>
          </a:p>
        </p:txBody>
      </p:sp>
      <p:sp>
        <p:nvSpPr>
          <p:cNvPr id="23560" name="Text Box 9"/>
          <p:cNvSpPr txBox="1">
            <a:spLocks noChangeArrowheads="1"/>
          </p:cNvSpPr>
          <p:nvPr/>
        </p:nvSpPr>
        <p:spPr bwMode="auto">
          <a:xfrm>
            <a:off x="6781800" y="35814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Data ( 38 -1492)</a:t>
            </a:r>
          </a:p>
        </p:txBody>
      </p:sp>
      <p:sp>
        <p:nvSpPr>
          <p:cNvPr id="23561" name="Text Box 10"/>
          <p:cNvSpPr txBox="1">
            <a:spLocks noChangeArrowheads="1"/>
          </p:cNvSpPr>
          <p:nvPr/>
        </p:nvSpPr>
        <p:spPr bwMode="auto">
          <a:xfrm>
            <a:off x="8382000" y="3429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CRC</a:t>
            </a:r>
          </a:p>
          <a:p>
            <a:r>
              <a:rPr lang="en-US" altLang="en-US" sz="1200">
                <a:latin typeface="Times New Roman" pitchFamily="18" charset="0"/>
              </a:rPr>
              <a:t>(4)</a:t>
            </a:r>
          </a:p>
        </p:txBody>
      </p:sp>
      <p:sp>
        <p:nvSpPr>
          <p:cNvPr id="23562" name="Text Box 11"/>
          <p:cNvSpPr txBox="1">
            <a:spLocks noChangeArrowheads="1"/>
          </p:cNvSpPr>
          <p:nvPr/>
        </p:nvSpPr>
        <p:spPr bwMode="auto">
          <a:xfrm>
            <a:off x="2209800" y="3352800"/>
            <a:ext cx="762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Dest</a:t>
            </a:r>
          </a:p>
          <a:p>
            <a:r>
              <a:rPr lang="en-US" altLang="en-US" sz="1200">
                <a:latin typeface="Times New Roman" pitchFamily="18" charset="0"/>
              </a:rPr>
              <a:t>Address</a:t>
            </a:r>
          </a:p>
          <a:p>
            <a:r>
              <a:rPr lang="en-US" altLang="en-US" sz="1200">
                <a:latin typeface="Times New Roman" pitchFamily="18" charset="0"/>
              </a:rPr>
              <a:t>(6)</a:t>
            </a:r>
          </a:p>
        </p:txBody>
      </p:sp>
      <p:sp>
        <p:nvSpPr>
          <p:cNvPr id="23563" name="Line 12"/>
          <p:cNvSpPr>
            <a:spLocks noChangeShapeType="1"/>
          </p:cNvSpPr>
          <p:nvPr/>
        </p:nvSpPr>
        <p:spPr bwMode="auto">
          <a:xfrm>
            <a:off x="20574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Line 13"/>
          <p:cNvSpPr>
            <a:spLocks noChangeShapeType="1"/>
          </p:cNvSpPr>
          <p:nvPr/>
        </p:nvSpPr>
        <p:spPr bwMode="auto">
          <a:xfrm>
            <a:off x="29718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5" name="Line 14"/>
          <p:cNvSpPr>
            <a:spLocks noChangeShapeType="1"/>
          </p:cNvSpPr>
          <p:nvPr/>
        </p:nvSpPr>
        <p:spPr bwMode="auto">
          <a:xfrm>
            <a:off x="38862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Line 15"/>
          <p:cNvSpPr>
            <a:spLocks noChangeShapeType="1"/>
          </p:cNvSpPr>
          <p:nvPr/>
        </p:nvSpPr>
        <p:spPr bwMode="auto">
          <a:xfrm>
            <a:off x="44958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7" name="Line 16"/>
          <p:cNvSpPr>
            <a:spLocks noChangeShapeType="1"/>
          </p:cNvSpPr>
          <p:nvPr/>
        </p:nvSpPr>
        <p:spPr bwMode="auto">
          <a:xfrm>
            <a:off x="50292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Line 17"/>
          <p:cNvSpPr>
            <a:spLocks noChangeShapeType="1"/>
          </p:cNvSpPr>
          <p:nvPr/>
        </p:nvSpPr>
        <p:spPr bwMode="auto">
          <a:xfrm>
            <a:off x="54864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18"/>
          <p:cNvSpPr>
            <a:spLocks noChangeShapeType="1"/>
          </p:cNvSpPr>
          <p:nvPr/>
        </p:nvSpPr>
        <p:spPr bwMode="auto">
          <a:xfrm>
            <a:off x="58674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9"/>
          <p:cNvSpPr>
            <a:spLocks noChangeShapeType="1"/>
          </p:cNvSpPr>
          <p:nvPr/>
        </p:nvSpPr>
        <p:spPr bwMode="auto">
          <a:xfrm>
            <a:off x="83058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20"/>
          <p:cNvSpPr>
            <a:spLocks noChangeShapeType="1"/>
          </p:cNvSpPr>
          <p:nvPr/>
        </p:nvSpPr>
        <p:spPr bwMode="auto">
          <a:xfrm>
            <a:off x="6324600" y="32004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21"/>
          <p:cNvSpPr>
            <a:spLocks noChangeShapeType="1"/>
          </p:cNvSpPr>
          <p:nvPr/>
        </p:nvSpPr>
        <p:spPr bwMode="auto">
          <a:xfrm flipV="1">
            <a:off x="7162800" y="4191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Text Box 22"/>
          <p:cNvSpPr txBox="1">
            <a:spLocks noChangeArrowheads="1"/>
          </p:cNvSpPr>
          <p:nvPr/>
        </p:nvSpPr>
        <p:spPr bwMode="auto">
          <a:xfrm>
            <a:off x="6934200" y="5791200"/>
            <a:ext cx="2127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800">
                <a:latin typeface="Times New Roman" pitchFamily="18" charset="0"/>
              </a:rPr>
              <a:t>Data:  IP, ARP, SNA</a:t>
            </a:r>
          </a:p>
        </p:txBody>
      </p:sp>
      <p:sp>
        <p:nvSpPr>
          <p:cNvPr id="23574" name="Line 23"/>
          <p:cNvSpPr>
            <a:spLocks noChangeShapeType="1"/>
          </p:cNvSpPr>
          <p:nvPr/>
        </p:nvSpPr>
        <p:spPr bwMode="auto">
          <a:xfrm flipV="1">
            <a:off x="3886200" y="4191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4"/>
          <p:cNvSpPr>
            <a:spLocks noChangeShapeType="1"/>
          </p:cNvSpPr>
          <p:nvPr/>
        </p:nvSpPr>
        <p:spPr bwMode="auto">
          <a:xfrm flipV="1">
            <a:off x="6324600" y="4191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Rectangle 25"/>
          <p:cNvSpPr>
            <a:spLocks noChangeArrowheads="1"/>
          </p:cNvSpPr>
          <p:nvPr/>
        </p:nvSpPr>
        <p:spPr bwMode="auto">
          <a:xfrm>
            <a:off x="914400" y="3200400"/>
            <a:ext cx="3048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23577" name="Text Box 26"/>
          <p:cNvSpPr txBox="1">
            <a:spLocks noChangeArrowheads="1"/>
          </p:cNvSpPr>
          <p:nvPr/>
        </p:nvSpPr>
        <p:spPr bwMode="auto">
          <a:xfrm>
            <a:off x="1447800" y="3505200"/>
            <a:ext cx="762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Source</a:t>
            </a:r>
          </a:p>
          <a:p>
            <a:r>
              <a:rPr lang="en-US" altLang="en-US" sz="1200">
                <a:latin typeface="Times New Roman" pitchFamily="18" charset="0"/>
              </a:rPr>
              <a:t>Address</a:t>
            </a:r>
          </a:p>
          <a:p>
            <a:r>
              <a:rPr lang="en-US" altLang="en-US" sz="1200">
                <a:latin typeface="Times New Roman" pitchFamily="18" charset="0"/>
              </a:rPr>
              <a:t> (6)</a:t>
            </a:r>
          </a:p>
        </p:txBody>
      </p:sp>
      <p:sp>
        <p:nvSpPr>
          <p:cNvPr id="23578" name="Line 27"/>
          <p:cNvSpPr>
            <a:spLocks noChangeShapeType="1"/>
          </p:cNvSpPr>
          <p:nvPr/>
        </p:nvSpPr>
        <p:spPr bwMode="auto">
          <a:xfrm flipV="1">
            <a:off x="1066800" y="3810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Text Box 28"/>
          <p:cNvSpPr txBox="1">
            <a:spLocks noChangeArrowheads="1"/>
          </p:cNvSpPr>
          <p:nvPr/>
        </p:nvSpPr>
        <p:spPr bwMode="auto">
          <a:xfrm>
            <a:off x="1905000" y="5029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MAC header</a:t>
            </a:r>
          </a:p>
        </p:txBody>
      </p:sp>
      <p:sp>
        <p:nvSpPr>
          <p:cNvPr id="23580" name="Text Box 29"/>
          <p:cNvSpPr txBox="1">
            <a:spLocks noChangeArrowheads="1"/>
          </p:cNvSpPr>
          <p:nvPr/>
        </p:nvSpPr>
        <p:spPr bwMode="auto">
          <a:xfrm>
            <a:off x="4648200" y="5105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r>
              <a:rPr lang="en-US" altLang="en-US" sz="1200">
                <a:latin typeface="Times New Roman" pitchFamily="18" charset="0"/>
              </a:rPr>
              <a:t>802.2 header</a:t>
            </a:r>
          </a:p>
        </p:txBody>
      </p:sp>
    </p:spTree>
    <p:extLst>
      <p:ext uri="{BB962C8B-B14F-4D97-AF65-F5344CB8AC3E}">
        <p14:creationId xmlns:p14="http://schemas.microsoft.com/office/powerpoint/2010/main" val="3746154063"/>
      </p:ext>
    </p:extLst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1821</TotalTime>
  <Words>903</Words>
  <Application>Microsoft Office PowerPoint</Application>
  <PresentationFormat>On-screen Show (4:3)</PresentationFormat>
  <Paragraphs>135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ＭＳ Ｐゴシック</vt:lpstr>
      <vt:lpstr>Arial</vt:lpstr>
      <vt:lpstr>Times New Roman</vt:lpstr>
      <vt:lpstr>Wingdings</vt:lpstr>
      <vt:lpstr>Capsules</vt:lpstr>
      <vt:lpstr>Data Communications</vt:lpstr>
      <vt:lpstr>Transmission Media</vt:lpstr>
      <vt:lpstr>Choosing a Medium</vt:lpstr>
      <vt:lpstr>Data Communications</vt:lpstr>
      <vt:lpstr>Data Communications</vt:lpstr>
      <vt:lpstr>Data Communications</vt:lpstr>
      <vt:lpstr>Multiplexing</vt:lpstr>
      <vt:lpstr>Multiplexing</vt:lpstr>
      <vt:lpstr>Bandwidth</vt:lpstr>
      <vt:lpstr>Data Communications </vt:lpstr>
      <vt:lpstr>Data Communications</vt:lpstr>
      <vt:lpstr>Data Communications</vt:lpstr>
      <vt:lpstr>Ethernet </vt:lpstr>
      <vt:lpstr>Ethernet </vt:lpstr>
      <vt:lpstr>IEEE LAN (802.2/802.3) Frame Format</vt:lpstr>
    </vt:vector>
  </TitlesOfParts>
  <Company>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Communications 101</dc:title>
  <dc:creator>jmarty</dc:creator>
  <cp:lastModifiedBy>Pandapotan siagian</cp:lastModifiedBy>
  <cp:revision>20</cp:revision>
  <dcterms:created xsi:type="dcterms:W3CDTF">2004-01-16T02:41:55Z</dcterms:created>
  <dcterms:modified xsi:type="dcterms:W3CDTF">2024-01-23T06:40:52Z</dcterms:modified>
</cp:coreProperties>
</file>