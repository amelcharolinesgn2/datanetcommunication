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4"/>
  </p:notesMasterIdLst>
  <p:sldIdLst>
    <p:sldId id="339" r:id="rId2"/>
    <p:sldId id="340" r:id="rId3"/>
    <p:sldId id="341" r:id="rId4"/>
    <p:sldId id="342" r:id="rId5"/>
    <p:sldId id="343" r:id="rId6"/>
    <p:sldId id="344" r:id="rId7"/>
    <p:sldId id="345" r:id="rId8"/>
    <p:sldId id="346" r:id="rId9"/>
    <p:sldId id="347" r:id="rId10"/>
    <p:sldId id="348" r:id="rId11"/>
    <p:sldId id="349" r:id="rId12"/>
    <p:sldId id="35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nuel Fradinho" initials="MF"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0FF"/>
    <a:srgbClr val="00B2A5"/>
    <a:srgbClr val="00FDFF"/>
    <a:srgbClr val="00D9C7"/>
    <a:srgbClr val="73FDD6"/>
    <a:srgbClr val="A92C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88" autoAdjust="0"/>
    <p:restoredTop sz="79922" autoAdjust="0"/>
  </p:normalViewPr>
  <p:slideViewPr>
    <p:cSldViewPr snapToGrid="0">
      <p:cViewPr>
        <p:scale>
          <a:sx n="59" d="100"/>
          <a:sy n="59" d="100"/>
        </p:scale>
        <p:origin x="3072" y="81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AA3E45-57A9-44A4-8D02-ECC452318D6C}" type="datetimeFigureOut">
              <a:rPr lang="en-US" smtClean="0"/>
              <a:t>2/20/2025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B232A1-099D-4B50-B749-7C373A0D848E}" type="slidenum">
              <a:rPr lang="en-US" smtClean="0"/>
              <a:t>‹#›</a:t>
            </a:fld>
            <a:endParaRPr lang="en-US"/>
          </a:p>
        </p:txBody>
      </p:sp>
    </p:spTree>
    <p:extLst>
      <p:ext uri="{BB962C8B-B14F-4D97-AF65-F5344CB8AC3E}">
        <p14:creationId xmlns:p14="http://schemas.microsoft.com/office/powerpoint/2010/main" val="2638543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d-ID" dirty="0"/>
          </a:p>
        </p:txBody>
      </p:sp>
      <p:sp>
        <p:nvSpPr>
          <p:cNvPr id="4" name="Slide Number Placeholder 3"/>
          <p:cNvSpPr>
            <a:spLocks noGrp="1"/>
          </p:cNvSpPr>
          <p:nvPr>
            <p:ph type="sldNum" sz="quarter" idx="10"/>
          </p:nvPr>
        </p:nvSpPr>
        <p:spPr/>
        <p:txBody>
          <a:bodyPr/>
          <a:lstStyle/>
          <a:p>
            <a:fld id="{496558FD-6897-4778-9BE6-B0F68D24D650}" type="slidenum">
              <a:rPr lang="id-ID" smtClean="0"/>
              <a:pPr/>
              <a:t>5</a:t>
            </a:fld>
            <a:endParaRPr lang="id-ID"/>
          </a:p>
        </p:txBody>
      </p:sp>
    </p:spTree>
    <p:extLst>
      <p:ext uri="{BB962C8B-B14F-4D97-AF65-F5344CB8AC3E}">
        <p14:creationId xmlns:p14="http://schemas.microsoft.com/office/powerpoint/2010/main" val="3686846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167355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580645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28CD25-4015-481E-94C9-A931395C8E35}" type="datetimeFigureOut">
              <a:rPr lang="en-US" smtClean="0"/>
              <a:t>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255502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F28CD25-4015-481E-94C9-A931395C8E35}" type="datetimeFigureOut">
              <a:rPr lang="en-US" smtClean="0"/>
              <a:t>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525557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F28CD25-4015-481E-94C9-A931395C8E35}" type="datetimeFigureOut">
              <a:rPr lang="en-US" smtClean="0"/>
              <a:t>2/20/2025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482625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F28CD25-4015-481E-94C9-A931395C8E35}" type="datetimeFigureOut">
              <a:rPr lang="en-US" smtClean="0"/>
              <a:t>2/20/2025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635559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28CD25-4015-481E-94C9-A931395C8E35}" type="datetimeFigureOut">
              <a:rPr lang="en-US" smtClean="0"/>
              <a:t>2/20/2025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980506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28CD25-4015-481E-94C9-A931395C8E35}" type="datetimeFigureOut">
              <a:rPr lang="en-US" smtClean="0"/>
              <a:t>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479311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28CD25-4015-481E-94C9-A931395C8E35}" type="datetimeFigureOut">
              <a:rPr lang="en-US" smtClean="0"/>
              <a:t>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466610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810339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908497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28CD25-4015-481E-94C9-A931395C8E35}" type="datetimeFigureOut">
              <a:rPr lang="en-US" smtClean="0"/>
              <a:t>2/20/2025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F35205-7406-4E96-85E9-F173CE5CBA86}" type="slidenum">
              <a:rPr lang="en-US" smtClean="0"/>
              <a:t>‹#›</a:t>
            </a:fld>
            <a:endParaRPr lang="en-US"/>
          </a:p>
        </p:txBody>
      </p:sp>
    </p:spTree>
    <p:extLst>
      <p:ext uri="{BB962C8B-B14F-4D97-AF65-F5344CB8AC3E}">
        <p14:creationId xmlns:p14="http://schemas.microsoft.com/office/powerpoint/2010/main" val="338311710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p:cNvPicPr>
            <a:picLocks noGrp="1" noChangeAspect="1"/>
          </p:cNvPicPr>
          <p:nvPr>
            <p:ph idx="1"/>
          </p:nvPr>
        </p:nvPicPr>
        <p:blipFill>
          <a:blip r:embed="rId2"/>
          <a:stretch>
            <a:fillRect/>
          </a:stretch>
        </p:blipFill>
        <p:spPr>
          <a:xfrm>
            <a:off x="46290" y="549166"/>
            <a:ext cx="1980634" cy="1262343"/>
          </a:xfrm>
          <a:prstGeom prst="rect">
            <a:avLst/>
          </a:prstGeom>
        </p:spPr>
      </p:pic>
      <p:sp>
        <p:nvSpPr>
          <p:cNvPr id="15" name="Rectangle 14"/>
          <p:cNvSpPr/>
          <p:nvPr/>
        </p:nvSpPr>
        <p:spPr>
          <a:xfrm>
            <a:off x="9202455" y="6066229"/>
            <a:ext cx="2811352" cy="420756"/>
          </a:xfrm>
          <a:prstGeom prst="rect">
            <a:avLst/>
          </a:prstGeom>
        </p:spPr>
        <p:txBody>
          <a:bodyPr wrap="square">
            <a:spAutoFit/>
          </a:bodyPr>
          <a:lstStyle/>
          <a:p>
            <a:r>
              <a:rPr lang="en-US" sz="1067" dirty="0"/>
              <a:t>https://www.youtube.com/@AmelOline/videos</a:t>
            </a:r>
          </a:p>
        </p:txBody>
      </p:sp>
      <p:sp>
        <p:nvSpPr>
          <p:cNvPr id="16" name="Rectangle 15"/>
          <p:cNvSpPr/>
          <p:nvPr/>
        </p:nvSpPr>
        <p:spPr>
          <a:xfrm>
            <a:off x="10158153" y="5809684"/>
            <a:ext cx="1782399" cy="256545"/>
          </a:xfrm>
          <a:prstGeom prst="rect">
            <a:avLst/>
          </a:prstGeom>
        </p:spPr>
        <p:txBody>
          <a:bodyPr wrap="square">
            <a:spAutoFit/>
          </a:bodyPr>
          <a:lstStyle/>
          <a:p>
            <a:r>
              <a:rPr lang="en-US" sz="1067" dirty="0"/>
              <a:t>https://github.com/siagianp</a:t>
            </a:r>
          </a:p>
        </p:txBody>
      </p:sp>
      <p:sp>
        <p:nvSpPr>
          <p:cNvPr id="17" name="Rectangle 16"/>
          <p:cNvSpPr/>
          <p:nvPr/>
        </p:nvSpPr>
        <p:spPr>
          <a:xfrm>
            <a:off x="8085399" y="6276607"/>
            <a:ext cx="4023019" cy="256545"/>
          </a:xfrm>
          <a:prstGeom prst="rect">
            <a:avLst/>
          </a:prstGeom>
        </p:spPr>
        <p:txBody>
          <a:bodyPr wrap="square">
            <a:spAutoFit/>
          </a:bodyPr>
          <a:lstStyle/>
          <a:p>
            <a:r>
              <a:rPr lang="en-US" sz="1067" dirty="0"/>
              <a:t>https://github.com/amelcharolinesgn2/IoT_simulator-mqtt-NodeRed</a:t>
            </a:r>
          </a:p>
        </p:txBody>
      </p:sp>
      <p:pic>
        <p:nvPicPr>
          <p:cNvPr id="30" name="Picture 29"/>
          <p:cNvPicPr>
            <a:picLocks noChangeAspect="1"/>
          </p:cNvPicPr>
          <p:nvPr/>
        </p:nvPicPr>
        <p:blipFill rotWithShape="1">
          <a:blip r:embed="rId3"/>
          <a:srcRect l="8646" t="12924" r="16013" b="9596"/>
          <a:stretch/>
        </p:blipFill>
        <p:spPr>
          <a:xfrm>
            <a:off x="348892" y="2278144"/>
            <a:ext cx="1209868" cy="1244217"/>
          </a:xfrm>
          <a:prstGeom prst="rect">
            <a:avLst/>
          </a:prstGeom>
          <a:ln>
            <a:noFill/>
          </a:ln>
          <a:effectLst>
            <a:softEdge rad="112500"/>
          </a:effectLst>
        </p:spPr>
      </p:pic>
      <p:pic>
        <p:nvPicPr>
          <p:cNvPr id="31" name="Picture 30"/>
          <p:cNvPicPr>
            <a:picLocks noChangeAspect="1"/>
          </p:cNvPicPr>
          <p:nvPr/>
        </p:nvPicPr>
        <p:blipFill rotWithShape="1">
          <a:blip r:embed="rId4"/>
          <a:srcRect t="31519" b="32047"/>
          <a:stretch/>
        </p:blipFill>
        <p:spPr>
          <a:xfrm>
            <a:off x="478321" y="2904448"/>
            <a:ext cx="1018759" cy="323944"/>
          </a:xfrm>
          <a:prstGeom prst="rect">
            <a:avLst/>
          </a:prstGeom>
          <a:ln>
            <a:noFill/>
          </a:ln>
          <a:effectLst>
            <a:softEdge rad="112500"/>
          </a:effectLst>
        </p:spPr>
      </p:pic>
      <p:pic>
        <p:nvPicPr>
          <p:cNvPr id="6" name="Picture 5"/>
          <p:cNvPicPr>
            <a:picLocks noChangeAspect="1"/>
          </p:cNvPicPr>
          <p:nvPr/>
        </p:nvPicPr>
        <p:blipFill>
          <a:blip r:embed="rId5"/>
          <a:stretch>
            <a:fillRect/>
          </a:stretch>
        </p:blipFill>
        <p:spPr>
          <a:xfrm>
            <a:off x="306070" y="1596944"/>
            <a:ext cx="1896069" cy="213322"/>
          </a:xfrm>
          <a:prstGeom prst="rect">
            <a:avLst/>
          </a:prstGeom>
        </p:spPr>
      </p:pic>
      <p:grpSp>
        <p:nvGrpSpPr>
          <p:cNvPr id="8" name="Group 7">
            <a:extLst>
              <a:ext uri="{FF2B5EF4-FFF2-40B4-BE49-F238E27FC236}">
                <a16:creationId xmlns:a16="http://schemas.microsoft.com/office/drawing/2014/main" id="{2AABCB87-2ECC-4C03-B5BB-6EE11C8A4485}"/>
              </a:ext>
            </a:extLst>
          </p:cNvPr>
          <p:cNvGrpSpPr/>
          <p:nvPr/>
        </p:nvGrpSpPr>
        <p:grpSpPr>
          <a:xfrm>
            <a:off x="477502" y="1251268"/>
            <a:ext cx="976966" cy="369285"/>
            <a:chOff x="4853562" y="1589418"/>
            <a:chExt cx="2609520" cy="1291565"/>
          </a:xfrm>
        </p:grpSpPr>
        <p:sp>
          <p:nvSpPr>
            <p:cNvPr id="13" name="Freeform 12">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a:solidFill>
                  <a:schemeClr val="tx1"/>
                </a:solidFill>
              </a:endParaRPr>
            </a:p>
          </p:txBody>
        </p:sp>
        <p:sp>
          <p:nvSpPr>
            <p:cNvPr id="14" name="Freeform 13">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dirty="0">
                <a:solidFill>
                  <a:schemeClr val="tx1"/>
                </a:solidFill>
              </a:endParaRPr>
            </a:p>
          </p:txBody>
        </p:sp>
      </p:grpSp>
      <p:grpSp>
        <p:nvGrpSpPr>
          <p:cNvPr id="9" name="Group 8">
            <a:extLst>
              <a:ext uri="{FF2B5EF4-FFF2-40B4-BE49-F238E27FC236}">
                <a16:creationId xmlns:a16="http://schemas.microsoft.com/office/drawing/2014/main" id="{AB8BC7BC-BF58-402E-9A69-AA9226DE7CAA}"/>
              </a:ext>
            </a:extLst>
          </p:cNvPr>
          <p:cNvGrpSpPr/>
          <p:nvPr/>
        </p:nvGrpSpPr>
        <p:grpSpPr>
          <a:xfrm>
            <a:off x="431212" y="1225859"/>
            <a:ext cx="336493" cy="171515"/>
            <a:chOff x="7439031" y="1585639"/>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grpSp>
      <p:sp>
        <p:nvSpPr>
          <p:cNvPr id="10" name="Subtitle 2">
            <a:extLst>
              <a:ext uri="{FF2B5EF4-FFF2-40B4-BE49-F238E27FC236}">
                <a16:creationId xmlns:a16="http://schemas.microsoft.com/office/drawing/2014/main" id="{53858C97-DA2F-8866-47CC-CDF4077BBF9D}"/>
              </a:ext>
            </a:extLst>
          </p:cNvPr>
          <p:cNvSpPr txBox="1">
            <a:spLocks/>
          </p:cNvSpPr>
          <p:nvPr/>
        </p:nvSpPr>
        <p:spPr>
          <a:xfrm>
            <a:off x="469976" y="1256395"/>
            <a:ext cx="365801" cy="125217"/>
          </a:xfrm>
          <a:prstGeom prst="rect">
            <a:avLst/>
          </a:prstGeom>
        </p:spPr>
        <p:txBody>
          <a:bodyPr vert="horz" lIns="81280" tIns="40640" rIns="81280" bIns="4064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22" dirty="0">
                <a:solidFill>
                  <a:srgbClr val="7030A0"/>
                </a:solidFill>
              </a:rPr>
              <a:t>PDS</a:t>
            </a:r>
          </a:p>
        </p:txBody>
      </p:sp>
      <p:pic>
        <p:nvPicPr>
          <p:cNvPr id="18" name="Picture 17"/>
          <p:cNvPicPr>
            <a:picLocks noChangeAspect="1"/>
          </p:cNvPicPr>
          <p:nvPr/>
        </p:nvPicPr>
        <p:blipFill>
          <a:blip r:embed="rId6"/>
          <a:stretch>
            <a:fillRect/>
          </a:stretch>
        </p:blipFill>
        <p:spPr>
          <a:xfrm>
            <a:off x="1489692" y="1368919"/>
            <a:ext cx="195549" cy="278741"/>
          </a:xfrm>
          <a:prstGeom prst="rect">
            <a:avLst/>
          </a:prstGeom>
        </p:spPr>
      </p:pic>
      <p:pic>
        <p:nvPicPr>
          <p:cNvPr id="19" name="Picture 18"/>
          <p:cNvPicPr>
            <a:picLocks noChangeAspect="1"/>
          </p:cNvPicPr>
          <p:nvPr/>
        </p:nvPicPr>
        <p:blipFill>
          <a:blip r:embed="rId7"/>
          <a:stretch>
            <a:fillRect/>
          </a:stretch>
        </p:blipFill>
        <p:spPr>
          <a:xfrm>
            <a:off x="928964" y="1347118"/>
            <a:ext cx="268890" cy="255445"/>
          </a:xfrm>
          <a:prstGeom prst="rect">
            <a:avLst/>
          </a:prstGeom>
        </p:spPr>
      </p:pic>
      <p:pic>
        <p:nvPicPr>
          <p:cNvPr id="20" name="Picture 19"/>
          <p:cNvPicPr>
            <a:picLocks noChangeAspect="1"/>
          </p:cNvPicPr>
          <p:nvPr/>
        </p:nvPicPr>
        <p:blipFill>
          <a:blip r:embed="rId8"/>
          <a:stretch>
            <a:fillRect/>
          </a:stretch>
        </p:blipFill>
        <p:spPr>
          <a:xfrm>
            <a:off x="668583" y="1380076"/>
            <a:ext cx="262872" cy="253181"/>
          </a:xfrm>
          <a:prstGeom prst="rect">
            <a:avLst/>
          </a:prstGeom>
        </p:spPr>
      </p:pic>
      <p:sp>
        <p:nvSpPr>
          <p:cNvPr id="7" name="Title 4">
            <a:extLst>
              <a:ext uri="{FF2B5EF4-FFF2-40B4-BE49-F238E27FC236}">
                <a16:creationId xmlns:a16="http://schemas.microsoft.com/office/drawing/2014/main" id="{27228BAE-048B-681E-DD8D-BD96B22560E0}"/>
              </a:ext>
            </a:extLst>
          </p:cNvPr>
          <p:cNvSpPr txBox="1">
            <a:spLocks/>
          </p:cNvSpPr>
          <p:nvPr/>
        </p:nvSpPr>
        <p:spPr>
          <a:xfrm>
            <a:off x="258279" y="1456524"/>
            <a:ext cx="1837447" cy="261117"/>
          </a:xfrm>
          <a:prstGeom prst="rect">
            <a:avLst/>
          </a:prstGeom>
        </p:spPr>
        <p:txBody>
          <a:bodyPr vert="horz" lIns="81280" tIns="40640" rIns="81280" bIns="40640" rtlCol="0" anchor="b">
            <a:normAutofit fontScale="8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1867" dirty="0">
                <a:solidFill>
                  <a:schemeClr val="accent1">
                    <a:lumMod val="75000"/>
                  </a:schemeClr>
                </a:solidFill>
              </a:rPr>
              <a:t>Computer </a:t>
            </a:r>
            <a:r>
              <a:rPr lang="en-US" sz="1867" dirty="0">
                <a:solidFill>
                  <a:srgbClr val="00B0F0"/>
                </a:solidFill>
              </a:rPr>
              <a:t>Vision</a:t>
            </a:r>
          </a:p>
        </p:txBody>
      </p:sp>
      <p:sp>
        <p:nvSpPr>
          <p:cNvPr id="28" name="Title 1"/>
          <p:cNvSpPr txBox="1">
            <a:spLocks/>
          </p:cNvSpPr>
          <p:nvPr/>
        </p:nvSpPr>
        <p:spPr>
          <a:xfrm>
            <a:off x="-849474" y="3326448"/>
            <a:ext cx="3825765" cy="4512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133" b="1" dirty="0">
                <a:solidFill>
                  <a:schemeClr val="bg1">
                    <a:lumMod val="75000"/>
                  </a:schemeClr>
                </a:solidFill>
              </a:rPr>
              <a:t>@ P. </a:t>
            </a:r>
            <a:r>
              <a:rPr lang="en-US" sz="2133" b="1" dirty="0" err="1">
                <a:solidFill>
                  <a:schemeClr val="bg1">
                    <a:lumMod val="75000"/>
                  </a:schemeClr>
                </a:solidFill>
              </a:rPr>
              <a:t>Siagian</a:t>
            </a:r>
            <a:endParaRPr lang="en-US" sz="2133" b="1" dirty="0">
              <a:solidFill>
                <a:schemeClr val="bg1">
                  <a:lumMod val="75000"/>
                </a:schemeClr>
              </a:solidFill>
            </a:endParaRPr>
          </a:p>
        </p:txBody>
      </p:sp>
      <p:sp>
        <p:nvSpPr>
          <p:cNvPr id="23" name="Title 1"/>
          <p:cNvSpPr txBox="1">
            <a:spLocks/>
          </p:cNvSpPr>
          <p:nvPr/>
        </p:nvSpPr>
        <p:spPr>
          <a:xfrm>
            <a:off x="2331567" y="2132736"/>
            <a:ext cx="9347200" cy="771712"/>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b="1" dirty="0" smtClean="0"/>
          </a:p>
        </p:txBody>
      </p:sp>
      <p:sp>
        <p:nvSpPr>
          <p:cNvPr id="3" name="Rectangle 2"/>
          <p:cNvSpPr/>
          <p:nvPr/>
        </p:nvSpPr>
        <p:spPr>
          <a:xfrm>
            <a:off x="3526972" y="2046951"/>
            <a:ext cx="7681580" cy="646331"/>
          </a:xfrm>
          <a:prstGeom prst="rect">
            <a:avLst/>
          </a:prstGeom>
        </p:spPr>
        <p:txBody>
          <a:bodyPr wrap="square">
            <a:spAutoFit/>
          </a:bodyPr>
          <a:lstStyle/>
          <a:p>
            <a:r>
              <a:rPr lang="en-US" sz="3600" dirty="0">
                <a:solidFill>
                  <a:srgbClr val="0070C0"/>
                </a:solidFill>
              </a:rPr>
              <a:t>Mobile Network</a:t>
            </a:r>
            <a:r>
              <a:rPr lang="id-ID" sz="3600" dirty="0">
                <a:solidFill>
                  <a:srgbClr val="0070C0"/>
                </a:solidFill>
              </a:rPr>
              <a:t> </a:t>
            </a:r>
            <a:r>
              <a:rPr lang="en-US" sz="3600" dirty="0">
                <a:solidFill>
                  <a:srgbClr val="0070C0"/>
                </a:solidFill>
              </a:rPr>
              <a:t>: Generation </a:t>
            </a:r>
            <a:r>
              <a:rPr lang="id-ID" sz="3600" dirty="0">
                <a:solidFill>
                  <a:srgbClr val="0070C0"/>
                </a:solidFill>
              </a:rPr>
              <a:t>1G</a:t>
            </a:r>
            <a:r>
              <a:rPr lang="en-US" sz="3600" dirty="0">
                <a:solidFill>
                  <a:srgbClr val="0070C0"/>
                </a:solidFill>
              </a:rPr>
              <a:t>-</a:t>
            </a:r>
            <a:r>
              <a:rPr lang="id-ID" sz="3600" dirty="0">
                <a:solidFill>
                  <a:srgbClr val="0070C0"/>
                </a:solidFill>
              </a:rPr>
              <a:t>5G</a:t>
            </a:r>
            <a:endParaRPr lang="en-US" sz="1000" b="1" dirty="0">
              <a:solidFill>
                <a:srgbClr val="0070C0"/>
              </a:solidFill>
            </a:endParaRPr>
          </a:p>
        </p:txBody>
      </p:sp>
      <p:sp>
        <p:nvSpPr>
          <p:cNvPr id="5" name="Rectangle 4"/>
          <p:cNvSpPr/>
          <p:nvPr/>
        </p:nvSpPr>
        <p:spPr>
          <a:xfrm>
            <a:off x="8085399" y="6425847"/>
            <a:ext cx="3388876" cy="338554"/>
          </a:xfrm>
          <a:prstGeom prst="rect">
            <a:avLst/>
          </a:prstGeom>
        </p:spPr>
        <p:txBody>
          <a:bodyPr wrap="none">
            <a:spAutoFit/>
          </a:bodyPr>
          <a:lstStyle/>
          <a:p>
            <a:r>
              <a:rPr lang="en-US" sz="1600" dirty="0"/>
              <a:t>github.com/amelcharolinesgn2/ANJAR</a:t>
            </a:r>
          </a:p>
        </p:txBody>
      </p:sp>
    </p:spTree>
    <p:extLst>
      <p:ext uri="{BB962C8B-B14F-4D97-AF65-F5344CB8AC3E}">
        <p14:creationId xmlns:p14="http://schemas.microsoft.com/office/powerpoint/2010/main" val="30168323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886" y="1500174"/>
            <a:ext cx="10940143" cy="3300426"/>
          </a:xfrm>
        </p:spPr>
        <p:txBody>
          <a:bodyPr>
            <a:normAutofit/>
          </a:bodyPr>
          <a:lstStyle/>
          <a:p>
            <a:r>
              <a:rPr lang="id-ID" sz="2400" dirty="0"/>
              <a:t>Jaringan 1G pertamakali ditemukan di tahun 1980 ketika AMPS di Amerika bekerjasama dengan TACS dan NMT di Eropa membuat terobosan di teknologi jaringan. Yang harus anda ketahui adalah bahwa ini adalah standar baru dari teknologi jaringan.zaman dimana campur tangan manusia sudah tidak terlalu dibutuhkan semuanya benar benar sudah otomatis dan dengan bentuk yang kecil tentunya. karena ini adalah ponsel generasi pertama mereka membuat nya sangat serius mereka membuat ponsel yang kuat dan handal yang akhirnya tersebar ke seluruh dunia.</a:t>
            </a:r>
            <a:br>
              <a:rPr lang="id-ID" sz="2400" dirty="0"/>
            </a:br>
            <a:endParaRPr lang="id-ID" sz="2400" dirty="0"/>
          </a:p>
        </p:txBody>
      </p:sp>
      <p:sp>
        <p:nvSpPr>
          <p:cNvPr id="3" name="Text Placeholder 2"/>
          <p:cNvSpPr>
            <a:spLocks noGrp="1"/>
          </p:cNvSpPr>
          <p:nvPr>
            <p:ph type="body" idx="1"/>
          </p:nvPr>
        </p:nvSpPr>
        <p:spPr>
          <a:xfrm>
            <a:off x="2166910" y="357166"/>
            <a:ext cx="7772400" cy="928694"/>
          </a:xfrm>
        </p:spPr>
        <p:txBody>
          <a:bodyPr>
            <a:noAutofit/>
          </a:bodyPr>
          <a:lstStyle/>
          <a:p>
            <a:pPr algn="ctr"/>
            <a:r>
              <a:rPr lang="id-ID" sz="6000" dirty="0"/>
              <a:t>Generasi 1G</a:t>
            </a:r>
            <a:endParaRPr lang="id-ID" sz="6000" dirty="0"/>
          </a:p>
        </p:txBody>
      </p:sp>
    </p:spTree>
    <p:extLst>
      <p:ext uri="{BB962C8B-B14F-4D97-AF65-F5344CB8AC3E}">
        <p14:creationId xmlns:p14="http://schemas.microsoft.com/office/powerpoint/2010/main" val="2094633912"/>
      </p:ext>
    </p:extLst>
  </p:cSld>
  <p:clrMapOvr>
    <a:masterClrMapping/>
  </p:clrMapOvr>
  <p:transition>
    <p:zoom dir="in"/>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a:t>
            </a:r>
            <a:r>
              <a:rPr lang="id-ID" dirty="0" smtClean="0"/>
              <a:t>eknologi </a:t>
            </a:r>
            <a:r>
              <a:rPr lang="id-ID" dirty="0" smtClean="0"/>
              <a:t>1G </a:t>
            </a:r>
            <a:r>
              <a:rPr lang="id-ID" dirty="0" smtClean="0"/>
              <a:t>:</a:t>
            </a:r>
            <a:endParaRPr lang="id-ID" dirty="0"/>
          </a:p>
        </p:txBody>
      </p:sp>
      <p:sp>
        <p:nvSpPr>
          <p:cNvPr id="3" name="Content Placeholder 2"/>
          <p:cNvSpPr>
            <a:spLocks noGrp="1"/>
          </p:cNvSpPr>
          <p:nvPr>
            <p:ph idx="1"/>
          </p:nvPr>
        </p:nvSpPr>
        <p:spPr/>
        <p:txBody>
          <a:bodyPr>
            <a:normAutofit lnSpcReduction="10000"/>
          </a:bodyPr>
          <a:lstStyle/>
          <a:p>
            <a:pPr>
              <a:buNone/>
            </a:pPr>
            <a:endParaRPr lang="id-ID" dirty="0"/>
          </a:p>
          <a:p>
            <a:pPr lvl="0"/>
            <a:r>
              <a:rPr lang="id-ID" dirty="0"/>
              <a:t>AMPS (Advanced Mobile Phone Service) atau IS-136</a:t>
            </a:r>
          </a:p>
          <a:p>
            <a:pPr lvl="0"/>
            <a:r>
              <a:rPr lang="id-ID" dirty="0"/>
              <a:t>NMT ( Nordic Mobile Telephony)</a:t>
            </a:r>
          </a:p>
          <a:p>
            <a:pPr lvl="0"/>
            <a:r>
              <a:rPr lang="id-ID" dirty="0"/>
              <a:t>HICAP</a:t>
            </a:r>
          </a:p>
          <a:p>
            <a:pPr lvl="0"/>
            <a:r>
              <a:rPr lang="id-ID" dirty="0"/>
              <a:t>TACS</a:t>
            </a:r>
          </a:p>
          <a:p>
            <a:pPr lvl="0"/>
            <a:r>
              <a:rPr lang="id-ID" dirty="0"/>
              <a:t>C 450</a:t>
            </a:r>
          </a:p>
          <a:p>
            <a:pPr lvl="0"/>
            <a:r>
              <a:rPr lang="id-ID" dirty="0"/>
              <a:t>C-Netz</a:t>
            </a:r>
          </a:p>
          <a:p>
            <a:pPr lvl="0"/>
            <a:r>
              <a:rPr lang="id-ID" dirty="0"/>
              <a:t>Mobitex</a:t>
            </a:r>
          </a:p>
          <a:p>
            <a:pPr lvl="0"/>
            <a:r>
              <a:rPr lang="id-ID" dirty="0"/>
              <a:t>DataTAC</a:t>
            </a:r>
          </a:p>
          <a:p>
            <a:endParaRPr lang="id-ID" dirty="0"/>
          </a:p>
        </p:txBody>
      </p:sp>
    </p:spTree>
    <p:extLst>
      <p:ext uri="{BB962C8B-B14F-4D97-AF65-F5344CB8AC3E}">
        <p14:creationId xmlns:p14="http://schemas.microsoft.com/office/powerpoint/2010/main" val="2046544719"/>
      </p:ext>
    </p:extLst>
  </p:cSld>
  <p:clrMapOvr>
    <a:masterClrMapping/>
  </p:clrMapOvr>
  <p:transition>
    <p:wheel spokes="1"/>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lgn="ctr"/>
            <a:r>
              <a:rPr lang="id-ID" b="1" dirty="0" smtClean="0"/>
              <a:t>Generasi 2G</a:t>
            </a:r>
            <a:r>
              <a:rPr lang="id-ID" dirty="0" smtClean="0"/>
              <a:t/>
            </a:r>
            <a:br>
              <a:rPr lang="id-ID" dirty="0" smtClean="0"/>
            </a:br>
            <a:endParaRPr lang="id-ID" dirty="0"/>
          </a:p>
        </p:txBody>
      </p:sp>
      <p:sp>
        <p:nvSpPr>
          <p:cNvPr id="3" name="Content Placeholder 2"/>
          <p:cNvSpPr>
            <a:spLocks noGrp="1"/>
          </p:cNvSpPr>
          <p:nvPr>
            <p:ph idx="1"/>
          </p:nvPr>
        </p:nvSpPr>
        <p:spPr>
          <a:xfrm>
            <a:off x="440871" y="1428736"/>
            <a:ext cx="9769929" cy="5429264"/>
          </a:xfrm>
        </p:spPr>
        <p:txBody>
          <a:bodyPr>
            <a:normAutofit/>
          </a:bodyPr>
          <a:lstStyle/>
          <a:p>
            <a:pPr lvl="1">
              <a:buNone/>
            </a:pPr>
            <a:r>
              <a:rPr lang="id-ID" dirty="0" smtClean="0"/>
              <a:t>Generasi kedua memiliki memiliki fitur CSD sehingga transfer data lebih cepat. sekitar 14.4KBPS. Anda juga dapat mengirimkan pesan teksakan tetapi Fitur CSD ini akan menghabiskan biaya yang besar karena jika anda ingin terhubung ke internet anda harus menggunakan dial-up yang dihitung permenit.</a:t>
            </a:r>
          </a:p>
          <a:p>
            <a:pPr lvl="1">
              <a:buNone/>
            </a:pPr>
            <a:r>
              <a:rPr lang="id-ID" dirty="0" smtClean="0"/>
              <a:t>Yang termasuk teknologi 2G yakni:</a:t>
            </a:r>
          </a:p>
          <a:p>
            <a:pPr lvl="1"/>
            <a:r>
              <a:rPr lang="id-ID" b="1" dirty="0" smtClean="0"/>
              <a:t>Time Division Multiple Access (TDMA) </a:t>
            </a:r>
            <a:endParaRPr lang="id-ID" dirty="0" smtClean="0"/>
          </a:p>
          <a:p>
            <a:pPr lvl="1"/>
            <a:r>
              <a:rPr lang="id-ID" b="1" dirty="0" smtClean="0"/>
              <a:t>Personal Digital Cellular (PDC)</a:t>
            </a:r>
          </a:p>
          <a:p>
            <a:pPr lvl="1">
              <a:buFont typeface="Arial" pitchFamily="34" charset="0"/>
              <a:buChar char="•"/>
            </a:pPr>
            <a:r>
              <a:rPr lang="id-ID" b="1" dirty="0" smtClean="0"/>
              <a:t>Iden</a:t>
            </a:r>
            <a:endParaRPr lang="id-ID" dirty="0" smtClean="0"/>
          </a:p>
          <a:p>
            <a:pPr lvl="1"/>
            <a:r>
              <a:rPr lang="id-ID" b="1" dirty="0" smtClean="0"/>
              <a:t> Digital European Cordless Telephone (DECT)</a:t>
            </a:r>
          </a:p>
          <a:p>
            <a:pPr lvl="1"/>
            <a:r>
              <a:rPr lang="id-ID" b="1" dirty="0" smtClean="0"/>
              <a:t>Personal Handphone Service (PHPS)</a:t>
            </a:r>
            <a:endParaRPr lang="id-ID" dirty="0" smtClean="0"/>
          </a:p>
          <a:p>
            <a:pPr lvl="1"/>
            <a:r>
              <a:rPr lang="id-ID" b="1" dirty="0" smtClean="0"/>
              <a:t>IS-95 CDMA (CDMAone)</a:t>
            </a:r>
            <a:endParaRPr lang="id-ID" dirty="0" smtClean="0"/>
          </a:p>
          <a:p>
            <a:pPr lvl="1"/>
            <a:r>
              <a:rPr lang="id-ID" b="1" dirty="0" smtClean="0"/>
              <a:t>Global System for Mobile (GSM)</a:t>
            </a:r>
            <a:endParaRPr lang="id-ID" dirty="0" smtClean="0"/>
          </a:p>
          <a:p>
            <a:pPr lvl="1">
              <a:buNone/>
            </a:pPr>
            <a:endParaRPr lang="id-ID" dirty="0" smtClean="0"/>
          </a:p>
          <a:p>
            <a:pPr lvl="1">
              <a:buNone/>
            </a:pPr>
            <a:endParaRPr lang="id-ID" dirty="0" smtClean="0"/>
          </a:p>
          <a:p>
            <a:pPr lvl="1">
              <a:buNone/>
            </a:pPr>
            <a:endParaRPr lang="id-ID" dirty="0"/>
          </a:p>
        </p:txBody>
      </p:sp>
    </p:spTree>
    <p:extLst>
      <p:ext uri="{BB962C8B-B14F-4D97-AF65-F5344CB8AC3E}">
        <p14:creationId xmlns:p14="http://schemas.microsoft.com/office/powerpoint/2010/main" val="254139211"/>
      </p:ext>
    </p:extLst>
  </p:cSld>
  <p:clrMapOvr>
    <a:masterClrMapping/>
  </p:clrMapOvr>
  <p:transition>
    <p:split orient="vert" dir="in"/>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d-ID" b="1" dirty="0" smtClean="0"/>
              <a:t>Kemampuan teknologi 2G :</a:t>
            </a:r>
            <a:r>
              <a:rPr lang="id-ID" dirty="0" smtClean="0"/>
              <a:t/>
            </a:r>
            <a:br>
              <a:rPr lang="id-ID" dirty="0" smtClean="0"/>
            </a:br>
            <a:endParaRPr lang="id-ID" dirty="0"/>
          </a:p>
        </p:txBody>
      </p:sp>
      <p:sp>
        <p:nvSpPr>
          <p:cNvPr id="3" name="Content Placeholder 2"/>
          <p:cNvSpPr>
            <a:spLocks noGrp="1"/>
          </p:cNvSpPr>
          <p:nvPr>
            <p:ph idx="1"/>
          </p:nvPr>
        </p:nvSpPr>
        <p:spPr/>
        <p:txBody>
          <a:bodyPr>
            <a:normAutofit fontScale="92500" lnSpcReduction="20000"/>
          </a:bodyPr>
          <a:lstStyle/>
          <a:p>
            <a:r>
              <a:rPr lang="id-ID" sz="3100" dirty="0"/>
              <a:t>Generasi kedua selain digunakan untuk komunikasi suara, juga bisa untuk SMS (Short Message Service adalah layanan dua arah untuk mengirim pesan pendek sebanyak 160 karakter), voice mail, call waiting, dan transfer data dengan kecepatan maksimal 9.600 bps (bit per second). Suara yang dihasilkan menjadi lebih jernih, karena berbasis digital, maka sebelum dikirim sinyal suara analog diubah menjadi sinyal digital.</a:t>
            </a:r>
          </a:p>
          <a:p>
            <a:pPr>
              <a:buNone/>
            </a:pPr>
            <a:endParaRPr lang="id-ID" sz="3100" dirty="0"/>
          </a:p>
          <a:p>
            <a:r>
              <a:rPr lang="id-ID" sz="3100" b="1" dirty="0"/>
              <a:t>Kelemahan teknologi 2 G:</a:t>
            </a:r>
            <a:endParaRPr lang="id-ID" sz="3100" dirty="0"/>
          </a:p>
          <a:p>
            <a:pPr>
              <a:buNone/>
            </a:pPr>
            <a:r>
              <a:rPr lang="id-ID" sz="3100" dirty="0"/>
              <a:t>  	Kecepatan transfer data masih rendah. Tidak efisien untuk trafik rendah.Jangkauan jaringan masih terbatas dan sangat tergantung oleh adanya BTS (cell Tower).</a:t>
            </a:r>
          </a:p>
          <a:p>
            <a:endParaRPr lang="id-ID" dirty="0" smtClean="0"/>
          </a:p>
        </p:txBody>
      </p:sp>
    </p:spTree>
    <p:extLst>
      <p:ext uri="{BB962C8B-B14F-4D97-AF65-F5344CB8AC3E}">
        <p14:creationId xmlns:p14="http://schemas.microsoft.com/office/powerpoint/2010/main" val="1006647421"/>
      </p:ext>
    </p:extLst>
  </p:cSld>
  <p:clrMapOvr>
    <a:masterClrMapping/>
  </p:clrMapOvr>
  <p:transition>
    <p:newsflash/>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id-ID" dirty="0" smtClean="0"/>
              <a:t>Generasi 3G</a:t>
            </a:r>
            <a:endParaRPr lang="id-ID" dirty="0"/>
          </a:p>
        </p:txBody>
      </p:sp>
      <p:sp>
        <p:nvSpPr>
          <p:cNvPr id="3" name="Content Placeholder 2"/>
          <p:cNvSpPr>
            <a:spLocks noGrp="1"/>
          </p:cNvSpPr>
          <p:nvPr>
            <p:ph idx="1"/>
          </p:nvPr>
        </p:nvSpPr>
        <p:spPr>
          <a:xfrm>
            <a:off x="391886" y="1384753"/>
            <a:ext cx="11609614" cy="4351338"/>
          </a:xfrm>
        </p:spPr>
        <p:txBody>
          <a:bodyPr>
            <a:noAutofit/>
          </a:bodyPr>
          <a:lstStyle/>
          <a:p>
            <a:pPr>
              <a:buNone/>
            </a:pPr>
            <a:r>
              <a:rPr lang="id-ID" sz="2000" dirty="0" smtClean="0"/>
              <a:t>Jaman sekarang ini kebutuhan manusia akan teknologi sangatlah besar. Dalam hitungan tahun perkembangan tenologi pun akan terus maju dan berkembang. teknologi saat ini bahkan berdampak pada kehidupan sosial manusia. Mengapa ???? Karna kebutuhan manusaia akan informasi semakin besar. </a:t>
            </a:r>
          </a:p>
          <a:p>
            <a:pPr>
              <a:buNone/>
            </a:pPr>
            <a:r>
              <a:rPr lang="id-ID" sz="2000" dirty="0" smtClean="0"/>
              <a:t>Tapi taukan kalian sebelum jaman 4G seperti sekarang ini teknologi terus mengalami perkembangan dalam kurng waktu yang sangat panjang, lalu apa arti G ????</a:t>
            </a:r>
          </a:p>
          <a:p>
            <a:pPr>
              <a:buNone/>
            </a:pPr>
            <a:r>
              <a:rPr lang="id-ID" sz="2000" dirty="0" smtClean="0"/>
              <a:t>G adalah singkatan atau kepanjangan dari generation alias generasi, sedangkan angka di depannya merupakan tingkatanya.</a:t>
            </a:r>
          </a:p>
          <a:p>
            <a:pPr>
              <a:buNone/>
            </a:pPr>
            <a:r>
              <a:rPr lang="id-ID" sz="2000" dirty="0" smtClean="0"/>
              <a:t>Angka yang lebih tinggi sebelum  G  berarti memiliki kemampuan  dan fitur lebih banyak untuk mengirim dan menerima informasi lebih lanjut lagi yaitu untuk mencapai evisiensi  yang lebih tinggi melalui jaringan nirkabel (wireles) </a:t>
            </a:r>
          </a:p>
          <a:p>
            <a:pPr>
              <a:buNone/>
            </a:pPr>
            <a:endParaRPr lang="id-ID" sz="2000" dirty="0" smtClean="0"/>
          </a:p>
          <a:p>
            <a:pPr>
              <a:buNone/>
            </a:pPr>
            <a:r>
              <a:rPr lang="id-ID" sz="2000" dirty="0" smtClean="0"/>
              <a:t>Apa itu 3G </a:t>
            </a:r>
          </a:p>
          <a:p>
            <a:pPr>
              <a:buNone/>
            </a:pPr>
            <a:r>
              <a:rPr lang="id-ID" sz="2000" dirty="0" smtClean="0"/>
              <a:t>3G adalah singkata atau kepanjangan dari Trind Generatio Tecnologi sering di sebut dengan Mobile Broadband, merupakan sebuah standard  yang di tetapkan oleh International Telecomuniction Union (ITU) yaitu generasi ketiga dari  teknologi jaringan  telekomunikasi yang di apdosi dari IMT-2000 untuk di aplikasikan pada jaringan telepon seluler.</a:t>
            </a:r>
            <a:endParaRPr lang="id-ID" sz="2000" dirty="0"/>
          </a:p>
        </p:txBody>
      </p:sp>
    </p:spTree>
    <p:extLst>
      <p:ext uri="{BB962C8B-B14F-4D97-AF65-F5344CB8AC3E}">
        <p14:creationId xmlns:p14="http://schemas.microsoft.com/office/powerpoint/2010/main" val="3936467886"/>
      </p:ext>
    </p:extLst>
  </p:cSld>
  <p:clrMapOvr>
    <a:masterClrMapping/>
  </p:clrMapOvr>
  <p:transition>
    <p:comb/>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9472" y="375893"/>
            <a:ext cx="11103428" cy="6069832"/>
          </a:xfrm>
        </p:spPr>
        <p:txBody>
          <a:bodyPr>
            <a:noAutofit/>
          </a:bodyPr>
          <a:lstStyle/>
          <a:p>
            <a:pPr algn="just">
              <a:lnSpc>
                <a:spcPct val="115000"/>
              </a:lnSpc>
              <a:spcAft>
                <a:spcPts val="1000"/>
              </a:spcAft>
              <a:buNone/>
            </a:pPr>
            <a:r>
              <a:rPr lang="id-ID" sz="2400" dirty="0">
                <a:latin typeface="Times New Roman"/>
                <a:ea typeface="Times New Roman"/>
                <a:cs typeface="Times New Roman"/>
              </a:rPr>
              <a:t>International Telecommunication Union mendefinisikan 3G sebagai teknologi yang dapat bekerja sebagai berikut:</a:t>
            </a:r>
            <a:endParaRPr lang="id-ID" sz="2400" dirty="0">
              <a:latin typeface="Calibri"/>
              <a:ea typeface="Calibri"/>
              <a:cs typeface="Times New Roman"/>
            </a:endParaRPr>
          </a:p>
          <a:p>
            <a:pPr marL="342900" algn="just">
              <a:lnSpc>
                <a:spcPct val="115000"/>
              </a:lnSpc>
              <a:spcAft>
                <a:spcPts val="1000"/>
              </a:spcAft>
              <a:buFont typeface="+mj-lt"/>
              <a:buAutoNum type="arabicPeriod"/>
              <a:tabLst>
                <a:tab pos="457200" algn="l"/>
              </a:tabLst>
            </a:pPr>
            <a:r>
              <a:rPr lang="id-ID" sz="2400" dirty="0">
                <a:latin typeface="Times New Roman"/>
                <a:ea typeface="Times New Roman"/>
                <a:cs typeface="Times New Roman"/>
              </a:rPr>
              <a:t>Mempunyai kecepatan transfer data sebesar 144 kbps pada kecepatan user 100 km/jam.</a:t>
            </a:r>
            <a:endParaRPr lang="id-ID" sz="2400" dirty="0">
              <a:latin typeface="Calibri"/>
              <a:ea typeface="Calibri"/>
              <a:cs typeface="Times New Roman"/>
            </a:endParaRPr>
          </a:p>
          <a:p>
            <a:pPr marL="342900" algn="just">
              <a:lnSpc>
                <a:spcPct val="115000"/>
              </a:lnSpc>
              <a:spcAft>
                <a:spcPts val="1000"/>
              </a:spcAft>
              <a:buFont typeface="+mj-lt"/>
              <a:buAutoNum type="arabicPeriod"/>
              <a:tabLst>
                <a:tab pos="457200" algn="l"/>
              </a:tabLst>
            </a:pPr>
            <a:r>
              <a:rPr lang="id-ID" sz="2400" dirty="0">
                <a:latin typeface="Times New Roman"/>
                <a:ea typeface="Times New Roman"/>
                <a:cs typeface="Times New Roman"/>
              </a:rPr>
              <a:t>Mempunyai kecepatan transfer data sebesar 384 kbps pada kecepatan berjalan kaki.</a:t>
            </a:r>
            <a:endParaRPr lang="id-ID" sz="2400" dirty="0">
              <a:latin typeface="Calibri"/>
              <a:ea typeface="Calibri"/>
              <a:cs typeface="Times New Roman"/>
            </a:endParaRPr>
          </a:p>
          <a:p>
            <a:pPr marL="342900" algn="just">
              <a:lnSpc>
                <a:spcPct val="115000"/>
              </a:lnSpc>
              <a:spcAft>
                <a:spcPts val="1000"/>
              </a:spcAft>
              <a:buFont typeface="+mj-lt"/>
              <a:buAutoNum type="arabicPeriod"/>
              <a:tabLst>
                <a:tab pos="457200" algn="l"/>
              </a:tabLst>
            </a:pPr>
            <a:r>
              <a:rPr lang="id-ID" sz="2400" dirty="0">
                <a:latin typeface="Times New Roman"/>
                <a:ea typeface="Times New Roman"/>
                <a:cs typeface="Times New Roman"/>
              </a:rPr>
              <a:t>Mempunyai kecepatan transfer data sebesar 2 Mbps pada user diam (stasioner)</a:t>
            </a:r>
            <a:endParaRPr lang="id-ID" sz="2400" dirty="0">
              <a:latin typeface="Calibri"/>
              <a:ea typeface="Calibri"/>
              <a:cs typeface="Times New Roman"/>
            </a:endParaRPr>
          </a:p>
          <a:p>
            <a:pPr>
              <a:buNone/>
            </a:pPr>
            <a:endParaRPr lang="id-ID" sz="2400" dirty="0"/>
          </a:p>
        </p:txBody>
      </p:sp>
    </p:spTree>
    <p:extLst>
      <p:ext uri="{BB962C8B-B14F-4D97-AF65-F5344CB8AC3E}">
        <p14:creationId xmlns:p14="http://schemas.microsoft.com/office/powerpoint/2010/main" val="1513873192"/>
      </p:ext>
    </p:extLst>
  </p:cSld>
  <p:clrMapOvr>
    <a:masterClrMapping/>
  </p:clrMapOvr>
  <p:transition>
    <p:split orient="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0871" y="357166"/>
            <a:ext cx="11751129" cy="6500834"/>
          </a:xfrm>
        </p:spPr>
        <p:txBody>
          <a:bodyPr>
            <a:normAutofit fontScale="25000" lnSpcReduction="20000"/>
          </a:bodyPr>
          <a:lstStyle/>
          <a:p>
            <a:pPr algn="just">
              <a:lnSpc>
                <a:spcPct val="115000"/>
              </a:lnSpc>
              <a:spcAft>
                <a:spcPts val="1000"/>
              </a:spcAft>
              <a:buNone/>
            </a:pPr>
            <a:r>
              <a:rPr lang="id-ID" sz="8000" dirty="0">
                <a:latin typeface="Times New Roman" pitchFamily="18" charset="0"/>
                <a:ea typeface="Times New Roman"/>
                <a:cs typeface="Times New Roman" pitchFamily="18" charset="0"/>
              </a:rPr>
              <a:t>Dari persyaratan diatas terhitung ada 5 teknologi untuk 3G, yakni:</a:t>
            </a:r>
            <a:endParaRPr lang="id-ID" sz="8000" dirty="0">
              <a:latin typeface="Times New Roman" pitchFamily="18" charset="0"/>
              <a:ea typeface="Calibri"/>
              <a:cs typeface="Times New Roman" pitchFamily="18" charset="0"/>
            </a:endParaRPr>
          </a:p>
          <a:p>
            <a:pPr marL="342900" algn="just">
              <a:lnSpc>
                <a:spcPct val="115000"/>
              </a:lnSpc>
              <a:spcAft>
                <a:spcPts val="1000"/>
              </a:spcAft>
              <a:buSzPts val="1000"/>
              <a:buFont typeface="Symbol"/>
              <a:buChar char=""/>
              <a:tabLst>
                <a:tab pos="457200" algn="l"/>
              </a:tabLst>
            </a:pPr>
            <a:r>
              <a:rPr lang="id-ID" sz="8000" dirty="0">
                <a:latin typeface="Times New Roman" pitchFamily="18" charset="0"/>
                <a:ea typeface="Times New Roman"/>
                <a:cs typeface="Times New Roman" pitchFamily="18" charset="0"/>
              </a:rPr>
              <a:t>WCDMA</a:t>
            </a:r>
            <a:endParaRPr lang="id-ID" sz="8000" dirty="0">
              <a:latin typeface="Times New Roman" pitchFamily="18" charset="0"/>
              <a:ea typeface="Calibri"/>
              <a:cs typeface="Times New Roman" pitchFamily="18" charset="0"/>
            </a:endParaRPr>
          </a:p>
          <a:p>
            <a:pPr marL="342900" algn="just">
              <a:lnSpc>
                <a:spcPct val="115000"/>
              </a:lnSpc>
              <a:spcAft>
                <a:spcPts val="1000"/>
              </a:spcAft>
              <a:buSzPts val="1000"/>
              <a:buFont typeface="Symbol"/>
              <a:buChar char=""/>
              <a:tabLst>
                <a:tab pos="457200" algn="l"/>
              </a:tabLst>
            </a:pPr>
            <a:r>
              <a:rPr lang="id-ID" sz="8000" dirty="0">
                <a:latin typeface="Times New Roman" pitchFamily="18" charset="0"/>
                <a:ea typeface="Times New Roman"/>
                <a:cs typeface="Times New Roman" pitchFamily="18" charset="0"/>
              </a:rPr>
              <a:t>CDMA2000</a:t>
            </a:r>
            <a:endParaRPr lang="id-ID" sz="8000" dirty="0">
              <a:latin typeface="Times New Roman" pitchFamily="18" charset="0"/>
              <a:ea typeface="Calibri"/>
              <a:cs typeface="Times New Roman" pitchFamily="18" charset="0"/>
            </a:endParaRPr>
          </a:p>
          <a:p>
            <a:pPr marL="342900" algn="just">
              <a:lnSpc>
                <a:spcPct val="115000"/>
              </a:lnSpc>
              <a:spcAft>
                <a:spcPts val="1000"/>
              </a:spcAft>
              <a:buSzPts val="1000"/>
              <a:buFont typeface="Symbol"/>
              <a:buChar char=""/>
              <a:tabLst>
                <a:tab pos="457200" algn="l"/>
              </a:tabLst>
            </a:pPr>
            <a:r>
              <a:rPr lang="id-ID" sz="8000" dirty="0">
                <a:latin typeface="Times New Roman" pitchFamily="18" charset="0"/>
                <a:ea typeface="Times New Roman"/>
                <a:cs typeface="Times New Roman" pitchFamily="18" charset="0"/>
              </a:rPr>
              <a:t>TD-SCDMA</a:t>
            </a:r>
            <a:endParaRPr lang="id-ID" sz="8000" dirty="0">
              <a:latin typeface="Times New Roman" pitchFamily="18" charset="0"/>
              <a:ea typeface="Calibri"/>
              <a:cs typeface="Times New Roman" pitchFamily="18" charset="0"/>
            </a:endParaRPr>
          </a:p>
          <a:p>
            <a:pPr marL="342900" algn="just">
              <a:lnSpc>
                <a:spcPct val="115000"/>
              </a:lnSpc>
              <a:spcAft>
                <a:spcPts val="1000"/>
              </a:spcAft>
              <a:buSzPts val="1000"/>
              <a:buFont typeface="Symbol"/>
              <a:buChar char=""/>
              <a:tabLst>
                <a:tab pos="457200" algn="l"/>
              </a:tabLst>
            </a:pPr>
            <a:r>
              <a:rPr lang="id-ID" sz="8000" dirty="0">
                <a:latin typeface="Times New Roman" pitchFamily="18" charset="0"/>
                <a:ea typeface="Times New Roman"/>
                <a:cs typeface="Times New Roman" pitchFamily="18" charset="0"/>
              </a:rPr>
              <a:t>UWC-138</a:t>
            </a:r>
            <a:endParaRPr lang="id-ID" sz="8000" dirty="0">
              <a:latin typeface="Times New Roman" pitchFamily="18" charset="0"/>
              <a:ea typeface="Calibri"/>
              <a:cs typeface="Times New Roman" pitchFamily="18" charset="0"/>
            </a:endParaRPr>
          </a:p>
          <a:p>
            <a:pPr marL="342900" algn="just">
              <a:lnSpc>
                <a:spcPct val="115000"/>
              </a:lnSpc>
              <a:spcAft>
                <a:spcPts val="1000"/>
              </a:spcAft>
              <a:buSzPts val="1000"/>
              <a:buNone/>
              <a:tabLst>
                <a:tab pos="457200" algn="l"/>
              </a:tabLst>
            </a:pPr>
            <a:endParaRPr lang="id-ID" sz="8000" dirty="0">
              <a:latin typeface="Times New Roman" pitchFamily="18" charset="0"/>
              <a:ea typeface="Times New Roman"/>
              <a:cs typeface="Times New Roman" pitchFamily="18" charset="0"/>
            </a:endParaRPr>
          </a:p>
          <a:p>
            <a:pPr marL="0" indent="0">
              <a:buNone/>
            </a:pPr>
            <a:r>
              <a:rPr lang="id-ID" sz="8000" dirty="0">
                <a:latin typeface="Times New Roman" pitchFamily="18" charset="0"/>
                <a:cs typeface="Times New Roman" pitchFamily="18" charset="0"/>
              </a:rPr>
              <a:t>Teknologi 3G diperkenalkan pada awalnya adalah untuk tujuan sebagai berikut:</a:t>
            </a:r>
          </a:p>
          <a:p>
            <a:pPr lvl="0"/>
            <a:r>
              <a:rPr lang="id-ID" sz="8000" dirty="0">
                <a:latin typeface="Times New Roman" pitchFamily="18" charset="0"/>
                <a:cs typeface="Times New Roman" pitchFamily="18" charset="0"/>
              </a:rPr>
              <a:t>Menambah efisiensi dan kapasitas jaringan</a:t>
            </a:r>
          </a:p>
          <a:p>
            <a:pPr lvl="0"/>
            <a:r>
              <a:rPr lang="id-ID" sz="8000" dirty="0">
                <a:latin typeface="Times New Roman" pitchFamily="18" charset="0"/>
                <a:cs typeface="Times New Roman" pitchFamily="18" charset="0"/>
              </a:rPr>
              <a:t>Menambah kemampuan jelajah (roaming)</a:t>
            </a:r>
          </a:p>
          <a:p>
            <a:pPr lvl="0"/>
            <a:r>
              <a:rPr lang="id-ID" sz="8000" dirty="0">
                <a:latin typeface="Times New Roman" pitchFamily="18" charset="0"/>
                <a:cs typeface="Times New Roman" pitchFamily="18" charset="0"/>
              </a:rPr>
              <a:t>Untuk mencapai kecepatan transfer data yang lebih tinggi</a:t>
            </a:r>
          </a:p>
          <a:p>
            <a:pPr lvl="0"/>
            <a:r>
              <a:rPr lang="id-ID" sz="8000" dirty="0">
                <a:latin typeface="Times New Roman" pitchFamily="18" charset="0"/>
                <a:cs typeface="Times New Roman" pitchFamily="18" charset="0"/>
              </a:rPr>
              <a:t>Peningkatan kualitas layanan (Quality of Service – QOS)</a:t>
            </a:r>
          </a:p>
          <a:p>
            <a:pPr lvl="0"/>
            <a:r>
              <a:rPr lang="id-ID" sz="8000" dirty="0">
                <a:latin typeface="Times New Roman" pitchFamily="18" charset="0"/>
                <a:cs typeface="Times New Roman" pitchFamily="18" charset="0"/>
              </a:rPr>
              <a:t>Mendukung kebutuhan internet bergerak (mobile internet)</a:t>
            </a:r>
          </a:p>
          <a:p>
            <a:r>
              <a:rPr lang="id-ID" sz="8000" dirty="0">
                <a:latin typeface="Times New Roman" pitchFamily="18" charset="0"/>
                <a:cs typeface="Times New Roman" pitchFamily="18" charset="0"/>
              </a:rPr>
              <a:t>Frekuensi yang digunakan oleh teknologi 3G, yaitu :</a:t>
            </a:r>
          </a:p>
          <a:p>
            <a:pPr lvl="0"/>
            <a:r>
              <a:rPr lang="id-ID" sz="8000" dirty="0">
                <a:latin typeface="Times New Roman" pitchFamily="18" charset="0"/>
                <a:cs typeface="Times New Roman" pitchFamily="18" charset="0"/>
              </a:rPr>
              <a:t>Frekuensi penerimaan (downlink) 1920-1980 MHz.</a:t>
            </a:r>
          </a:p>
          <a:p>
            <a:pPr lvl="0"/>
            <a:r>
              <a:rPr lang="id-ID" sz="8000" dirty="0">
                <a:latin typeface="Times New Roman" pitchFamily="18" charset="0"/>
                <a:cs typeface="Times New Roman" pitchFamily="18" charset="0"/>
              </a:rPr>
              <a:t>Frekuensi pengiriman (uplink) 2110-2170 MHz.</a:t>
            </a:r>
          </a:p>
          <a:p>
            <a:pPr marL="342900" algn="just">
              <a:lnSpc>
                <a:spcPct val="115000"/>
              </a:lnSpc>
              <a:spcAft>
                <a:spcPts val="1000"/>
              </a:spcAft>
              <a:buSzPts val="1000"/>
              <a:buNone/>
              <a:tabLst>
                <a:tab pos="457200" algn="l"/>
              </a:tabLst>
            </a:pPr>
            <a:endParaRPr lang="id-ID" sz="3200" dirty="0">
              <a:latin typeface="Calibri"/>
              <a:ea typeface="Calibri"/>
              <a:cs typeface="Times New Roman"/>
            </a:endParaRPr>
          </a:p>
          <a:p>
            <a:endParaRPr lang="id-ID" dirty="0"/>
          </a:p>
        </p:txBody>
      </p:sp>
    </p:spTree>
    <p:extLst>
      <p:ext uri="{BB962C8B-B14F-4D97-AF65-F5344CB8AC3E}">
        <p14:creationId xmlns:p14="http://schemas.microsoft.com/office/powerpoint/2010/main" val="25086055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lgn="ctr"/>
            <a:r>
              <a:rPr lang="id-ID" b="1" dirty="0" smtClean="0"/>
              <a:t>Generasi 4G</a:t>
            </a:r>
            <a:r>
              <a:rPr lang="id-ID" dirty="0" smtClean="0"/>
              <a:t/>
            </a:r>
            <a:br>
              <a:rPr lang="id-ID" dirty="0" smtClean="0"/>
            </a:br>
            <a:endParaRPr lang="id-ID" dirty="0"/>
          </a:p>
        </p:txBody>
      </p:sp>
      <p:sp>
        <p:nvSpPr>
          <p:cNvPr id="3" name="Content Placeholder 2"/>
          <p:cNvSpPr>
            <a:spLocks noGrp="1"/>
          </p:cNvSpPr>
          <p:nvPr>
            <p:ph idx="1"/>
          </p:nvPr>
        </p:nvSpPr>
        <p:spPr>
          <a:xfrm>
            <a:off x="639535" y="1417411"/>
            <a:ext cx="10912929" cy="4351338"/>
          </a:xfrm>
        </p:spPr>
        <p:txBody>
          <a:bodyPr>
            <a:normAutofit fontScale="92500" lnSpcReduction="20000"/>
          </a:bodyPr>
          <a:lstStyle/>
          <a:p>
            <a:pPr>
              <a:buNone/>
            </a:pPr>
            <a:r>
              <a:rPr lang="id-ID" dirty="0" smtClean="0">
                <a:latin typeface="Times New Roman" pitchFamily="18" charset="0"/>
                <a:cs typeface="Times New Roman" pitchFamily="18" charset="0"/>
              </a:rPr>
              <a:t>4G dikatakan memiliki kecepatan 500 kali lebih cepat daripada CDMA2000 dapat memberikan kecepatan hingga 1Gbps jika anda di rumah atau 100Mbps ketika anda bepergian. </a:t>
            </a:r>
          </a:p>
          <a:p>
            <a:pPr>
              <a:buNone/>
            </a:pPr>
            <a:r>
              <a:rPr lang="id-ID" dirty="0" smtClean="0">
                <a:latin typeface="Times New Roman" pitchFamily="18" charset="0"/>
                <a:cs typeface="Times New Roman" pitchFamily="18" charset="0"/>
              </a:rPr>
              <a:t>4G adalah singkatan dari istilah dalam bahasa Inggris: fourth-generation technology. Istilah ini umumnya digunakan mengacu kepada pengembangan teknologi telepon seluler.4G merupakan pengembangan dari teknologi 3G.Nama resmi dari teknologi 4G ini menurut IEEE (Institute of Electrical and Electronics Engineers) adalah “3G and beyond”.</a:t>
            </a:r>
          </a:p>
          <a:p>
            <a:pPr>
              <a:buNone/>
            </a:pPr>
            <a:r>
              <a:rPr lang="id-ID" dirty="0" smtClean="0">
                <a:latin typeface="Times New Roman" pitchFamily="18" charset="0"/>
                <a:cs typeface="Times New Roman" pitchFamily="18" charset="0"/>
              </a:rPr>
              <a:t>	Teknologi 4G adalah istilah serapan dari bahasa Inggris: fourth-generation technology.</a:t>
            </a:r>
          </a:p>
          <a:p>
            <a:pPr>
              <a:buNone/>
            </a:pPr>
            <a:r>
              <a:rPr lang="id-ID" dirty="0" smtClean="0">
                <a:latin typeface="Times New Roman" pitchFamily="18" charset="0"/>
                <a:cs typeface="Times New Roman" pitchFamily="18" charset="0"/>
              </a:rPr>
              <a:t>Sistem 4G akan dapat menyediakan solusi IP yang komprehensif dimana suara, data, dan arus multimedia dapat sampai kepada pengguna kapan saja dan dimana saja, pada rata-rata data lebih tinggi dari generasi sebelumnya. </a:t>
            </a:r>
            <a:endParaRPr lang="id-ID" dirty="0">
              <a:latin typeface="Times New Roman" pitchFamily="18" charset="0"/>
              <a:cs typeface="Times New Roman" pitchFamily="18" charset="0"/>
            </a:endParaRPr>
          </a:p>
        </p:txBody>
      </p:sp>
    </p:spTree>
    <p:extLst>
      <p:ext uri="{BB962C8B-B14F-4D97-AF65-F5344CB8AC3E}">
        <p14:creationId xmlns:p14="http://schemas.microsoft.com/office/powerpoint/2010/main" val="3357356642"/>
      </p:ext>
    </p:extLst>
  </p:cSld>
  <p:clrMapOvr>
    <a:masterClrMapping/>
  </p:clrMapOvr>
  <p:transition>
    <p:randomBar dir="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id-ID" dirty="0" smtClean="0"/>
              <a:t>Generasi 5G</a:t>
            </a:r>
            <a:endParaRPr lang="id-ID" dirty="0"/>
          </a:p>
        </p:txBody>
      </p:sp>
      <p:sp>
        <p:nvSpPr>
          <p:cNvPr id="3" name="Content Placeholder 2"/>
          <p:cNvSpPr>
            <a:spLocks noGrp="1"/>
          </p:cNvSpPr>
          <p:nvPr>
            <p:ph idx="1"/>
          </p:nvPr>
        </p:nvSpPr>
        <p:spPr>
          <a:xfrm>
            <a:off x="838200" y="1564368"/>
            <a:ext cx="10515600" cy="4351338"/>
          </a:xfrm>
        </p:spPr>
        <p:txBody>
          <a:bodyPr>
            <a:noAutofit/>
          </a:bodyPr>
          <a:lstStyle/>
          <a:p>
            <a:pPr>
              <a:buNone/>
            </a:pPr>
            <a:r>
              <a:rPr lang="id-ID" sz="3200" dirty="0">
                <a:latin typeface="Times New Roman" pitchFamily="18" charset="0"/>
                <a:cs typeface="Times New Roman" pitchFamily="18" charset="0"/>
              </a:rPr>
              <a:t>5G (jaringan seluler generasi ke-5 atau 5 generasi nirkabel sistem) adalah nama yang digunakan dalam beberapa makalah penelitian dan proyek-proyek untuk menunjukkan fase utama berikutnya dari standar telekomunikasi seluler melebihi standar 4G/IMT-Advanced efektif sejak 2011.</a:t>
            </a:r>
          </a:p>
          <a:p>
            <a:pPr>
              <a:buNone/>
            </a:pPr>
            <a:r>
              <a:rPr lang="id-ID" sz="3200" dirty="0">
                <a:latin typeface="Times New Roman" pitchFamily="18" charset="0"/>
                <a:cs typeface="Times New Roman" pitchFamily="18" charset="0"/>
              </a:rPr>
              <a:t>Teknologi jaringan 5G adalah satu bukti dari inovasi yang terus di lakukan. Tampa ada rasa bosan sekaligus rasa cukup teknologi komunikasi terus meningkat.</a:t>
            </a:r>
          </a:p>
          <a:p>
            <a:pPr>
              <a:buNone/>
            </a:pPr>
            <a:r>
              <a:rPr lang="id-ID" sz="3200" dirty="0">
                <a:latin typeface="Times New Roman" pitchFamily="18" charset="0"/>
                <a:cs typeface="Times New Roman" pitchFamily="18" charset="0"/>
              </a:rPr>
              <a:t>perlu di ganti dengan yang baru</a:t>
            </a:r>
            <a:endParaRPr lang="id-ID" sz="3200" dirty="0">
              <a:latin typeface="Times New Roman" pitchFamily="18" charset="0"/>
              <a:cs typeface="Times New Roman" pitchFamily="18" charset="0"/>
            </a:endParaRPr>
          </a:p>
        </p:txBody>
      </p:sp>
    </p:spTree>
    <p:extLst>
      <p:ext uri="{BB962C8B-B14F-4D97-AF65-F5344CB8AC3E}">
        <p14:creationId xmlns:p14="http://schemas.microsoft.com/office/powerpoint/2010/main" val="313674527"/>
      </p:ext>
    </p:extLst>
  </p:cSld>
  <p:clrMapOvr>
    <a:masterClrMapping/>
  </p:clrMapOvr>
  <p:transition>
    <p:randomBa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4786" y="785794"/>
            <a:ext cx="9933214" cy="5143536"/>
          </a:xfrm>
        </p:spPr>
        <p:txBody>
          <a:bodyPr>
            <a:noAutofit/>
          </a:bodyPr>
          <a:lstStyle/>
          <a:p>
            <a:pPr>
              <a:buNone/>
            </a:pPr>
            <a:r>
              <a:rPr lang="id-ID" sz="2000" dirty="0">
                <a:latin typeface="Times New Roman" pitchFamily="18" charset="0"/>
                <a:cs typeface="Times New Roman" pitchFamily="18" charset="0"/>
              </a:rPr>
              <a:t>Keunggulan Jaringan 5G  adalah:</a:t>
            </a:r>
          </a:p>
          <a:p>
            <a:r>
              <a:rPr lang="id-ID" sz="2000" dirty="0">
                <a:latin typeface="Times New Roman" pitchFamily="18" charset="0"/>
                <a:cs typeface="Times New Roman" pitchFamily="18" charset="0"/>
              </a:rPr>
              <a:t>Memiliki ecepatan data yang lebih jauh dan tinggi di bandingkan dengan jaringan 4G </a:t>
            </a:r>
          </a:p>
          <a:p>
            <a:r>
              <a:rPr lang="id-ID" sz="2000" dirty="0">
                <a:latin typeface="Times New Roman" pitchFamily="18" charset="0"/>
                <a:cs typeface="Times New Roman" pitchFamily="18" charset="0"/>
              </a:rPr>
              <a:t>Memiliki kecepatan satu mill per detik untuk transfer data dari satu telepon ke telepon lainnya.</a:t>
            </a:r>
          </a:p>
          <a:p>
            <a:r>
              <a:rPr lang="id-ID" sz="2000" dirty="0">
                <a:latin typeface="Times New Roman" pitchFamily="18" charset="0"/>
                <a:cs typeface="Times New Roman" pitchFamily="18" charset="0"/>
              </a:rPr>
              <a:t>Jaringan 5G memberikan kelebihan yang sulit disamakan teknologi  lain yaiitu  bisa terkoneksi dengan alat lainnya seperti rumah tangga, telepon dan mobil.</a:t>
            </a:r>
          </a:p>
          <a:p>
            <a:pPr>
              <a:buNone/>
            </a:pPr>
            <a:r>
              <a:rPr lang="id-ID" sz="2000" dirty="0">
                <a:latin typeface="Times New Roman" pitchFamily="18" charset="0"/>
                <a:cs typeface="Times New Roman" pitchFamily="18" charset="0"/>
              </a:rPr>
              <a:t>Kekurangan jaringan 5G adalah:</a:t>
            </a:r>
          </a:p>
          <a:p>
            <a:r>
              <a:rPr lang="id-ID" sz="2000" dirty="0">
                <a:latin typeface="Times New Roman" pitchFamily="18" charset="0"/>
                <a:cs typeface="Times New Roman" pitchFamily="18" charset="0"/>
              </a:rPr>
              <a:t>Teknologi ini masih dalam proses dan penelitian</a:t>
            </a:r>
          </a:p>
          <a:p>
            <a:r>
              <a:rPr lang="id-ID" sz="2000" dirty="0">
                <a:latin typeface="Times New Roman" pitchFamily="18" charset="0"/>
                <a:cs typeface="Times New Roman" pitchFamily="18" charset="0"/>
              </a:rPr>
              <a:t>Mengembangkan infrastruktur dengan membutuhkan biaya tinggi </a:t>
            </a:r>
          </a:p>
          <a:p>
            <a:r>
              <a:rPr lang="id-ID" sz="2000" dirty="0">
                <a:latin typeface="Times New Roman" pitchFamily="18" charset="0"/>
                <a:cs typeface="Times New Roman" pitchFamily="18" charset="0"/>
              </a:rPr>
              <a:t>Keamanan dan masalah privasi belum di selesaikan </a:t>
            </a:r>
          </a:p>
          <a:p>
            <a:r>
              <a:rPr lang="id-ID" sz="2000" dirty="0">
                <a:latin typeface="Times New Roman" pitchFamily="18" charset="0"/>
                <a:cs typeface="Times New Roman" pitchFamily="18" charset="0"/>
              </a:rPr>
              <a:t>Banyak dari persngkat lama tiidak akan kompoten untuk 5G  karena semuanya</a:t>
            </a:r>
            <a:endParaRPr lang="id-ID" sz="2000" dirty="0">
              <a:latin typeface="Times New Roman" pitchFamily="18" charset="0"/>
              <a:cs typeface="Times New Roman" pitchFamily="18" charset="0"/>
            </a:endParaRPr>
          </a:p>
        </p:txBody>
      </p:sp>
    </p:spTree>
    <p:extLst>
      <p:ext uri="{BB962C8B-B14F-4D97-AF65-F5344CB8AC3E}">
        <p14:creationId xmlns:p14="http://schemas.microsoft.com/office/powerpoint/2010/main" val="26539946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smtClean="0"/>
              <a:t>Thx you</a:t>
            </a:r>
            <a:endParaRPr lang="en-US" dirty="0"/>
          </a:p>
        </p:txBody>
      </p:sp>
    </p:spTree>
    <p:extLst>
      <p:ext uri="{BB962C8B-B14F-4D97-AF65-F5344CB8AC3E}">
        <p14:creationId xmlns:p14="http://schemas.microsoft.com/office/powerpoint/2010/main" val="2509510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8508</TotalTime>
  <Words>862</Words>
  <Application>Microsoft Office PowerPoint</Application>
  <PresentationFormat>Widescreen</PresentationFormat>
  <Paragraphs>83</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Malgun Gothic</vt:lpstr>
      <vt:lpstr>Arial</vt:lpstr>
      <vt:lpstr>Calibri</vt:lpstr>
      <vt:lpstr>Calibri Light</vt:lpstr>
      <vt:lpstr>Symbol</vt:lpstr>
      <vt:lpstr>Times New Roman</vt:lpstr>
      <vt:lpstr>Office Theme</vt:lpstr>
      <vt:lpstr>PowerPoint Presentation</vt:lpstr>
      <vt:lpstr>Jaringan 1G pertamakali ditemukan di tahun 1980 ketika AMPS di Amerika bekerjasama dengan TACS dan NMT di Eropa membuat terobosan di teknologi jaringan. Yang harus anda ketahui adalah bahwa ini adalah standar baru dari teknologi jaringan.zaman dimana campur tangan manusia sudah tidak terlalu dibutuhkan semuanya benar benar sudah otomatis dan dengan bentuk yang kecil tentunya. karena ini adalah ponsel generasi pertama mereka membuat nya sangat serius mereka membuat ponsel yang kuat dan handal yang akhirnya tersebar ke seluruh dunia. </vt:lpstr>
      <vt:lpstr>Teknologi 1G :</vt:lpstr>
      <vt:lpstr>Generasi 2G </vt:lpstr>
      <vt:lpstr>Kemampuan teknologi 2G : </vt:lpstr>
      <vt:lpstr>Generasi 3G</vt:lpstr>
      <vt:lpstr>PowerPoint Presentation</vt:lpstr>
      <vt:lpstr>PowerPoint Presentation</vt:lpstr>
      <vt:lpstr>Generasi 4G </vt:lpstr>
      <vt:lpstr>Generasi 5G</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pds</dc:creator>
  <cp:lastModifiedBy>Gde</cp:lastModifiedBy>
  <cp:revision>75</cp:revision>
  <dcterms:created xsi:type="dcterms:W3CDTF">2022-08-25T13:17:53Z</dcterms:created>
  <dcterms:modified xsi:type="dcterms:W3CDTF">2025-02-24T08:52:44Z</dcterms:modified>
</cp:coreProperties>
</file>