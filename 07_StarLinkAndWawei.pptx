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339" r:id="rId2"/>
    <p:sldId id="351" r:id="rId3"/>
    <p:sldId id="352" r:id="rId4"/>
    <p:sldId id="353" r:id="rId5"/>
    <p:sldId id="354" r:id="rId6"/>
    <p:sldId id="355" r:id="rId7"/>
    <p:sldId id="356" r:id="rId8"/>
    <p:sldId id="357" r:id="rId9"/>
    <p:sldId id="358" r:id="rId10"/>
    <p:sldId id="359" r:id="rId11"/>
    <p:sldId id="360" r:id="rId12"/>
    <p:sldId id="368" r:id="rId13"/>
    <p:sldId id="361" r:id="rId14"/>
    <p:sldId id="362" r:id="rId15"/>
    <p:sldId id="363" r:id="rId16"/>
    <p:sldId id="364" r:id="rId17"/>
    <p:sldId id="365" r:id="rId18"/>
    <p:sldId id="367" r:id="rId19"/>
    <p:sldId id="366" r:id="rId20"/>
    <p:sldId id="35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nuel Fradinho" initials="M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0FF"/>
    <a:srgbClr val="00B2A5"/>
    <a:srgbClr val="00FDFF"/>
    <a:srgbClr val="00D9C7"/>
    <a:srgbClr val="73FDD6"/>
    <a:srgbClr val="A92C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88" autoAdjust="0"/>
    <p:restoredTop sz="79922" autoAdjust="0"/>
  </p:normalViewPr>
  <p:slideViewPr>
    <p:cSldViewPr snapToGrid="0">
      <p:cViewPr>
        <p:scale>
          <a:sx n="59" d="100"/>
          <a:sy n="59" d="100"/>
        </p:scale>
        <p:origin x="3072" y="81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A3E45-57A9-44A4-8D02-ECC452318D6C}" type="datetimeFigureOut">
              <a:rPr lang="en-US" smtClean="0"/>
              <a:t>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32A1-099D-4B50-B749-7C373A0D848E}" type="slidenum">
              <a:rPr lang="en-US" smtClean="0"/>
              <a:t>‹#›</a:t>
            </a:fld>
            <a:endParaRPr lang="en-US"/>
          </a:p>
        </p:txBody>
      </p:sp>
    </p:spTree>
    <p:extLst>
      <p:ext uri="{BB962C8B-B14F-4D97-AF65-F5344CB8AC3E}">
        <p14:creationId xmlns:p14="http://schemas.microsoft.com/office/powerpoint/2010/main" val="2638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A6C70F-0AB9-4527-90F9-EA9B5CAF6925}" type="slidenum">
              <a:rPr lang="en-US" smtClean="0"/>
              <a:t>2</a:t>
            </a:fld>
            <a:endParaRPr lang="en-US"/>
          </a:p>
        </p:txBody>
      </p:sp>
    </p:spTree>
    <p:extLst>
      <p:ext uri="{BB962C8B-B14F-4D97-AF65-F5344CB8AC3E}">
        <p14:creationId xmlns:p14="http://schemas.microsoft.com/office/powerpoint/2010/main" val="197336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https://www.starlink.com/legal/documents/DOC-1400-28829-70</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11</a:t>
            </a:fld>
            <a:endParaRPr lang="en-US"/>
          </a:p>
        </p:txBody>
      </p:sp>
    </p:spTree>
    <p:extLst>
      <p:ext uri="{BB962C8B-B14F-4D97-AF65-F5344CB8AC3E}">
        <p14:creationId xmlns:p14="http://schemas.microsoft.com/office/powerpoint/2010/main" val="1303328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https://www.youtube.com/watch?v=3OhD1NbYgAw</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12</a:t>
            </a:fld>
            <a:endParaRPr lang="en-US"/>
          </a:p>
        </p:txBody>
      </p:sp>
    </p:spTree>
    <p:extLst>
      <p:ext uri="{BB962C8B-B14F-4D97-AF65-F5344CB8AC3E}">
        <p14:creationId xmlns:p14="http://schemas.microsoft.com/office/powerpoint/2010/main" val="2203417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https://support.huawei.com/enterprise/en/doc/EDOC1000079719/3763fae3/what-can-i-do-if-the-speed-test-performance-does-not-meet-requirements</a:t>
            </a:r>
          </a:p>
          <a:p>
            <a:endParaRPr lang="en-US" dirty="0" smtClean="0"/>
          </a:p>
          <a:p>
            <a:r>
              <a:rPr lang="en-US" dirty="0" smtClean="0"/>
              <a:t>https://support.huawei.com/enterprise/en/doc/EDOC1000079719/3763fae3/what-can-i-do-if-the-speed-test-performance-does-not-meet-requirements</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13</a:t>
            </a:fld>
            <a:endParaRPr lang="en-US"/>
          </a:p>
        </p:txBody>
      </p:sp>
    </p:spTree>
    <p:extLst>
      <p:ext uri="{BB962C8B-B14F-4D97-AF65-F5344CB8AC3E}">
        <p14:creationId xmlns:p14="http://schemas.microsoft.com/office/powerpoint/2010/main" val="1142505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https://support.huawei.com/enterprise/en/doc/EDOC1000079719/3763fae3/what-can-i-do-if-the-speed-test-performance-does-not-meet-requirements</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14</a:t>
            </a:fld>
            <a:endParaRPr lang="en-US"/>
          </a:p>
        </p:txBody>
      </p:sp>
    </p:spTree>
    <p:extLst>
      <p:ext uri="{BB962C8B-B14F-4D97-AF65-F5344CB8AC3E}">
        <p14:creationId xmlns:p14="http://schemas.microsoft.com/office/powerpoint/2010/main" val="2310321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1673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58064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28CD25-4015-481E-94C9-A931395C8E35}"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25550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28CD25-4015-481E-94C9-A931395C8E35}" type="datetimeFigureOut">
              <a:rPr lang="en-US" smtClean="0"/>
              <a:t>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5255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28CD25-4015-481E-94C9-A931395C8E35}" type="datetimeFigureOut">
              <a:rPr lang="en-US" smtClean="0"/>
              <a:t>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48262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28CD25-4015-481E-94C9-A931395C8E35}" type="datetimeFigureOut">
              <a:rPr lang="en-US" smtClean="0"/>
              <a:t>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63555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8CD25-4015-481E-94C9-A931395C8E35}" type="datetimeFigureOut">
              <a:rPr lang="en-US" smtClean="0"/>
              <a:t>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8050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47931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46661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81033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0849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8CD25-4015-481E-94C9-A931395C8E35}" type="datetimeFigureOut">
              <a:rPr lang="en-US" smtClean="0"/>
              <a:t>2/20/2025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35205-7406-4E96-85E9-F173CE5CBA86}" type="slidenum">
              <a:rPr lang="en-US" smtClean="0"/>
              <a:t>‹#›</a:t>
            </a:fld>
            <a:endParaRPr lang="en-US"/>
          </a:p>
        </p:txBody>
      </p:sp>
    </p:spTree>
    <p:extLst>
      <p:ext uri="{BB962C8B-B14F-4D97-AF65-F5344CB8AC3E}">
        <p14:creationId xmlns:p14="http://schemas.microsoft.com/office/powerpoint/2010/main" val="3383117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2"/>
          <a:stretch>
            <a:fillRect/>
          </a:stretch>
        </p:blipFill>
        <p:spPr>
          <a:xfrm>
            <a:off x="46290" y="549166"/>
            <a:ext cx="1980634" cy="1262343"/>
          </a:xfrm>
          <a:prstGeom prst="rect">
            <a:avLst/>
          </a:prstGeom>
        </p:spPr>
      </p:pic>
      <p:sp>
        <p:nvSpPr>
          <p:cNvPr id="15" name="Rectangle 14"/>
          <p:cNvSpPr/>
          <p:nvPr/>
        </p:nvSpPr>
        <p:spPr>
          <a:xfrm>
            <a:off x="9202455" y="6066229"/>
            <a:ext cx="2811352" cy="420756"/>
          </a:xfrm>
          <a:prstGeom prst="rect">
            <a:avLst/>
          </a:prstGeom>
        </p:spPr>
        <p:txBody>
          <a:bodyPr wrap="square">
            <a:spAutoFit/>
          </a:bodyPr>
          <a:lstStyle/>
          <a:p>
            <a:r>
              <a:rPr lang="en-US" sz="1067" dirty="0"/>
              <a:t>https://www.youtube.com/@AmelOline/videos</a:t>
            </a:r>
          </a:p>
        </p:txBody>
      </p:sp>
      <p:sp>
        <p:nvSpPr>
          <p:cNvPr id="16" name="Rectangle 15"/>
          <p:cNvSpPr/>
          <p:nvPr/>
        </p:nvSpPr>
        <p:spPr>
          <a:xfrm>
            <a:off x="10158153" y="5809684"/>
            <a:ext cx="1782399" cy="256545"/>
          </a:xfrm>
          <a:prstGeom prst="rect">
            <a:avLst/>
          </a:prstGeom>
        </p:spPr>
        <p:txBody>
          <a:bodyPr wrap="square">
            <a:spAutoFit/>
          </a:bodyPr>
          <a:lstStyle/>
          <a:p>
            <a:r>
              <a:rPr lang="en-US" sz="1067" dirty="0"/>
              <a:t>https://github.com/siagianp</a:t>
            </a:r>
          </a:p>
        </p:txBody>
      </p:sp>
      <p:sp>
        <p:nvSpPr>
          <p:cNvPr id="17" name="Rectangle 16"/>
          <p:cNvSpPr/>
          <p:nvPr/>
        </p:nvSpPr>
        <p:spPr>
          <a:xfrm>
            <a:off x="8085399" y="6276607"/>
            <a:ext cx="4023019" cy="256545"/>
          </a:xfrm>
          <a:prstGeom prst="rect">
            <a:avLst/>
          </a:prstGeom>
        </p:spPr>
        <p:txBody>
          <a:bodyPr wrap="square">
            <a:spAutoFit/>
          </a:bodyPr>
          <a:lstStyle/>
          <a:p>
            <a:r>
              <a:rPr lang="en-US" sz="1067" dirty="0"/>
              <a:t>https://github.com/amelcharolinesgn2/IoT_simulator-mqtt-NodeRed</a:t>
            </a:r>
          </a:p>
        </p:txBody>
      </p:sp>
      <p:pic>
        <p:nvPicPr>
          <p:cNvPr id="30" name="Picture 29"/>
          <p:cNvPicPr>
            <a:picLocks noChangeAspect="1"/>
          </p:cNvPicPr>
          <p:nvPr/>
        </p:nvPicPr>
        <p:blipFill rotWithShape="1">
          <a:blip r:embed="rId3"/>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4"/>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5"/>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6"/>
          <a:stretch>
            <a:fillRect/>
          </a:stretch>
        </p:blipFill>
        <p:spPr>
          <a:xfrm>
            <a:off x="1489692" y="1368919"/>
            <a:ext cx="195549" cy="278741"/>
          </a:xfrm>
          <a:prstGeom prst="rect">
            <a:avLst/>
          </a:prstGeom>
        </p:spPr>
      </p:pic>
      <p:pic>
        <p:nvPicPr>
          <p:cNvPr id="19" name="Picture 18"/>
          <p:cNvPicPr>
            <a:picLocks noChangeAspect="1"/>
          </p:cNvPicPr>
          <p:nvPr/>
        </p:nvPicPr>
        <p:blipFill>
          <a:blip r:embed="rId7"/>
          <a:stretch>
            <a:fillRect/>
          </a:stretch>
        </p:blipFill>
        <p:spPr>
          <a:xfrm>
            <a:off x="928964" y="1347118"/>
            <a:ext cx="268890" cy="255445"/>
          </a:xfrm>
          <a:prstGeom prst="rect">
            <a:avLst/>
          </a:prstGeom>
        </p:spPr>
      </p:pic>
      <p:pic>
        <p:nvPicPr>
          <p:cNvPr id="20" name="Picture 19"/>
          <p:cNvPicPr>
            <a:picLocks noChangeAspect="1"/>
          </p:cNvPicPr>
          <p:nvPr/>
        </p:nvPicPr>
        <p:blipFill>
          <a:blip r:embed="rId8"/>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2331567" y="2132736"/>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b="1" dirty="0" smtClean="0"/>
          </a:p>
        </p:txBody>
      </p:sp>
      <p:sp>
        <p:nvSpPr>
          <p:cNvPr id="3" name="Rectangle 2"/>
          <p:cNvSpPr/>
          <p:nvPr/>
        </p:nvSpPr>
        <p:spPr>
          <a:xfrm>
            <a:off x="3526972" y="2046951"/>
            <a:ext cx="7681580" cy="646331"/>
          </a:xfrm>
          <a:prstGeom prst="rect">
            <a:avLst/>
          </a:prstGeom>
        </p:spPr>
        <p:txBody>
          <a:bodyPr wrap="square">
            <a:spAutoFit/>
          </a:bodyPr>
          <a:lstStyle/>
          <a:p>
            <a:r>
              <a:rPr lang="en-US" sz="3600" b="1" dirty="0" err="1">
                <a:solidFill>
                  <a:srgbClr val="0070C0"/>
                </a:solidFill>
              </a:rPr>
              <a:t>Starlink</a:t>
            </a:r>
            <a:r>
              <a:rPr lang="en-US" sz="3600" b="1" dirty="0">
                <a:solidFill>
                  <a:srgbClr val="0070C0"/>
                </a:solidFill>
              </a:rPr>
              <a:t> and </a:t>
            </a:r>
            <a:r>
              <a:rPr lang="en-US" sz="3600" b="1" dirty="0" err="1">
                <a:solidFill>
                  <a:srgbClr val="0070C0"/>
                </a:solidFill>
              </a:rPr>
              <a:t>IoT</a:t>
            </a:r>
            <a:endParaRPr lang="en-US" sz="1000" b="1" dirty="0">
              <a:solidFill>
                <a:srgbClr val="0070C0"/>
              </a:solidFill>
            </a:endParaRPr>
          </a:p>
        </p:txBody>
      </p:sp>
      <p:sp>
        <p:nvSpPr>
          <p:cNvPr id="5" name="Rectangle 4"/>
          <p:cNvSpPr/>
          <p:nvPr/>
        </p:nvSpPr>
        <p:spPr>
          <a:xfrm>
            <a:off x="8085399" y="6425847"/>
            <a:ext cx="3388876" cy="338554"/>
          </a:xfrm>
          <a:prstGeom prst="rect">
            <a:avLst/>
          </a:prstGeom>
        </p:spPr>
        <p:txBody>
          <a:bodyPr wrap="none">
            <a:spAutoFit/>
          </a:bodyPr>
          <a:lstStyle/>
          <a:p>
            <a:r>
              <a:rPr lang="en-US" sz="1600" dirty="0"/>
              <a:t>github.com/amelcharolinesgn2/ANJAR</a:t>
            </a:r>
          </a:p>
        </p:txBody>
      </p:sp>
    </p:spTree>
    <p:extLst>
      <p:ext uri="{BB962C8B-B14F-4D97-AF65-F5344CB8AC3E}">
        <p14:creationId xmlns:p14="http://schemas.microsoft.com/office/powerpoint/2010/main" val="3016832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7745" y="0"/>
            <a:ext cx="9144000" cy="1570327"/>
          </a:xfrm>
        </p:spPr>
        <p:txBody>
          <a:bodyPr/>
          <a:lstStyle/>
          <a:p>
            <a:pPr algn="ctr"/>
            <a:r>
              <a:rPr lang="en-US" dirty="0" err="1" smtClean="0"/>
              <a:t>Starlink</a:t>
            </a:r>
            <a:r>
              <a:rPr lang="en-US" dirty="0" smtClean="0"/>
              <a:t> and </a:t>
            </a:r>
            <a:r>
              <a:rPr lang="en-US" dirty="0" err="1" smtClean="0"/>
              <a:t>IoT</a:t>
            </a:r>
            <a:endParaRPr lang="en-US" dirty="0"/>
          </a:p>
        </p:txBody>
      </p:sp>
      <p:sp>
        <p:nvSpPr>
          <p:cNvPr id="3" name="Subtitle 2"/>
          <p:cNvSpPr>
            <a:spLocks noGrp="1"/>
          </p:cNvSpPr>
          <p:nvPr>
            <p:ph type="subTitle" idx="1"/>
          </p:nvPr>
        </p:nvSpPr>
        <p:spPr>
          <a:xfrm>
            <a:off x="1876424" y="2064327"/>
            <a:ext cx="8791575" cy="3810000"/>
          </a:xfrm>
        </p:spPr>
        <p:txBody>
          <a:bodyPr>
            <a:normAutofit/>
          </a:bodyPr>
          <a:lstStyle/>
          <a:p>
            <a:pPr algn="ctr"/>
            <a:r>
              <a:rPr lang="en-US" sz="2800" dirty="0"/>
              <a:t>Do you think </a:t>
            </a:r>
            <a:r>
              <a:rPr lang="en-US" sz="2800" dirty="0" err="1"/>
              <a:t>Starlink</a:t>
            </a:r>
            <a:r>
              <a:rPr lang="en-US" sz="2800" dirty="0"/>
              <a:t> would be usable for </a:t>
            </a:r>
            <a:r>
              <a:rPr lang="en-US" sz="2800" dirty="0" err="1"/>
              <a:t>IoT</a:t>
            </a:r>
            <a:r>
              <a:rPr lang="en-US" sz="2800" dirty="0"/>
              <a:t> </a:t>
            </a:r>
            <a:r>
              <a:rPr lang="en-US" sz="2800" dirty="0" smtClean="0"/>
              <a:t>devices</a:t>
            </a:r>
            <a:r>
              <a:rPr lang="en-US" sz="2800" dirty="0"/>
              <a:t>?</a:t>
            </a:r>
            <a:endParaRPr lang="en-US" sz="2800" dirty="0" smtClean="0"/>
          </a:p>
          <a:p>
            <a:endParaRPr lang="en-US" sz="2800" dirty="0"/>
          </a:p>
          <a:p>
            <a:pPr algn="ctr"/>
            <a:r>
              <a:rPr lang="en-US" sz="2800" dirty="0" err="1"/>
              <a:t>Starlink</a:t>
            </a:r>
            <a:r>
              <a:rPr lang="en-US" sz="2800" dirty="0"/>
              <a:t> is a satellite constellation being constructed by </a:t>
            </a:r>
            <a:r>
              <a:rPr lang="en-US" sz="2800" dirty="0" err="1"/>
              <a:t>SpaceX</a:t>
            </a:r>
            <a:r>
              <a:rPr lang="en-US" sz="2800" dirty="0"/>
              <a:t> to provide satellite Internet access.</a:t>
            </a:r>
          </a:p>
        </p:txBody>
      </p:sp>
    </p:spTree>
    <p:extLst>
      <p:ext uri="{BB962C8B-B14F-4D97-AF65-F5344CB8AC3E}">
        <p14:creationId xmlns:p14="http://schemas.microsoft.com/office/powerpoint/2010/main" val="8629532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52509" y="1330035"/>
            <a:ext cx="3823855" cy="5043056"/>
          </a:xfrm>
        </p:spPr>
        <p:txBody>
          <a:bodyPr>
            <a:normAutofit/>
          </a:bodyPr>
          <a:lstStyle/>
          <a:p>
            <a:pPr algn="ctr"/>
            <a:r>
              <a:rPr lang="en-US" sz="2800" dirty="0" smtClean="0"/>
              <a:t>The </a:t>
            </a:r>
            <a:r>
              <a:rPr lang="en-US" sz="2800" dirty="0"/>
              <a:t>constellation will consist of thousands of mass-produced small satellites in low Earth orbit (LEO), working in combination with ground </a:t>
            </a:r>
            <a:r>
              <a:rPr lang="en-US" sz="2800" dirty="0" smtClean="0"/>
              <a:t>transceivers.</a:t>
            </a:r>
            <a:endParaRPr lang="en-US" sz="2800" dirty="0"/>
          </a:p>
        </p:txBody>
      </p:sp>
      <p:pic>
        <p:nvPicPr>
          <p:cNvPr id="1026" name="Picture 2" descr="Post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193" y="665017"/>
            <a:ext cx="6963497" cy="5555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53908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3812" y="734291"/>
            <a:ext cx="9905999" cy="4835236"/>
          </a:xfrm>
        </p:spPr>
        <p:txBody>
          <a:bodyPr>
            <a:normAutofit/>
          </a:bodyPr>
          <a:lstStyle/>
          <a:p>
            <a:pPr algn="just"/>
            <a:r>
              <a:rPr lang="en-US" sz="2800" dirty="0"/>
              <a:t>. </a:t>
            </a:r>
            <a:r>
              <a:rPr lang="en-US" sz="2800" dirty="0" err="1"/>
              <a:t>SpaceX</a:t>
            </a:r>
            <a:r>
              <a:rPr lang="en-US" sz="2800" dirty="0"/>
              <a:t> also plans to sell some of the satellites for military, scientific, or exploratory purposes. Product development began in 2015, with the first two prototype test-flight satellites launched in February 2018. A second set of test satellites and the first large deployment occurred on May 24, 2019 UTC when the first 60 operational satellites were launched. The </a:t>
            </a:r>
            <a:r>
              <a:rPr lang="en-US" sz="2800" dirty="0" err="1"/>
              <a:t>SpaceX</a:t>
            </a:r>
            <a:r>
              <a:rPr lang="en-US" sz="2800" dirty="0"/>
              <a:t> satellite development facility in Redmond, Washington, houses the </a:t>
            </a:r>
            <a:r>
              <a:rPr lang="en-US" sz="2800" dirty="0" err="1"/>
              <a:t>Starlink</a:t>
            </a:r>
            <a:r>
              <a:rPr lang="en-US" sz="2800" dirty="0"/>
              <a:t> research, development, manufacturing, and on-orbit control operations.</a:t>
            </a:r>
          </a:p>
          <a:p>
            <a:pPr algn="just"/>
            <a:endParaRPr lang="en-US" dirty="0"/>
          </a:p>
          <a:p>
            <a:pPr algn="just"/>
            <a:endParaRPr lang="en-US" dirty="0"/>
          </a:p>
        </p:txBody>
      </p:sp>
    </p:spTree>
    <p:extLst>
      <p:ext uri="{BB962C8B-B14F-4D97-AF65-F5344CB8AC3E}">
        <p14:creationId xmlns:p14="http://schemas.microsoft.com/office/powerpoint/2010/main" val="19594094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65819" y="422563"/>
            <a:ext cx="4973782" cy="5957453"/>
          </a:xfrm>
        </p:spPr>
        <p:txBody>
          <a:bodyPr>
            <a:normAutofit/>
          </a:bodyPr>
          <a:lstStyle/>
          <a:p>
            <a:pPr algn="ctr"/>
            <a:r>
              <a:rPr lang="en-US" sz="2800" dirty="0"/>
              <a:t>By design, </a:t>
            </a:r>
            <a:r>
              <a:rPr lang="en-US" sz="2800" dirty="0" err="1"/>
              <a:t>Starlink</a:t>
            </a:r>
            <a:r>
              <a:rPr lang="en-US" sz="2800" dirty="0"/>
              <a:t> requires directional antennas with a narrow beam width -- and physics demands that such an antenna must be about the size of a pizza. If this is acceptable for a particular </a:t>
            </a:r>
            <a:r>
              <a:rPr lang="en-US" sz="2800" dirty="0" err="1"/>
              <a:t>IoT</a:t>
            </a:r>
            <a:r>
              <a:rPr lang="en-US" sz="2800" dirty="0"/>
              <a:t> application (say, where the "thing" is a standard shipping container), then the next factor would be the cost of hardware, which is still uncertain.</a:t>
            </a:r>
          </a:p>
        </p:txBody>
      </p:sp>
      <p:pic>
        <p:nvPicPr>
          <p:cNvPr id="2050" name="Picture 2" descr="Post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327" y="422563"/>
            <a:ext cx="6525491" cy="5957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09418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66103" y="886691"/>
            <a:ext cx="9905999" cy="5417128"/>
          </a:xfrm>
        </p:spPr>
        <p:txBody>
          <a:bodyPr>
            <a:normAutofit/>
          </a:bodyPr>
          <a:lstStyle/>
          <a:p>
            <a:pPr algn="just"/>
            <a:r>
              <a:rPr lang="en-US" sz="2800" dirty="0"/>
              <a:t>The plan for the initial constellation is 72 planes of 22 satellites each. This was modified from 24 planes of 66 satellites each, with </a:t>
            </a:r>
            <a:r>
              <a:rPr lang="en-US" sz="2800" dirty="0" err="1"/>
              <a:t>SpaceX</a:t>
            </a:r>
            <a:r>
              <a:rPr lang="en-US" sz="2800" dirty="0"/>
              <a:t> apparently able to launch to multiple planes at once. All well and good, essentially no change</a:t>
            </a:r>
            <a:r>
              <a:rPr lang="en-US" sz="2800" dirty="0" smtClean="0"/>
              <a:t>.</a:t>
            </a:r>
          </a:p>
          <a:p>
            <a:pPr marL="0" indent="0" algn="just">
              <a:buNone/>
            </a:pPr>
            <a:endParaRPr lang="en-US" sz="2800" dirty="0" smtClean="0"/>
          </a:p>
          <a:p>
            <a:pPr algn="just"/>
            <a:r>
              <a:rPr lang="en-US" sz="2800" dirty="0"/>
              <a:t>ISPs have been known to shut down any sort of competition before it gets any momentum, so maybe Elon said they aren’t going after the current ISP so that they </a:t>
            </a:r>
            <a:r>
              <a:rPr lang="en-US" sz="2800" dirty="0" err="1"/>
              <a:t>dont</a:t>
            </a:r>
            <a:r>
              <a:rPr lang="en-US" sz="2800" dirty="0"/>
              <a:t> try to take them down.</a:t>
            </a:r>
            <a:endParaRPr lang="en-US" sz="3200" dirty="0"/>
          </a:p>
        </p:txBody>
      </p:sp>
    </p:spTree>
    <p:extLst>
      <p:ext uri="{BB962C8B-B14F-4D97-AF65-F5344CB8AC3E}">
        <p14:creationId xmlns:p14="http://schemas.microsoft.com/office/powerpoint/2010/main" val="21545814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2976" y="1052946"/>
            <a:ext cx="9905999" cy="5084618"/>
          </a:xfrm>
        </p:spPr>
        <p:txBody>
          <a:bodyPr>
            <a:normAutofit/>
          </a:bodyPr>
          <a:lstStyle/>
          <a:p>
            <a:pPr algn="just"/>
            <a:r>
              <a:rPr lang="en-US" sz="2800" dirty="0" err="1"/>
              <a:t>IoT</a:t>
            </a:r>
            <a:r>
              <a:rPr lang="en-US" sz="2800" dirty="0"/>
              <a:t> is a system of interrelated computing devices, machines, animals, and humans with the ability to transfer data and communicate via a network without </a:t>
            </a:r>
            <a:r>
              <a:rPr lang="en-US" sz="2800" dirty="0" err="1" smtClean="0"/>
              <a:t>hu</a:t>
            </a:r>
            <a:endParaRPr lang="en-US" sz="2800" dirty="0" smtClean="0"/>
          </a:p>
          <a:p>
            <a:pPr algn="just"/>
            <a:r>
              <a:rPr lang="en-US" sz="2800" dirty="0"/>
              <a:t>The issue with </a:t>
            </a:r>
            <a:r>
              <a:rPr lang="en-US" sz="2800" dirty="0" err="1"/>
              <a:t>IoT</a:t>
            </a:r>
            <a:r>
              <a:rPr lang="en-US" sz="2800" dirty="0"/>
              <a:t> is that networks rely on cellular, </a:t>
            </a:r>
            <a:r>
              <a:rPr lang="en-US" sz="2800" dirty="0" err="1"/>
              <a:t>wifi</a:t>
            </a:r>
            <a:r>
              <a:rPr lang="en-US" sz="2800" dirty="0"/>
              <a:t>, or Bluetooth service in order to communicate. Yet 90% of the surface of the Earth is not serviced by these communication mediums, such as over open ocean or farmland. </a:t>
            </a:r>
            <a:r>
              <a:rPr lang="en-US" sz="2800" dirty="0" smtClean="0"/>
              <a:t>man-to-human </a:t>
            </a:r>
            <a:r>
              <a:rPr lang="en-US" sz="2800" dirty="0"/>
              <a:t>or human-to-computer interaction.</a:t>
            </a:r>
          </a:p>
        </p:txBody>
      </p:sp>
    </p:spTree>
    <p:extLst>
      <p:ext uri="{BB962C8B-B14F-4D97-AF65-F5344CB8AC3E}">
        <p14:creationId xmlns:p14="http://schemas.microsoft.com/office/powerpoint/2010/main" val="20287457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59782" y="2230582"/>
            <a:ext cx="4544291" cy="2604654"/>
          </a:xfrm>
        </p:spPr>
        <p:txBody>
          <a:bodyPr/>
          <a:lstStyle/>
          <a:p>
            <a:pPr algn="ctr"/>
            <a:r>
              <a:rPr lang="en-US" sz="3200" b="1" dirty="0" err="1"/>
              <a:t>StarLink</a:t>
            </a:r>
            <a:r>
              <a:rPr lang="en-US" sz="3200" b="1" dirty="0"/>
              <a:t>: Get Ready for lots of </a:t>
            </a:r>
            <a:r>
              <a:rPr lang="en-US" sz="3200" b="1" dirty="0" err="1"/>
              <a:t>IoT</a:t>
            </a:r>
            <a:r>
              <a:rPr lang="en-US" sz="3200" b="1" dirty="0"/>
              <a:t> (and lots of space junk)!</a:t>
            </a:r>
          </a:p>
          <a:p>
            <a:endParaRPr lang="en-US" dirty="0"/>
          </a:p>
        </p:txBody>
      </p:sp>
      <p:pic>
        <p:nvPicPr>
          <p:cNvPr id="1026" name="Picture 2" descr="Universitatea Tehnică din Cluj inaugurează Laboratorul „Interne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793" y="493464"/>
            <a:ext cx="6924098" cy="5552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9960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7093" y="1288472"/>
            <a:ext cx="5378736" cy="4849091"/>
          </a:xfrm>
        </p:spPr>
        <p:txBody>
          <a:bodyPr>
            <a:normAutofit/>
          </a:bodyPr>
          <a:lstStyle/>
          <a:p>
            <a:pPr algn="just"/>
            <a:r>
              <a:rPr lang="en-US" sz="2800" dirty="0"/>
              <a:t>Apparently the astronomers are already upset with </a:t>
            </a:r>
            <a:r>
              <a:rPr lang="en-US" sz="2800" dirty="0" err="1"/>
              <a:t>SpaceX</a:t>
            </a:r>
            <a:r>
              <a:rPr lang="en-US" sz="2800" dirty="0"/>
              <a:t>, after a rather small string of 60 of their satellites polluted the night sky with ambient light disrupting their deep space telescopes for about an hour this month. The time-lapse video is pretty cool too (left).</a:t>
            </a:r>
          </a:p>
        </p:txBody>
      </p:sp>
      <p:pic>
        <p:nvPicPr>
          <p:cNvPr id="2050" name="Picture 2" descr="Atos extends partnership with VMware to strengthen leadership in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2920" y="600350"/>
            <a:ext cx="5788025" cy="5855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6371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2595" y="354177"/>
            <a:ext cx="3355983" cy="523220"/>
          </a:xfrm>
          <a:prstGeom prst="rect">
            <a:avLst/>
          </a:prstGeom>
        </p:spPr>
        <p:txBody>
          <a:bodyPr wrap="none">
            <a:spAutoFit/>
          </a:bodyPr>
          <a:lstStyle/>
          <a:p>
            <a:r>
              <a:rPr lang="en-US" sz="2800" dirty="0" err="1"/>
              <a:t>Starlink</a:t>
            </a:r>
            <a:r>
              <a:rPr lang="en-US" sz="2800" dirty="0"/>
              <a:t> Specifications</a:t>
            </a:r>
          </a:p>
        </p:txBody>
      </p:sp>
      <p:sp>
        <p:nvSpPr>
          <p:cNvPr id="5" name="Rectangle 4"/>
          <p:cNvSpPr/>
          <p:nvPr/>
        </p:nvSpPr>
        <p:spPr>
          <a:xfrm>
            <a:off x="362595" y="877397"/>
            <a:ext cx="11521422" cy="5078313"/>
          </a:xfrm>
          <a:prstGeom prst="rect">
            <a:avLst/>
          </a:prstGeom>
        </p:spPr>
        <p:txBody>
          <a:bodyPr wrap="square">
            <a:spAutoFit/>
          </a:bodyPr>
          <a:lstStyle/>
          <a:p>
            <a:endParaRPr lang="en-US" dirty="0"/>
          </a:p>
          <a:p>
            <a:endParaRPr lang="en-US" dirty="0"/>
          </a:p>
          <a:p>
            <a:pPr algn="just"/>
            <a:r>
              <a:rPr lang="en-US" dirty="0"/>
              <a:t>SERVICE DESCRIPTION</a:t>
            </a:r>
          </a:p>
          <a:p>
            <a:pPr algn="just"/>
            <a:r>
              <a:rPr lang="en-US" dirty="0" err="1"/>
              <a:t>Starlink</a:t>
            </a:r>
            <a:r>
              <a:rPr lang="en-US" dirty="0"/>
              <a:t> provides two-way satellite-based internet service (“Services”), receivable with a </a:t>
            </a:r>
            <a:r>
              <a:rPr lang="en-US" dirty="0" err="1"/>
              <a:t>Starlink</a:t>
            </a:r>
            <a:r>
              <a:rPr lang="en-US" dirty="0"/>
              <a:t> user terminal, Wi-Fi router, power supply and mount ("</a:t>
            </a:r>
            <a:r>
              <a:rPr lang="en-US" dirty="0" err="1"/>
              <a:t>Starlink</a:t>
            </a:r>
            <a:r>
              <a:rPr lang="en-US" dirty="0"/>
              <a:t> Kit” or “Kit”). The </a:t>
            </a:r>
            <a:r>
              <a:rPr lang="en-US" dirty="0" err="1"/>
              <a:t>Starlink</a:t>
            </a:r>
            <a:r>
              <a:rPr lang="en-US" dirty="0"/>
              <a:t> Kit and Services are novel, under development, and subject to change. </a:t>
            </a:r>
            <a:r>
              <a:rPr lang="en-US" dirty="0" err="1"/>
              <a:t>Starlink</a:t>
            </a:r>
            <a:r>
              <a:rPr lang="en-US" dirty="0"/>
              <a:t> performance goals will be amended by </a:t>
            </a:r>
            <a:r>
              <a:rPr lang="en-US" dirty="0" err="1"/>
              <a:t>SpaceX</a:t>
            </a:r>
            <a:r>
              <a:rPr lang="en-US" dirty="0"/>
              <a:t> from time to time based on experience and innovation.</a:t>
            </a:r>
          </a:p>
          <a:p>
            <a:pPr algn="just"/>
            <a:endParaRPr lang="en-US" dirty="0"/>
          </a:p>
          <a:p>
            <a:pPr algn="just"/>
            <a:r>
              <a:rPr lang="en-US" dirty="0"/>
              <a:t>PERFORMANCE</a:t>
            </a:r>
          </a:p>
          <a:p>
            <a:pPr algn="just"/>
            <a:r>
              <a:rPr lang="en-US" dirty="0" err="1"/>
              <a:t>Starlink</a:t>
            </a:r>
            <a:r>
              <a:rPr lang="en-US" dirty="0"/>
              <a:t> users typically experience download speeds between 25 and 220 Mbps, with a majority of users experiencing speeds over 100 Mbps. Upload speeds are typically between 5 and 20 Mbps. Latency ranges between 25 and 60 </a:t>
            </a:r>
            <a:r>
              <a:rPr lang="en-US" dirty="0" err="1"/>
              <a:t>ms</a:t>
            </a:r>
            <a:r>
              <a:rPr lang="en-US" dirty="0"/>
              <a:t> on land, and 100+ </a:t>
            </a:r>
            <a:r>
              <a:rPr lang="en-US" dirty="0" err="1"/>
              <a:t>ms</a:t>
            </a:r>
            <a:r>
              <a:rPr lang="en-US" dirty="0"/>
              <a:t> in certain remote locations (e.g. Oceans, Islands, Antarctica, Alaska, Northern Canada, etc.). These speeds make </a:t>
            </a:r>
            <a:r>
              <a:rPr lang="en-US" dirty="0" err="1"/>
              <a:t>Starlink</a:t>
            </a:r>
            <a:r>
              <a:rPr lang="en-US" dirty="0"/>
              <a:t> suitable for streaming, video calls, online gaming, and other typical household internet use.</a:t>
            </a:r>
          </a:p>
          <a:p>
            <a:pPr algn="just"/>
            <a:r>
              <a:rPr lang="en-US" dirty="0"/>
              <a:t>Stated speeds below and the uninterrupted use of the Services is not guaranteed. Actual speeds may be lower than expected speeds during times of high usage. Performance varies based on location, time of day and the precedence </a:t>
            </a:r>
            <a:r>
              <a:rPr lang="en-US" dirty="0" err="1"/>
              <a:t>Starlink</a:t>
            </a:r>
            <a:r>
              <a:rPr lang="en-US" dirty="0"/>
              <a:t> gives your data in the network based on your Service Plan. Please see our Fair Use Policy for more information on how </a:t>
            </a:r>
            <a:r>
              <a:rPr lang="en-US" dirty="0" err="1"/>
              <a:t>Starlink</a:t>
            </a:r>
            <a:r>
              <a:rPr lang="en-US" dirty="0"/>
              <a:t> treats Standard, Priority, Mobile, and Mobile Priority data and how that impacts your Services under each </a:t>
            </a:r>
            <a:r>
              <a:rPr lang="en-US" dirty="0" smtClean="0"/>
              <a:t>Plan.</a:t>
            </a:r>
            <a:endParaRPr lang="en-US" dirty="0"/>
          </a:p>
        </p:txBody>
      </p:sp>
    </p:spTree>
    <p:extLst>
      <p:ext uri="{BB962C8B-B14F-4D97-AF65-F5344CB8AC3E}">
        <p14:creationId xmlns:p14="http://schemas.microsoft.com/office/powerpoint/2010/main" val="6876410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016842598"/>
              </p:ext>
            </p:extLst>
          </p:nvPr>
        </p:nvGraphicFramePr>
        <p:xfrm>
          <a:off x="473527" y="1832860"/>
          <a:ext cx="11266715" cy="2673825"/>
        </p:xfrm>
        <a:graphic>
          <a:graphicData uri="http://schemas.openxmlformats.org/drawingml/2006/table">
            <a:tbl>
              <a:tblPr>
                <a:tableStyleId>{08FB837D-C827-4EFA-A057-4D05807E0F7C}</a:tableStyleId>
              </a:tblPr>
              <a:tblGrid>
                <a:gridCol w="2253343">
                  <a:extLst>
                    <a:ext uri="{9D8B030D-6E8A-4147-A177-3AD203B41FA5}">
                      <a16:colId xmlns:a16="http://schemas.microsoft.com/office/drawing/2014/main" val="2313170717"/>
                    </a:ext>
                  </a:extLst>
                </a:gridCol>
                <a:gridCol w="2253343">
                  <a:extLst>
                    <a:ext uri="{9D8B030D-6E8A-4147-A177-3AD203B41FA5}">
                      <a16:colId xmlns:a16="http://schemas.microsoft.com/office/drawing/2014/main" val="154508578"/>
                    </a:ext>
                  </a:extLst>
                </a:gridCol>
                <a:gridCol w="2253343">
                  <a:extLst>
                    <a:ext uri="{9D8B030D-6E8A-4147-A177-3AD203B41FA5}">
                      <a16:colId xmlns:a16="http://schemas.microsoft.com/office/drawing/2014/main" val="1471725301"/>
                    </a:ext>
                  </a:extLst>
                </a:gridCol>
                <a:gridCol w="2253343">
                  <a:extLst>
                    <a:ext uri="{9D8B030D-6E8A-4147-A177-3AD203B41FA5}">
                      <a16:colId xmlns:a16="http://schemas.microsoft.com/office/drawing/2014/main" val="2791951041"/>
                    </a:ext>
                  </a:extLst>
                </a:gridCol>
                <a:gridCol w="2253343">
                  <a:extLst>
                    <a:ext uri="{9D8B030D-6E8A-4147-A177-3AD203B41FA5}">
                      <a16:colId xmlns:a16="http://schemas.microsoft.com/office/drawing/2014/main" val="2080016043"/>
                    </a:ext>
                  </a:extLst>
                </a:gridCol>
              </a:tblGrid>
              <a:tr h="813773">
                <a:tc>
                  <a:txBody>
                    <a:bodyPr/>
                    <a:lstStyle/>
                    <a:p>
                      <a:pPr fontAlgn="t"/>
                      <a:r>
                        <a:rPr lang="en-US" b="1" dirty="0">
                          <a:effectLst/>
                        </a:rPr>
                        <a:t>SERVICE PLAN</a:t>
                      </a:r>
                      <a:endParaRPr lang="en-US" b="1" dirty="0">
                        <a:solidFill>
                          <a:schemeClr val="tx1"/>
                        </a:solidFill>
                        <a:effectLst/>
                      </a:endParaRPr>
                    </a:p>
                  </a:txBody>
                  <a:tcPr/>
                </a:tc>
                <a:tc>
                  <a:txBody>
                    <a:bodyPr/>
                    <a:lstStyle/>
                    <a:p>
                      <a:pPr fontAlgn="t"/>
                      <a:r>
                        <a:rPr lang="en-US" b="1" dirty="0">
                          <a:effectLst/>
                        </a:rPr>
                        <a:t>STANDARD (FIXED)</a:t>
                      </a:r>
                      <a:endParaRPr lang="en-US" b="1" dirty="0">
                        <a:solidFill>
                          <a:schemeClr val="tx1"/>
                        </a:solidFill>
                        <a:effectLst/>
                      </a:endParaRPr>
                    </a:p>
                  </a:txBody>
                  <a:tcPr/>
                </a:tc>
                <a:tc>
                  <a:txBody>
                    <a:bodyPr/>
                    <a:lstStyle/>
                    <a:p>
                      <a:pPr fontAlgn="t"/>
                      <a:r>
                        <a:rPr lang="en-US" b="1" dirty="0">
                          <a:effectLst/>
                        </a:rPr>
                        <a:t>PRIORITY (FIXED)</a:t>
                      </a:r>
                      <a:endParaRPr lang="en-US" b="1" dirty="0">
                        <a:solidFill>
                          <a:schemeClr val="tx1"/>
                        </a:solidFill>
                        <a:effectLst/>
                      </a:endParaRPr>
                    </a:p>
                  </a:txBody>
                  <a:tcPr/>
                </a:tc>
                <a:tc>
                  <a:txBody>
                    <a:bodyPr/>
                    <a:lstStyle/>
                    <a:p>
                      <a:pPr fontAlgn="t"/>
                      <a:r>
                        <a:rPr lang="en-US" b="1" dirty="0">
                          <a:effectLst/>
                        </a:rPr>
                        <a:t>MOBILE (MOBILITY)</a:t>
                      </a:r>
                      <a:endParaRPr lang="en-US" b="1" dirty="0">
                        <a:solidFill>
                          <a:schemeClr val="tx1"/>
                        </a:solidFill>
                        <a:effectLst/>
                      </a:endParaRPr>
                    </a:p>
                  </a:txBody>
                  <a:tcPr/>
                </a:tc>
                <a:tc>
                  <a:txBody>
                    <a:bodyPr/>
                    <a:lstStyle/>
                    <a:p>
                      <a:pPr fontAlgn="t"/>
                      <a:r>
                        <a:rPr lang="en-US" b="1" dirty="0">
                          <a:effectLst/>
                        </a:rPr>
                        <a:t>MOBILE PRIORITY (MOBILITY)</a:t>
                      </a:r>
                      <a:endParaRPr lang="en-US" b="1" dirty="0">
                        <a:solidFill>
                          <a:schemeClr val="tx1"/>
                        </a:solidFill>
                        <a:effectLst/>
                      </a:endParaRPr>
                    </a:p>
                  </a:txBody>
                  <a:tcPr/>
                </a:tc>
                <a:extLst>
                  <a:ext uri="{0D108BD9-81ED-4DB2-BD59-A6C34878D82A}">
                    <a16:rowId xmlns:a16="http://schemas.microsoft.com/office/drawing/2014/main" val="3416156280"/>
                  </a:ext>
                </a:extLst>
              </a:tr>
              <a:tr h="465013">
                <a:tc>
                  <a:txBody>
                    <a:bodyPr/>
                    <a:lstStyle/>
                    <a:p>
                      <a:pPr fontAlgn="t"/>
                      <a:r>
                        <a:rPr lang="en-US">
                          <a:effectLst/>
                        </a:rPr>
                        <a:t>AVAILABILITY</a:t>
                      </a:r>
                      <a:endParaRPr lang="en-US">
                        <a:solidFill>
                          <a:schemeClr val="tx1"/>
                        </a:solidFill>
                        <a:effectLst/>
                      </a:endParaRPr>
                    </a:p>
                  </a:txBody>
                  <a:tcPr/>
                </a:tc>
                <a:tc>
                  <a:txBody>
                    <a:bodyPr/>
                    <a:lstStyle/>
                    <a:p>
                      <a:pPr fontAlgn="t"/>
                      <a:r>
                        <a:rPr lang="en-US">
                          <a:effectLst/>
                        </a:rPr>
                        <a:t>≥99%</a:t>
                      </a:r>
                      <a:endParaRPr lang="en-US">
                        <a:solidFill>
                          <a:schemeClr val="tx1"/>
                        </a:solidFill>
                        <a:effectLst/>
                      </a:endParaRPr>
                    </a:p>
                  </a:txBody>
                  <a:tcPr/>
                </a:tc>
                <a:tc>
                  <a:txBody>
                    <a:bodyPr/>
                    <a:lstStyle/>
                    <a:p>
                      <a:pPr fontAlgn="t"/>
                      <a:r>
                        <a:rPr lang="en-US">
                          <a:effectLst/>
                        </a:rPr>
                        <a:t>≥99%</a:t>
                      </a:r>
                      <a:endParaRPr lang="en-US">
                        <a:solidFill>
                          <a:schemeClr val="tx1"/>
                        </a:solidFill>
                        <a:effectLst/>
                      </a:endParaRPr>
                    </a:p>
                  </a:txBody>
                  <a:tcPr/>
                </a:tc>
                <a:tc>
                  <a:txBody>
                    <a:bodyPr/>
                    <a:lstStyle/>
                    <a:p>
                      <a:pPr fontAlgn="t"/>
                      <a:r>
                        <a:rPr lang="en-US">
                          <a:effectLst/>
                        </a:rPr>
                        <a:t>≥99%</a:t>
                      </a:r>
                      <a:endParaRPr lang="en-US">
                        <a:solidFill>
                          <a:schemeClr val="tx1"/>
                        </a:solidFill>
                        <a:effectLst/>
                      </a:endParaRPr>
                    </a:p>
                  </a:txBody>
                  <a:tcPr/>
                </a:tc>
                <a:tc>
                  <a:txBody>
                    <a:bodyPr/>
                    <a:lstStyle/>
                    <a:p>
                      <a:pPr fontAlgn="t"/>
                      <a:r>
                        <a:rPr lang="en-US">
                          <a:effectLst/>
                        </a:rPr>
                        <a:t>≥99%</a:t>
                      </a:r>
                      <a:endParaRPr lang="en-US">
                        <a:solidFill>
                          <a:schemeClr val="tx1"/>
                        </a:solidFill>
                        <a:effectLst/>
                      </a:endParaRPr>
                    </a:p>
                  </a:txBody>
                  <a:tcPr/>
                </a:tc>
                <a:extLst>
                  <a:ext uri="{0D108BD9-81ED-4DB2-BD59-A6C34878D82A}">
                    <a16:rowId xmlns:a16="http://schemas.microsoft.com/office/drawing/2014/main" val="3853732134"/>
                  </a:ext>
                </a:extLst>
              </a:tr>
              <a:tr h="465013">
                <a:tc>
                  <a:txBody>
                    <a:bodyPr/>
                    <a:lstStyle/>
                    <a:p>
                      <a:pPr fontAlgn="t"/>
                      <a:r>
                        <a:rPr lang="en-US">
                          <a:effectLst/>
                        </a:rPr>
                        <a:t>DOWNLOAD</a:t>
                      </a:r>
                      <a:endParaRPr lang="en-US">
                        <a:solidFill>
                          <a:schemeClr val="tx1"/>
                        </a:solidFill>
                        <a:effectLst/>
                      </a:endParaRPr>
                    </a:p>
                  </a:txBody>
                  <a:tcPr/>
                </a:tc>
                <a:tc>
                  <a:txBody>
                    <a:bodyPr/>
                    <a:lstStyle/>
                    <a:p>
                      <a:pPr fontAlgn="t"/>
                      <a:r>
                        <a:rPr lang="en-US">
                          <a:effectLst/>
                        </a:rPr>
                        <a:t>25-100 Mbps</a:t>
                      </a:r>
                      <a:endParaRPr lang="en-US">
                        <a:solidFill>
                          <a:schemeClr val="tx1"/>
                        </a:solidFill>
                        <a:effectLst/>
                      </a:endParaRPr>
                    </a:p>
                  </a:txBody>
                  <a:tcPr/>
                </a:tc>
                <a:tc>
                  <a:txBody>
                    <a:bodyPr/>
                    <a:lstStyle/>
                    <a:p>
                      <a:pPr fontAlgn="t"/>
                      <a:r>
                        <a:rPr lang="en-US">
                          <a:effectLst/>
                        </a:rPr>
                        <a:t>40-220 Mbps</a:t>
                      </a:r>
                      <a:endParaRPr lang="en-US">
                        <a:solidFill>
                          <a:schemeClr val="tx1"/>
                        </a:solidFill>
                        <a:effectLst/>
                      </a:endParaRPr>
                    </a:p>
                  </a:txBody>
                  <a:tcPr/>
                </a:tc>
                <a:tc>
                  <a:txBody>
                    <a:bodyPr/>
                    <a:lstStyle/>
                    <a:p>
                      <a:pPr fontAlgn="t"/>
                      <a:r>
                        <a:rPr lang="en-US" dirty="0">
                          <a:effectLst/>
                        </a:rPr>
                        <a:t>5-50 Mbps</a:t>
                      </a:r>
                      <a:endParaRPr lang="en-US" dirty="0">
                        <a:solidFill>
                          <a:schemeClr val="tx1"/>
                        </a:solidFill>
                        <a:effectLst/>
                      </a:endParaRPr>
                    </a:p>
                  </a:txBody>
                  <a:tcPr/>
                </a:tc>
                <a:tc>
                  <a:txBody>
                    <a:bodyPr/>
                    <a:lstStyle/>
                    <a:p>
                      <a:pPr fontAlgn="t"/>
                      <a:r>
                        <a:rPr lang="en-US">
                          <a:effectLst/>
                        </a:rPr>
                        <a:t>40-220 Mbps</a:t>
                      </a:r>
                      <a:endParaRPr lang="en-US">
                        <a:solidFill>
                          <a:schemeClr val="tx1"/>
                        </a:solidFill>
                        <a:effectLst/>
                      </a:endParaRPr>
                    </a:p>
                  </a:txBody>
                  <a:tcPr/>
                </a:tc>
                <a:extLst>
                  <a:ext uri="{0D108BD9-81ED-4DB2-BD59-A6C34878D82A}">
                    <a16:rowId xmlns:a16="http://schemas.microsoft.com/office/drawing/2014/main" val="321130188"/>
                  </a:ext>
                </a:extLst>
              </a:tr>
              <a:tr h="465013">
                <a:tc>
                  <a:txBody>
                    <a:bodyPr/>
                    <a:lstStyle/>
                    <a:p>
                      <a:pPr fontAlgn="t"/>
                      <a:r>
                        <a:rPr lang="en-US">
                          <a:effectLst/>
                        </a:rPr>
                        <a:t>UPLOAD</a:t>
                      </a:r>
                      <a:endParaRPr lang="en-US">
                        <a:solidFill>
                          <a:schemeClr val="tx1"/>
                        </a:solidFill>
                        <a:effectLst/>
                      </a:endParaRPr>
                    </a:p>
                  </a:txBody>
                  <a:tcPr/>
                </a:tc>
                <a:tc>
                  <a:txBody>
                    <a:bodyPr/>
                    <a:lstStyle/>
                    <a:p>
                      <a:pPr fontAlgn="t"/>
                      <a:r>
                        <a:rPr lang="en-US">
                          <a:effectLst/>
                        </a:rPr>
                        <a:t>5-10 Mbps</a:t>
                      </a:r>
                      <a:endParaRPr lang="en-US">
                        <a:solidFill>
                          <a:schemeClr val="tx1"/>
                        </a:solidFill>
                        <a:effectLst/>
                      </a:endParaRPr>
                    </a:p>
                  </a:txBody>
                  <a:tcPr/>
                </a:tc>
                <a:tc>
                  <a:txBody>
                    <a:bodyPr/>
                    <a:lstStyle/>
                    <a:p>
                      <a:pPr fontAlgn="t"/>
                      <a:r>
                        <a:rPr lang="en-US">
                          <a:effectLst/>
                        </a:rPr>
                        <a:t>8-25 Mbps</a:t>
                      </a:r>
                      <a:endParaRPr lang="en-US">
                        <a:solidFill>
                          <a:schemeClr val="tx1"/>
                        </a:solidFill>
                        <a:effectLst/>
                      </a:endParaRPr>
                    </a:p>
                  </a:txBody>
                  <a:tcPr/>
                </a:tc>
                <a:tc>
                  <a:txBody>
                    <a:bodyPr/>
                    <a:lstStyle/>
                    <a:p>
                      <a:pPr fontAlgn="t"/>
                      <a:r>
                        <a:rPr lang="en-US">
                          <a:effectLst/>
                        </a:rPr>
                        <a:t>2-10 Mbps</a:t>
                      </a:r>
                      <a:endParaRPr lang="en-US">
                        <a:solidFill>
                          <a:schemeClr val="tx1"/>
                        </a:solidFill>
                        <a:effectLst/>
                      </a:endParaRPr>
                    </a:p>
                  </a:txBody>
                  <a:tcPr/>
                </a:tc>
                <a:tc>
                  <a:txBody>
                    <a:bodyPr/>
                    <a:lstStyle/>
                    <a:p>
                      <a:pPr fontAlgn="t"/>
                      <a:r>
                        <a:rPr lang="en-US">
                          <a:effectLst/>
                        </a:rPr>
                        <a:t>8-25 Mbps</a:t>
                      </a:r>
                      <a:endParaRPr lang="en-US">
                        <a:solidFill>
                          <a:schemeClr val="tx1"/>
                        </a:solidFill>
                        <a:effectLst/>
                      </a:endParaRPr>
                    </a:p>
                  </a:txBody>
                  <a:tcPr/>
                </a:tc>
                <a:extLst>
                  <a:ext uri="{0D108BD9-81ED-4DB2-BD59-A6C34878D82A}">
                    <a16:rowId xmlns:a16="http://schemas.microsoft.com/office/drawing/2014/main" val="128110593"/>
                  </a:ext>
                </a:extLst>
              </a:tr>
              <a:tr h="465013">
                <a:tc>
                  <a:txBody>
                    <a:bodyPr/>
                    <a:lstStyle/>
                    <a:p>
                      <a:pPr fontAlgn="t"/>
                      <a:r>
                        <a:rPr lang="en-US">
                          <a:effectLst/>
                        </a:rPr>
                        <a:t>LATENCY*</a:t>
                      </a:r>
                      <a:endParaRPr lang="en-US">
                        <a:solidFill>
                          <a:schemeClr val="tx1"/>
                        </a:solidFill>
                        <a:effectLst/>
                      </a:endParaRPr>
                    </a:p>
                  </a:txBody>
                  <a:tcPr/>
                </a:tc>
                <a:tc>
                  <a:txBody>
                    <a:bodyPr/>
                    <a:lstStyle/>
                    <a:p>
                      <a:pPr fontAlgn="t"/>
                      <a:r>
                        <a:rPr lang="en-US">
                          <a:effectLst/>
                        </a:rPr>
                        <a:t>25-60 ms</a:t>
                      </a:r>
                      <a:endParaRPr lang="en-US">
                        <a:solidFill>
                          <a:schemeClr val="tx1"/>
                        </a:solidFill>
                        <a:effectLst/>
                      </a:endParaRPr>
                    </a:p>
                  </a:txBody>
                  <a:tcPr/>
                </a:tc>
                <a:tc>
                  <a:txBody>
                    <a:bodyPr/>
                    <a:lstStyle/>
                    <a:p>
                      <a:pPr fontAlgn="t"/>
                      <a:r>
                        <a:rPr lang="en-US">
                          <a:effectLst/>
                        </a:rPr>
                        <a:t>25-60 ms</a:t>
                      </a:r>
                      <a:endParaRPr lang="en-US">
                        <a:solidFill>
                          <a:schemeClr val="tx1"/>
                        </a:solidFill>
                        <a:effectLst/>
                      </a:endParaRPr>
                    </a:p>
                  </a:txBody>
                  <a:tcPr/>
                </a:tc>
                <a:tc>
                  <a:txBody>
                    <a:bodyPr/>
                    <a:lstStyle/>
                    <a:p>
                      <a:pPr fontAlgn="t"/>
                      <a:r>
                        <a:rPr lang="en-US">
                          <a:effectLst/>
                        </a:rPr>
                        <a:t>&lt;99 ms</a:t>
                      </a:r>
                      <a:endParaRPr lang="en-US">
                        <a:solidFill>
                          <a:schemeClr val="tx1"/>
                        </a:solidFill>
                        <a:effectLst/>
                      </a:endParaRPr>
                    </a:p>
                  </a:txBody>
                  <a:tcPr/>
                </a:tc>
                <a:tc>
                  <a:txBody>
                    <a:bodyPr/>
                    <a:lstStyle/>
                    <a:p>
                      <a:pPr fontAlgn="t"/>
                      <a:r>
                        <a:rPr lang="en-US" dirty="0">
                          <a:effectLst/>
                        </a:rPr>
                        <a:t>&lt;99 </a:t>
                      </a:r>
                      <a:r>
                        <a:rPr lang="en-US" dirty="0" err="1">
                          <a:effectLst/>
                        </a:rPr>
                        <a:t>ms</a:t>
                      </a:r>
                      <a:endParaRPr lang="en-US" dirty="0">
                        <a:solidFill>
                          <a:schemeClr val="tx1"/>
                        </a:solidFill>
                        <a:effectLst/>
                      </a:endParaRPr>
                    </a:p>
                  </a:txBody>
                  <a:tcPr/>
                </a:tc>
                <a:extLst>
                  <a:ext uri="{0D108BD9-81ED-4DB2-BD59-A6C34878D82A}">
                    <a16:rowId xmlns:a16="http://schemas.microsoft.com/office/drawing/2014/main" val="958405928"/>
                  </a:ext>
                </a:extLst>
              </a:tr>
            </a:tbl>
          </a:graphicData>
        </a:graphic>
      </p:graphicFrame>
      <p:sp>
        <p:nvSpPr>
          <p:cNvPr id="5" name="Rectangle 4"/>
          <p:cNvSpPr/>
          <p:nvPr/>
        </p:nvSpPr>
        <p:spPr>
          <a:xfrm>
            <a:off x="473527" y="958334"/>
            <a:ext cx="3353419" cy="369332"/>
          </a:xfrm>
          <a:prstGeom prst="rect">
            <a:avLst/>
          </a:prstGeom>
        </p:spPr>
        <p:txBody>
          <a:bodyPr wrap="none">
            <a:spAutoFit/>
          </a:bodyPr>
          <a:lstStyle/>
          <a:p>
            <a:r>
              <a:rPr lang="en-US" dirty="0"/>
              <a:t>Expected speeds per service plan:</a:t>
            </a:r>
          </a:p>
        </p:txBody>
      </p:sp>
    </p:spTree>
    <p:extLst>
      <p:ext uri="{BB962C8B-B14F-4D97-AF65-F5344CB8AC3E}">
        <p14:creationId xmlns:p14="http://schemas.microsoft.com/office/powerpoint/2010/main" val="26057311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l="9970" t="10951" r="5566" b="14604"/>
          <a:stretch/>
        </p:blipFill>
        <p:spPr>
          <a:xfrm>
            <a:off x="239486" y="279138"/>
            <a:ext cx="11647714" cy="5925719"/>
          </a:xfrm>
          <a:prstGeom prst="rect">
            <a:avLst/>
          </a:prstGeom>
        </p:spPr>
      </p:pic>
    </p:spTree>
    <p:extLst>
      <p:ext uri="{BB962C8B-B14F-4D97-AF65-F5344CB8AC3E}">
        <p14:creationId xmlns:p14="http://schemas.microsoft.com/office/powerpoint/2010/main" val="39244203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46290" y="549166"/>
            <a:ext cx="1980634" cy="1262343"/>
          </a:xfrm>
          <a:prstGeom prst="rect">
            <a:avLst/>
          </a:prstGeom>
        </p:spPr>
      </p:pic>
      <p:sp>
        <p:nvSpPr>
          <p:cNvPr id="15" name="Rectangle 14"/>
          <p:cNvSpPr/>
          <p:nvPr/>
        </p:nvSpPr>
        <p:spPr>
          <a:xfrm>
            <a:off x="9202455" y="6066229"/>
            <a:ext cx="2811352" cy="420756"/>
          </a:xfrm>
          <a:prstGeom prst="rect">
            <a:avLst/>
          </a:prstGeom>
        </p:spPr>
        <p:txBody>
          <a:bodyPr wrap="square">
            <a:spAutoFit/>
          </a:bodyPr>
          <a:lstStyle/>
          <a:p>
            <a:r>
              <a:rPr lang="en-US" sz="1067" dirty="0"/>
              <a:t>https://www.youtube.com/@AmelOline/videos</a:t>
            </a:r>
          </a:p>
        </p:txBody>
      </p:sp>
      <p:sp>
        <p:nvSpPr>
          <p:cNvPr id="16" name="Rectangle 15"/>
          <p:cNvSpPr/>
          <p:nvPr/>
        </p:nvSpPr>
        <p:spPr>
          <a:xfrm>
            <a:off x="10158153" y="5809684"/>
            <a:ext cx="1782399" cy="256545"/>
          </a:xfrm>
          <a:prstGeom prst="rect">
            <a:avLst/>
          </a:prstGeom>
        </p:spPr>
        <p:txBody>
          <a:bodyPr wrap="square">
            <a:spAutoFit/>
          </a:bodyPr>
          <a:lstStyle/>
          <a:p>
            <a:r>
              <a:rPr lang="en-US" sz="1067" dirty="0"/>
              <a:t>https://github.com/siagianp</a:t>
            </a:r>
          </a:p>
        </p:txBody>
      </p:sp>
      <p:sp>
        <p:nvSpPr>
          <p:cNvPr id="17" name="Rectangle 16"/>
          <p:cNvSpPr/>
          <p:nvPr/>
        </p:nvSpPr>
        <p:spPr>
          <a:xfrm>
            <a:off x="8085399" y="6276607"/>
            <a:ext cx="4023019" cy="256545"/>
          </a:xfrm>
          <a:prstGeom prst="rect">
            <a:avLst/>
          </a:prstGeom>
        </p:spPr>
        <p:txBody>
          <a:bodyPr wrap="square">
            <a:spAutoFit/>
          </a:bodyPr>
          <a:lstStyle/>
          <a:p>
            <a:r>
              <a:rPr lang="en-US" sz="1067" dirty="0"/>
              <a:t>https://github.com/amelcharolinesgn2/IoT_simulator-mqtt-NodeRed</a:t>
            </a:r>
          </a:p>
        </p:txBody>
      </p:sp>
      <p:pic>
        <p:nvPicPr>
          <p:cNvPr id="30" name="Picture 29"/>
          <p:cNvPicPr>
            <a:picLocks noChangeAspect="1"/>
          </p:cNvPicPr>
          <p:nvPr/>
        </p:nvPicPr>
        <p:blipFill rotWithShape="1">
          <a:blip r:embed="rId4"/>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7"/>
          <a:stretch>
            <a:fillRect/>
          </a:stretch>
        </p:blipFill>
        <p:spPr>
          <a:xfrm>
            <a:off x="1489692" y="1368919"/>
            <a:ext cx="195549" cy="278741"/>
          </a:xfrm>
          <a:prstGeom prst="rect">
            <a:avLst/>
          </a:prstGeom>
        </p:spPr>
      </p:pic>
      <p:pic>
        <p:nvPicPr>
          <p:cNvPr id="19" name="Picture 18"/>
          <p:cNvPicPr>
            <a:picLocks noChangeAspect="1"/>
          </p:cNvPicPr>
          <p:nvPr/>
        </p:nvPicPr>
        <p:blipFill>
          <a:blip r:embed="rId8"/>
          <a:stretch>
            <a:fillRect/>
          </a:stretch>
        </p:blipFill>
        <p:spPr>
          <a:xfrm>
            <a:off x="928964" y="1347118"/>
            <a:ext cx="268890" cy="255445"/>
          </a:xfrm>
          <a:prstGeom prst="rect">
            <a:avLst/>
          </a:prstGeom>
        </p:spPr>
      </p:pic>
      <p:pic>
        <p:nvPicPr>
          <p:cNvPr id="20" name="Picture 19"/>
          <p:cNvPicPr>
            <a:picLocks noChangeAspect="1"/>
          </p:cNvPicPr>
          <p:nvPr/>
        </p:nvPicPr>
        <p:blipFill>
          <a:blip r:embed="rId9"/>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2331567" y="2132736"/>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b="1" dirty="0" smtClean="0"/>
          </a:p>
        </p:txBody>
      </p:sp>
      <p:sp>
        <p:nvSpPr>
          <p:cNvPr id="3" name="Rectangle 2"/>
          <p:cNvSpPr/>
          <p:nvPr/>
        </p:nvSpPr>
        <p:spPr>
          <a:xfrm>
            <a:off x="3526972" y="2046951"/>
            <a:ext cx="7681580" cy="1015663"/>
          </a:xfrm>
          <a:prstGeom prst="rect">
            <a:avLst/>
          </a:prstGeom>
        </p:spPr>
        <p:txBody>
          <a:bodyPr wrap="square">
            <a:spAutoFit/>
          </a:bodyPr>
          <a:lstStyle/>
          <a:p>
            <a:r>
              <a:rPr lang="en-US" sz="3600" b="1" dirty="0" smtClean="0">
                <a:solidFill>
                  <a:srgbClr val="0070C0"/>
                </a:solidFill>
              </a:rPr>
              <a:t>Huawei </a:t>
            </a:r>
            <a:r>
              <a:rPr lang="en-US" sz="2400" dirty="0">
                <a:solidFill>
                  <a:srgbClr val="002060"/>
                </a:solidFill>
              </a:rPr>
              <a:t>Expected speeds per service </a:t>
            </a:r>
            <a:r>
              <a:rPr lang="en-US" sz="2400" dirty="0" smtClean="0">
                <a:solidFill>
                  <a:srgbClr val="002060"/>
                </a:solidFill>
              </a:rPr>
              <a:t>plan and Specifications</a:t>
            </a:r>
            <a:endParaRPr lang="en-US" sz="2400" dirty="0">
              <a:solidFill>
                <a:srgbClr val="002060"/>
              </a:solidFill>
            </a:endParaRPr>
          </a:p>
        </p:txBody>
      </p:sp>
      <p:sp>
        <p:nvSpPr>
          <p:cNvPr id="5" name="Rectangle 4"/>
          <p:cNvSpPr/>
          <p:nvPr/>
        </p:nvSpPr>
        <p:spPr>
          <a:xfrm>
            <a:off x="8085399" y="6425847"/>
            <a:ext cx="3388876" cy="338554"/>
          </a:xfrm>
          <a:prstGeom prst="rect">
            <a:avLst/>
          </a:prstGeom>
        </p:spPr>
        <p:txBody>
          <a:bodyPr wrap="none">
            <a:spAutoFit/>
          </a:bodyPr>
          <a:lstStyle/>
          <a:p>
            <a:r>
              <a:rPr lang="en-US" sz="1600" dirty="0"/>
              <a:t>github.com/amelcharolinesgn2/ANJAR</a:t>
            </a:r>
          </a:p>
        </p:txBody>
      </p:sp>
    </p:spTree>
    <p:extLst>
      <p:ext uri="{BB962C8B-B14F-4D97-AF65-F5344CB8AC3E}">
        <p14:creationId xmlns:p14="http://schemas.microsoft.com/office/powerpoint/2010/main" val="16616560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Speed Test Performance</a:t>
            </a:r>
            <a:br>
              <a:rPr lang="en-US" b="1" dirty="0"/>
            </a:br>
            <a:endParaRPr lang="en-US" dirty="0"/>
          </a:p>
        </p:txBody>
      </p:sp>
      <p:sp>
        <p:nvSpPr>
          <p:cNvPr id="3" name="Content Placeholder 2"/>
          <p:cNvSpPr>
            <a:spLocks noGrp="1"/>
          </p:cNvSpPr>
          <p:nvPr>
            <p:ph idx="1"/>
          </p:nvPr>
        </p:nvSpPr>
        <p:spPr/>
        <p:txBody>
          <a:bodyPr/>
          <a:lstStyle/>
          <a:p>
            <a:r>
              <a:rPr lang="en-US" dirty="0"/>
              <a:t>The expected rate exceeds the claimed rate of the device.</a:t>
            </a:r>
          </a:p>
          <a:p>
            <a:r>
              <a:rPr lang="en-US" dirty="0"/>
              <a:t>The signal quality of the device is poor.</a:t>
            </a:r>
          </a:p>
          <a:p>
            <a:r>
              <a:rPr lang="en-US" dirty="0"/>
              <a:t>The LTE/5G antennas are incorrectly installed or incorrect antennas are used.</a:t>
            </a:r>
          </a:p>
          <a:p>
            <a:r>
              <a:rPr lang="en-US" dirty="0"/>
              <a:t>The network cable and network adapter are not gigabit capable.</a:t>
            </a:r>
          </a:p>
          <a:p>
            <a:r>
              <a:rPr lang="en-US" dirty="0"/>
              <a:t>VPN or another proxy is used on the PC.</a:t>
            </a:r>
          </a:p>
          <a:p>
            <a:r>
              <a:rPr lang="en-US" dirty="0"/>
              <a:t>The speed test software is not properly configured.</a:t>
            </a:r>
          </a:p>
          <a:p>
            <a:r>
              <a:rPr lang="en-US" dirty="0"/>
              <a:t>The actual air interface rate is not calculated based on traffic statistics on the cellular interface.</a:t>
            </a:r>
          </a:p>
          <a:p>
            <a:endParaRPr lang="en-US" dirty="0"/>
          </a:p>
        </p:txBody>
      </p:sp>
    </p:spTree>
    <p:extLst>
      <p:ext uri="{BB962C8B-B14F-4D97-AF65-F5344CB8AC3E}">
        <p14:creationId xmlns:p14="http://schemas.microsoft.com/office/powerpoint/2010/main" val="26690372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5429" y="291797"/>
            <a:ext cx="11533414" cy="1754326"/>
          </a:xfrm>
          <a:prstGeom prst="rect">
            <a:avLst/>
          </a:prstGeom>
        </p:spPr>
        <p:txBody>
          <a:bodyPr wrap="square">
            <a:spAutoFit/>
          </a:bodyPr>
          <a:lstStyle/>
          <a:p>
            <a:r>
              <a:rPr lang="en-US" dirty="0"/>
              <a:t>Procedure</a:t>
            </a:r>
          </a:p>
          <a:p>
            <a:pPr marL="342900" indent="-342900" algn="just">
              <a:buFont typeface="+mj-lt"/>
              <a:buAutoNum type="arabicPeriod"/>
            </a:pPr>
            <a:r>
              <a:rPr lang="en-US" dirty="0" smtClean="0"/>
              <a:t>Check </a:t>
            </a:r>
            <a:r>
              <a:rPr lang="en-US" dirty="0"/>
              <a:t>the claimed rate of the current device in the product documentation. (For details, see Learn about the product, choose Get to Know the Product &gt; Hardware Description &gt; Chassis, and select the corresponding model, interface, and LTE/5G antenna interface.) The claimed rate is the ideal rate for sending traffic through a meter (the feeder of the meter is physically directly connected to the antenna interface of the device, without being affected by signal strength or interference). The actual rate is affected by the environment and may be different from the claimed rate.</a:t>
            </a:r>
          </a:p>
        </p:txBody>
      </p:sp>
      <p:pic>
        <p:nvPicPr>
          <p:cNvPr id="5" name="Picture 4"/>
          <p:cNvPicPr>
            <a:picLocks noChangeAspect="1"/>
          </p:cNvPicPr>
          <p:nvPr/>
        </p:nvPicPr>
        <p:blipFill>
          <a:blip r:embed="rId2"/>
          <a:stretch>
            <a:fillRect/>
          </a:stretch>
        </p:blipFill>
        <p:spPr>
          <a:xfrm>
            <a:off x="1700213" y="2046123"/>
            <a:ext cx="7443787" cy="3432566"/>
          </a:xfrm>
          <a:prstGeom prst="rect">
            <a:avLst/>
          </a:prstGeom>
        </p:spPr>
      </p:pic>
      <p:sp>
        <p:nvSpPr>
          <p:cNvPr id="6" name="Rectangle 5"/>
          <p:cNvSpPr/>
          <p:nvPr/>
        </p:nvSpPr>
        <p:spPr>
          <a:xfrm>
            <a:off x="239485" y="6077635"/>
            <a:ext cx="11729357" cy="369332"/>
          </a:xfrm>
          <a:prstGeom prst="rect">
            <a:avLst/>
          </a:prstGeom>
        </p:spPr>
        <p:txBody>
          <a:bodyPr wrap="square">
            <a:spAutoFit/>
          </a:bodyPr>
          <a:lstStyle/>
          <a:p>
            <a:r>
              <a:rPr lang="en-US" dirty="0" smtClean="0"/>
              <a:t>2. Run </a:t>
            </a:r>
            <a:r>
              <a:rPr lang="en-US" dirty="0"/>
              <a:t>the display cellular interface-number all command on the device to check the signal quality of the LTE/5G interface.</a:t>
            </a:r>
          </a:p>
        </p:txBody>
      </p:sp>
    </p:spTree>
    <p:extLst>
      <p:ext uri="{BB962C8B-B14F-4D97-AF65-F5344CB8AC3E}">
        <p14:creationId xmlns:p14="http://schemas.microsoft.com/office/powerpoint/2010/main" val="19799421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download.huawei.com/mdl/image/download?uuid=37ca69c61fa04dbfb8ca2e327b3e28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1082"/>
            <a:ext cx="12311743" cy="6989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7315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96685" y="167969"/>
            <a:ext cx="6096000" cy="17266265"/>
          </a:xfrm>
          <a:prstGeom prst="rect">
            <a:avLst/>
          </a:prstGeom>
        </p:spPr>
        <p:txBody>
          <a:bodyPr>
            <a:spAutoFit/>
          </a:bodyPr>
          <a:lstStyle/>
          <a:p>
            <a:r>
              <a:rPr lang="en-US" dirty="0"/>
              <a:t>[Huawei] display Cellular 2/0/0 all</a:t>
            </a:r>
          </a:p>
          <a:p>
            <a:r>
              <a:rPr lang="en-US" dirty="0"/>
              <a:t>Modem State:</a:t>
            </a:r>
          </a:p>
          <a:p>
            <a:r>
              <a:rPr lang="en-US" dirty="0"/>
              <a:t>Hardware Information.</a:t>
            </a:r>
          </a:p>
          <a:p>
            <a:r>
              <a:rPr lang="en-US" dirty="0"/>
              <a:t>=====================</a:t>
            </a:r>
          </a:p>
          <a:p>
            <a:r>
              <a:rPr lang="en-US" dirty="0"/>
              <a:t>Model = RG801</a:t>
            </a:r>
          </a:p>
          <a:p>
            <a:r>
              <a:rPr lang="en-US" dirty="0"/>
              <a:t>Modem Type = 5G module</a:t>
            </a:r>
          </a:p>
          <a:p>
            <a:r>
              <a:rPr lang="en-US" dirty="0"/>
              <a:t>Modem Firmware Version = RG801HEAAAR03A03M8G</a:t>
            </a:r>
          </a:p>
          <a:p>
            <a:r>
              <a:rPr lang="en-US" dirty="0"/>
              <a:t>Hardware Version = HiB5000_MODEM </a:t>
            </a:r>
            <a:r>
              <a:rPr lang="en-US" dirty="0" err="1"/>
              <a:t>Ver.A</a:t>
            </a:r>
            <a:endParaRPr lang="en-US" dirty="0"/>
          </a:p>
          <a:p>
            <a:r>
              <a:rPr lang="en-US" dirty="0"/>
              <a:t>Integrate circuit card identity (ICCID) = 98681020100202000060</a:t>
            </a:r>
          </a:p>
          <a:p>
            <a:r>
              <a:rPr lang="en-US" dirty="0"/>
              <a:t>International Mobile Subscriber Identity (IMSI) = 460070075590906</a:t>
            </a:r>
          </a:p>
          <a:p>
            <a:r>
              <a:rPr lang="en-US" dirty="0"/>
              <a:t>Mobile Station International ISDN Number (MSISDN) = None</a:t>
            </a:r>
          </a:p>
          <a:p>
            <a:r>
              <a:rPr lang="en-US" dirty="0"/>
              <a:t>International Mobile Equipment Identity (IMEI) = 867147050004796</a:t>
            </a:r>
          </a:p>
          <a:p>
            <a:r>
              <a:rPr lang="en-US" dirty="0"/>
              <a:t>Factory Serial Number (FSN) = 0123456789ABCDEF</a:t>
            </a:r>
          </a:p>
          <a:p>
            <a:r>
              <a:rPr lang="en-US" dirty="0"/>
              <a:t>Modem Status = Online</a:t>
            </a:r>
          </a:p>
          <a:p>
            <a:r>
              <a:rPr lang="en-US" dirty="0"/>
              <a:t>Profile Information.</a:t>
            </a:r>
          </a:p>
          <a:p>
            <a:r>
              <a:rPr lang="en-US" dirty="0"/>
              <a:t>====================</a:t>
            </a:r>
          </a:p>
          <a:p>
            <a:r>
              <a:rPr lang="en-US" dirty="0"/>
              <a:t>Profile 1</a:t>
            </a:r>
          </a:p>
          <a:p>
            <a:r>
              <a:rPr lang="en-US" dirty="0"/>
              <a:t>--------</a:t>
            </a:r>
          </a:p>
          <a:p>
            <a:r>
              <a:rPr lang="en-US" dirty="0"/>
              <a:t>PDP Type = IPv4, Header Compression = OFF</a:t>
            </a:r>
          </a:p>
          <a:p>
            <a:r>
              <a:rPr lang="en-US" dirty="0"/>
              <a:t>Data Compression = OFF</a:t>
            </a:r>
          </a:p>
          <a:p>
            <a:r>
              <a:rPr lang="en-US" dirty="0"/>
              <a:t>Packet Session Status = Active</a:t>
            </a:r>
          </a:p>
          <a:p>
            <a:r>
              <a:rPr lang="en-US" dirty="0"/>
              <a:t>* - Default profile</a:t>
            </a:r>
          </a:p>
          <a:p>
            <a:r>
              <a:rPr lang="en-US" dirty="0"/>
              <a:t>Network Information.</a:t>
            </a:r>
          </a:p>
          <a:p>
            <a:r>
              <a:rPr lang="en-US" dirty="0"/>
              <a:t>====================</a:t>
            </a:r>
          </a:p>
          <a:p>
            <a:r>
              <a:rPr lang="en-US" dirty="0"/>
              <a:t>Current Service Status = Service available</a:t>
            </a:r>
          </a:p>
          <a:p>
            <a:r>
              <a:rPr lang="en-US" dirty="0"/>
              <a:t>Service Domain = Combined                 </a:t>
            </a:r>
          </a:p>
          <a:p>
            <a:r>
              <a:rPr lang="en-US" dirty="0"/>
              <a:t>Current Service = PS</a:t>
            </a:r>
          </a:p>
          <a:p>
            <a:r>
              <a:rPr lang="en-US" dirty="0"/>
              <a:t>Packet Service = Attached</a:t>
            </a:r>
          </a:p>
          <a:p>
            <a:r>
              <a:rPr lang="en-US" dirty="0"/>
              <a:t>Packet Session Status = Active</a:t>
            </a:r>
          </a:p>
          <a:p>
            <a:r>
              <a:rPr lang="en-US" dirty="0"/>
              <a:t>Current Roaming Status = Roaming</a:t>
            </a:r>
          </a:p>
          <a:p>
            <a:r>
              <a:rPr lang="en-US" dirty="0"/>
              <a:t>Network Selection Mode = Automatic</a:t>
            </a:r>
          </a:p>
          <a:p>
            <a:r>
              <a:rPr lang="en-US" dirty="0"/>
              <a:t>Network Connection Mode = Automatic</a:t>
            </a:r>
          </a:p>
          <a:p>
            <a:r>
              <a:rPr lang="en-US" dirty="0"/>
              <a:t>Current Network Connection = LTE(LTE)</a:t>
            </a:r>
          </a:p>
          <a:p>
            <a:r>
              <a:rPr lang="en-US" dirty="0"/>
              <a:t>Mobile Country Code (MCC) = 369</a:t>
            </a:r>
          </a:p>
          <a:p>
            <a:r>
              <a:rPr lang="en-US" dirty="0"/>
              <a:t>Mobile Network Code (MNC) = 77</a:t>
            </a:r>
          </a:p>
          <a:p>
            <a:r>
              <a:rPr lang="en-US" dirty="0"/>
              <a:t>Mobile Operator Information = Unknown</a:t>
            </a:r>
          </a:p>
          <a:p>
            <a:r>
              <a:rPr lang="en-US" dirty="0"/>
              <a:t>Tracking Area Code (TAC) = 1002</a:t>
            </a:r>
          </a:p>
          <a:p>
            <a:r>
              <a:rPr lang="en-US" dirty="0"/>
              <a:t>Cell ID = 9881858</a:t>
            </a:r>
          </a:p>
          <a:p>
            <a:r>
              <a:rPr lang="en-US" dirty="0"/>
              <a:t>Radio Information.</a:t>
            </a:r>
          </a:p>
          <a:p>
            <a:r>
              <a:rPr lang="en-US" dirty="0"/>
              <a:t>==================</a:t>
            </a:r>
          </a:p>
          <a:p>
            <a:r>
              <a:rPr lang="en-US" dirty="0"/>
              <a:t>Current Bands : AUTO</a:t>
            </a:r>
          </a:p>
          <a:p>
            <a:r>
              <a:rPr lang="en-US" dirty="0"/>
              <a:t>Current Band = B3</a:t>
            </a:r>
          </a:p>
          <a:p>
            <a:r>
              <a:rPr lang="en-US" dirty="0"/>
              <a:t>Current RSSI &gt;= -51 </a:t>
            </a:r>
            <a:r>
              <a:rPr lang="en-US" dirty="0" err="1"/>
              <a:t>dBm</a:t>
            </a:r>
            <a:endParaRPr lang="en-US" dirty="0"/>
          </a:p>
          <a:p>
            <a:r>
              <a:rPr lang="en-US" dirty="0"/>
              <a:t>Current RSRP = -70 </a:t>
            </a:r>
            <a:r>
              <a:rPr lang="en-US" dirty="0" err="1"/>
              <a:t>dBm</a:t>
            </a:r>
            <a:r>
              <a:rPr lang="en-US" dirty="0"/>
              <a:t> (strong)</a:t>
            </a:r>
          </a:p>
          <a:p>
            <a:r>
              <a:rPr lang="en-US" dirty="0"/>
              <a:t>Current RSRQ = -4 dB</a:t>
            </a:r>
          </a:p>
          <a:p>
            <a:r>
              <a:rPr lang="en-US" dirty="0"/>
              <a:t>Current SINR = 24 dB</a:t>
            </a:r>
          </a:p>
          <a:p>
            <a:r>
              <a:rPr lang="en-US" dirty="0"/>
              <a:t>Bands supported :</a:t>
            </a:r>
          </a:p>
          <a:p>
            <a:r>
              <a:rPr lang="en-US" dirty="0"/>
              <a:t>  WCDMA: WCDMA850 WCDMA900 WCDMA2100</a:t>
            </a:r>
          </a:p>
          <a:p>
            <a:r>
              <a:rPr lang="en-US" dirty="0"/>
              <a:t>  FDD LTE: B1 B3 B5 B7 B8 B20 B28</a:t>
            </a:r>
          </a:p>
          <a:p>
            <a:r>
              <a:rPr lang="en-US" dirty="0"/>
              <a:t>  TDD LTE: B34 B38 B39 B40 B41            </a:t>
            </a:r>
          </a:p>
          <a:p>
            <a:r>
              <a:rPr lang="en-US" dirty="0"/>
              <a:t>  FDD NR: N1 N3 N28</a:t>
            </a:r>
          </a:p>
          <a:p>
            <a:r>
              <a:rPr lang="en-US" dirty="0"/>
              <a:t>  TDD NR: N41 N77 N78 N79</a:t>
            </a:r>
          </a:p>
          <a:p>
            <a:r>
              <a:rPr lang="en-US" dirty="0"/>
              <a:t>Modem Security Information.</a:t>
            </a:r>
          </a:p>
          <a:p>
            <a:r>
              <a:rPr lang="en-US" dirty="0"/>
              <a:t>===========================</a:t>
            </a:r>
          </a:p>
          <a:p>
            <a:r>
              <a:rPr lang="en-US" dirty="0"/>
              <a:t>SIM ID = 1</a:t>
            </a:r>
          </a:p>
          <a:p>
            <a:r>
              <a:rPr lang="en-US" dirty="0"/>
              <a:t>PIN Verification = Disabled</a:t>
            </a:r>
          </a:p>
          <a:p>
            <a:r>
              <a:rPr lang="en-US" dirty="0"/>
              <a:t>PIN Status = Ready</a:t>
            </a:r>
          </a:p>
          <a:p>
            <a:r>
              <a:rPr lang="en-US" dirty="0"/>
              <a:t>Number of Retries remaining = 3</a:t>
            </a:r>
          </a:p>
          <a:p>
            <a:r>
              <a:rPr lang="en-US" dirty="0"/>
              <a:t>SIM Status = OK</a:t>
            </a:r>
          </a:p>
        </p:txBody>
      </p:sp>
    </p:spTree>
    <p:extLst>
      <p:ext uri="{BB962C8B-B14F-4D97-AF65-F5344CB8AC3E}">
        <p14:creationId xmlns:p14="http://schemas.microsoft.com/office/powerpoint/2010/main" val="8058405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6443" y="0"/>
            <a:ext cx="11517086" cy="7017306"/>
          </a:xfrm>
          <a:prstGeom prst="rect">
            <a:avLst/>
          </a:prstGeom>
        </p:spPr>
        <p:txBody>
          <a:bodyPr wrap="square">
            <a:spAutoFit/>
          </a:bodyPr>
          <a:lstStyle/>
          <a:p>
            <a:pPr>
              <a:buFont typeface="+mj-lt"/>
              <a:buAutoNum type="arabicPeriod"/>
            </a:pPr>
            <a:r>
              <a:rPr lang="en-US" dirty="0">
                <a:solidFill>
                  <a:srgbClr val="494949"/>
                </a:solidFill>
                <a:latin typeface="LT_regular"/>
              </a:rPr>
              <a:t>Pay attention to the following parameters:</a:t>
            </a:r>
          </a:p>
          <a:p>
            <a:pPr marL="742950" lvl="1" indent="-285750">
              <a:buFont typeface="+mj-lt"/>
              <a:buAutoNum type="arabicPeriod"/>
            </a:pPr>
            <a:r>
              <a:rPr lang="en-US" b="1" dirty="0">
                <a:solidFill>
                  <a:srgbClr val="494949"/>
                </a:solidFill>
                <a:latin typeface="LT_regular"/>
              </a:rPr>
              <a:t>Current Network Connection</a:t>
            </a:r>
            <a:r>
              <a:rPr lang="en-US" dirty="0">
                <a:solidFill>
                  <a:srgbClr val="494949"/>
                </a:solidFill>
                <a:latin typeface="LT_regular"/>
              </a:rPr>
              <a:t>: indicates the type of the currently connected network, for example, LTE, 5GSA, or 5GNSA. Check whether it meets the customer's requirements.</a:t>
            </a:r>
          </a:p>
          <a:p>
            <a:pPr marL="742950" lvl="1" indent="-285750">
              <a:buFont typeface="+mj-lt"/>
              <a:buAutoNum type="arabicPeriod"/>
            </a:pPr>
            <a:r>
              <a:rPr lang="en-US" b="1" dirty="0">
                <a:solidFill>
                  <a:srgbClr val="494949"/>
                </a:solidFill>
                <a:latin typeface="LT_regular"/>
              </a:rPr>
              <a:t>Cell ID = 9881858</a:t>
            </a:r>
            <a:r>
              <a:rPr lang="en-US" dirty="0">
                <a:solidFill>
                  <a:srgbClr val="494949"/>
                </a:solidFill>
                <a:latin typeface="LT_regular"/>
              </a:rPr>
              <a:t>: indicates the cell ID of a base station. During a comparison test, ensure that the cell IDs of the tested devices are the same.</a:t>
            </a:r>
          </a:p>
          <a:p>
            <a:pPr marL="742950" lvl="1" indent="-285750">
              <a:buFont typeface="+mj-lt"/>
              <a:buAutoNum type="arabicPeriod"/>
            </a:pPr>
            <a:r>
              <a:rPr lang="en-US" b="1" dirty="0">
                <a:solidFill>
                  <a:srgbClr val="494949"/>
                </a:solidFill>
                <a:latin typeface="LT_regular"/>
              </a:rPr>
              <a:t>Current Band</a:t>
            </a:r>
            <a:r>
              <a:rPr lang="en-US" dirty="0">
                <a:solidFill>
                  <a:srgbClr val="494949"/>
                </a:solidFill>
                <a:latin typeface="LT_regular"/>
              </a:rPr>
              <a:t>: indicates the frequency band in use. During a comparison test, ensure that the frequency bands used by the tested devices are the same.</a:t>
            </a:r>
          </a:p>
          <a:p>
            <a:pPr marL="742950" lvl="1" indent="-285750">
              <a:buFont typeface="+mj-lt"/>
              <a:buAutoNum type="arabicPeriod"/>
            </a:pPr>
            <a:r>
              <a:rPr lang="en-US" b="1" dirty="0">
                <a:solidFill>
                  <a:srgbClr val="494949"/>
                </a:solidFill>
                <a:latin typeface="LT_regular"/>
              </a:rPr>
              <a:t>Current RSSI</a:t>
            </a:r>
            <a:r>
              <a:rPr lang="en-US" dirty="0">
                <a:solidFill>
                  <a:srgbClr val="494949"/>
                </a:solidFill>
                <a:latin typeface="LT_regular"/>
              </a:rPr>
              <a:t>: indicates the received signal strength indication (RSSI). In the speed test environment, the RSSI must be greater than or equal to -65 </a:t>
            </a:r>
            <a:r>
              <a:rPr lang="en-US" dirty="0" err="1">
                <a:solidFill>
                  <a:srgbClr val="494949"/>
                </a:solidFill>
                <a:latin typeface="LT_regular"/>
              </a:rPr>
              <a:t>dBm</a:t>
            </a:r>
            <a:r>
              <a:rPr lang="en-US" dirty="0">
                <a:solidFill>
                  <a:srgbClr val="494949"/>
                </a:solidFill>
                <a:latin typeface="LT_regular"/>
              </a:rPr>
              <a:t>.</a:t>
            </a:r>
          </a:p>
          <a:p>
            <a:pPr marL="742950" lvl="1" indent="-285750">
              <a:buFont typeface="+mj-lt"/>
              <a:buAutoNum type="arabicPeriod"/>
            </a:pPr>
            <a:r>
              <a:rPr lang="en-US" b="1" dirty="0">
                <a:solidFill>
                  <a:srgbClr val="494949"/>
                </a:solidFill>
                <a:latin typeface="LT_regular"/>
              </a:rPr>
              <a:t>Current RSRP</a:t>
            </a:r>
            <a:r>
              <a:rPr lang="en-US" dirty="0">
                <a:solidFill>
                  <a:srgbClr val="494949"/>
                </a:solidFill>
                <a:latin typeface="LT_regular"/>
              </a:rPr>
              <a:t>: indicates the reference signal received power (RSRP). In the speed test environment, the RSRP must be greater than or equal to -85 </a:t>
            </a:r>
            <a:r>
              <a:rPr lang="en-US" dirty="0" err="1">
                <a:solidFill>
                  <a:srgbClr val="494949"/>
                </a:solidFill>
                <a:latin typeface="LT_regular"/>
              </a:rPr>
              <a:t>dBm</a:t>
            </a:r>
            <a:r>
              <a:rPr lang="en-US" dirty="0">
                <a:solidFill>
                  <a:srgbClr val="494949"/>
                </a:solidFill>
                <a:latin typeface="LT_regular"/>
              </a:rPr>
              <a:t>.</a:t>
            </a:r>
          </a:p>
          <a:p>
            <a:pPr marL="742950" lvl="1" indent="-285750">
              <a:buFont typeface="+mj-lt"/>
              <a:buAutoNum type="arabicPeriod"/>
            </a:pPr>
            <a:r>
              <a:rPr lang="en-US" b="1" dirty="0">
                <a:solidFill>
                  <a:srgbClr val="494949"/>
                </a:solidFill>
                <a:latin typeface="LT_regular"/>
              </a:rPr>
              <a:t>Current SINR</a:t>
            </a:r>
            <a:r>
              <a:rPr lang="en-US" dirty="0">
                <a:solidFill>
                  <a:srgbClr val="494949"/>
                </a:solidFill>
                <a:latin typeface="LT_regular"/>
              </a:rPr>
              <a:t>: indicates the signal to interference plus noise ratio (SINR). In the speed test environment, the SINR must be greater than or equal to 20 </a:t>
            </a:r>
            <a:r>
              <a:rPr lang="en-US" dirty="0" err="1">
                <a:solidFill>
                  <a:srgbClr val="494949"/>
                </a:solidFill>
                <a:latin typeface="LT_regular"/>
              </a:rPr>
              <a:t>dB.</a:t>
            </a:r>
            <a:endParaRPr lang="en-US" dirty="0">
              <a:solidFill>
                <a:srgbClr val="494949"/>
              </a:solidFill>
              <a:latin typeface="LT_regular"/>
            </a:endParaRPr>
          </a:p>
          <a:p>
            <a:pPr>
              <a:buFont typeface="+mj-lt"/>
              <a:buAutoNum type="arabicPeriod"/>
            </a:pPr>
            <a:r>
              <a:rPr lang="en-US" dirty="0">
                <a:solidFill>
                  <a:srgbClr val="494949"/>
                </a:solidFill>
                <a:latin typeface="LT_regular"/>
              </a:rPr>
              <a:t>Check whether LTE/5G antennas are installed. Pay attention to the following points:</a:t>
            </a:r>
          </a:p>
          <a:p>
            <a:pPr marL="742950" lvl="1" indent="-285750">
              <a:buFont typeface="+mj-lt"/>
              <a:buAutoNum type="arabicPeriod"/>
            </a:pPr>
            <a:r>
              <a:rPr lang="en-US" dirty="0">
                <a:solidFill>
                  <a:srgbClr val="494949"/>
                </a:solidFill>
                <a:latin typeface="LT_regular"/>
              </a:rPr>
              <a:t>The AR617 has two Wi-Fi antennas, and two LTE antennas need to be installed.</a:t>
            </a:r>
          </a:p>
          <a:p>
            <a:pPr marL="742950" lvl="1" indent="-285750">
              <a:buFont typeface="+mj-lt"/>
              <a:buAutoNum type="arabicPeriod"/>
            </a:pPr>
            <a:r>
              <a:rPr lang="en-US" dirty="0">
                <a:solidFill>
                  <a:srgbClr val="494949"/>
                </a:solidFill>
                <a:latin typeface="LT_regular"/>
              </a:rPr>
              <a:t>5G antennas are different from LTE antennas and cannot be interchanged.</a:t>
            </a:r>
          </a:p>
          <a:p>
            <a:pPr marL="742950" lvl="1" indent="-285750">
              <a:buFont typeface="+mj-lt"/>
              <a:buAutoNum type="arabicPeriod"/>
            </a:pPr>
            <a:r>
              <a:rPr lang="en-US" dirty="0">
                <a:solidFill>
                  <a:srgbClr val="494949"/>
                </a:solidFill>
                <a:latin typeface="LT_regular"/>
              </a:rPr>
              <a:t>LTE antennas and Wi-Fi antennas are different and cannot be interchanged.</a:t>
            </a:r>
          </a:p>
          <a:p>
            <a:pPr>
              <a:buFont typeface="+mj-lt"/>
              <a:buAutoNum type="arabicPeriod"/>
            </a:pPr>
            <a:r>
              <a:rPr lang="en-US" dirty="0">
                <a:solidFill>
                  <a:srgbClr val="494949"/>
                </a:solidFill>
                <a:latin typeface="LT_regular"/>
              </a:rPr>
              <a:t>Improve signal quality.</a:t>
            </a:r>
          </a:p>
          <a:p>
            <a:pPr marL="742950" lvl="1" indent="-285750">
              <a:buFont typeface="+mj-lt"/>
              <a:buAutoNum type="arabicPeriod"/>
            </a:pPr>
            <a:r>
              <a:rPr lang="en-US" dirty="0">
                <a:solidFill>
                  <a:srgbClr val="494949"/>
                </a:solidFill>
                <a:latin typeface="LT_regular"/>
              </a:rPr>
              <a:t>Adjust the antenna direction towards an open area.</a:t>
            </a:r>
          </a:p>
          <a:p>
            <a:pPr marL="742950" lvl="1" indent="-285750">
              <a:buFont typeface="+mj-lt"/>
              <a:buAutoNum type="arabicPeriod"/>
            </a:pPr>
            <a:r>
              <a:rPr lang="en-US" dirty="0">
                <a:solidFill>
                  <a:srgbClr val="494949"/>
                </a:solidFill>
                <a:latin typeface="LT_regular"/>
              </a:rPr>
              <a:t>Adjust the device location or replace antennas with indoor/outdoor remote antennas, and keep the device and antennas away from signal interference sources (such as power supplies, metal, and other signal generators).</a:t>
            </a:r>
          </a:p>
          <a:p>
            <a:pPr>
              <a:buFont typeface="+mj-lt"/>
              <a:buAutoNum type="arabicPeriod"/>
            </a:pPr>
            <a:r>
              <a:rPr lang="en-US" dirty="0">
                <a:solidFill>
                  <a:srgbClr val="494949"/>
                </a:solidFill>
                <a:latin typeface="LT_regular"/>
              </a:rPr>
              <a:t>Ensure that the network cable and network adapter are gigabit capable when the device is connected to a PC. The Ethernet network speed on a Windows PC is for reference only. You are advised to perform a speed test in the wired network environment.</a:t>
            </a:r>
            <a:endParaRPr lang="en-US" b="0" i="0" dirty="0">
              <a:solidFill>
                <a:srgbClr val="494949"/>
              </a:solidFill>
              <a:effectLst/>
              <a:latin typeface="LT_regular"/>
            </a:endParaRPr>
          </a:p>
        </p:txBody>
      </p:sp>
    </p:spTree>
    <p:extLst>
      <p:ext uri="{BB962C8B-B14F-4D97-AF65-F5344CB8AC3E}">
        <p14:creationId xmlns:p14="http://schemas.microsoft.com/office/powerpoint/2010/main" val="21414759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73742" y="1170213"/>
            <a:ext cx="7443787" cy="5413663"/>
          </a:xfrm>
          <a:prstGeom prst="rect">
            <a:avLst/>
          </a:prstGeom>
        </p:spPr>
      </p:pic>
    </p:spTree>
    <p:extLst>
      <p:ext uri="{BB962C8B-B14F-4D97-AF65-F5344CB8AC3E}">
        <p14:creationId xmlns:p14="http://schemas.microsoft.com/office/powerpoint/2010/main" val="38192419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Thx you</a:t>
            </a:r>
            <a:endParaRPr lang="en-US" dirty="0"/>
          </a:p>
        </p:txBody>
      </p:sp>
    </p:spTree>
    <p:extLst>
      <p:ext uri="{BB962C8B-B14F-4D97-AF65-F5344CB8AC3E}">
        <p14:creationId xmlns:p14="http://schemas.microsoft.com/office/powerpoint/2010/main" val="2509510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9821</TotalTime>
  <Words>1666</Words>
  <Application>Microsoft Office PowerPoint</Application>
  <PresentationFormat>Widescreen</PresentationFormat>
  <Paragraphs>162</Paragraphs>
  <Slides>20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Malgun Gothic</vt:lpstr>
      <vt:lpstr>Arial</vt:lpstr>
      <vt:lpstr>Calibri</vt:lpstr>
      <vt:lpstr>Calibri Light</vt:lpstr>
      <vt:lpstr>LT_regular</vt:lpstr>
      <vt:lpstr>Office Theme</vt:lpstr>
      <vt:lpstr>PowerPoint Presentation</vt:lpstr>
      <vt:lpstr>Starlink and IoT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Speed Test Performance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Gde</cp:lastModifiedBy>
  <cp:revision>88</cp:revision>
  <dcterms:created xsi:type="dcterms:W3CDTF">2022-08-25T13:17:53Z</dcterms:created>
  <dcterms:modified xsi:type="dcterms:W3CDTF">2025-02-25T06:46:00Z</dcterms:modified>
</cp:coreProperties>
</file>