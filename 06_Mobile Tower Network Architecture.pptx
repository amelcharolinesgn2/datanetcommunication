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7" r:id="rId1"/>
  </p:sldMasterIdLst>
  <p:notesMasterIdLst>
    <p:notesMasterId r:id="rId17"/>
  </p:notesMasterIdLst>
  <p:sldIdLst>
    <p:sldId id="277" r:id="rId2"/>
    <p:sldId id="275" r:id="rId3"/>
    <p:sldId id="278" r:id="rId4"/>
    <p:sldId id="276" r:id="rId5"/>
    <p:sldId id="279" r:id="rId6"/>
    <p:sldId id="281" r:id="rId7"/>
    <p:sldId id="282" r:id="rId8"/>
    <p:sldId id="283" r:id="rId9"/>
    <p:sldId id="284" r:id="rId10"/>
    <p:sldId id="285" r:id="rId11"/>
    <p:sldId id="286" r:id="rId12"/>
    <p:sldId id="287" r:id="rId13"/>
    <p:sldId id="299" r:id="rId14"/>
    <p:sldId id="280" r:id="rId15"/>
    <p:sldId id="27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1A96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31"/>
    <p:restoredTop sz="94424" autoAdjust="0"/>
  </p:normalViewPr>
  <p:slideViewPr>
    <p:cSldViewPr snapToGrid="0">
      <p:cViewPr>
        <p:scale>
          <a:sx n="70" d="100"/>
          <a:sy n="70" d="100"/>
        </p:scale>
        <p:origin x="1788" y="9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AD89A-DE75-490E-B3B8-DA645685EB5B}" type="datetimeFigureOut">
              <a:rPr lang="en-US" smtClean="0"/>
              <a:t>10/4/2024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2648F-4152-4278-B136-F77E8E2B334A}" type="slidenum">
              <a:rPr lang="en-US" smtClean="0"/>
              <a:t>‹#›</a:t>
            </a:fld>
            <a:endParaRPr lang="en-US"/>
          </a:p>
        </p:txBody>
      </p:sp>
    </p:spTree>
    <p:extLst>
      <p:ext uri="{BB962C8B-B14F-4D97-AF65-F5344CB8AC3E}">
        <p14:creationId xmlns:p14="http://schemas.microsoft.com/office/powerpoint/2010/main" val="2594728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a:t>
            </a:fld>
            <a:endParaRPr lang="en-US"/>
          </a:p>
        </p:txBody>
      </p:sp>
    </p:spTree>
    <p:extLst>
      <p:ext uri="{BB962C8B-B14F-4D97-AF65-F5344CB8AC3E}">
        <p14:creationId xmlns:p14="http://schemas.microsoft.com/office/powerpoint/2010/main" val="2801220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a:t>
            </a:fld>
            <a:endParaRPr lang="en-US"/>
          </a:p>
        </p:txBody>
      </p:sp>
    </p:spTree>
    <p:extLst>
      <p:ext uri="{BB962C8B-B14F-4D97-AF65-F5344CB8AC3E}">
        <p14:creationId xmlns:p14="http://schemas.microsoft.com/office/powerpoint/2010/main" val="5712391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3</a:t>
            </a:fld>
            <a:endParaRPr lang="en-US"/>
          </a:p>
        </p:txBody>
      </p:sp>
    </p:spTree>
    <p:extLst>
      <p:ext uri="{BB962C8B-B14F-4D97-AF65-F5344CB8AC3E}">
        <p14:creationId xmlns:p14="http://schemas.microsoft.com/office/powerpoint/2010/main" val="1070231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4</a:t>
            </a:fld>
            <a:endParaRPr lang="en-US"/>
          </a:p>
        </p:txBody>
      </p:sp>
    </p:spTree>
    <p:extLst>
      <p:ext uri="{BB962C8B-B14F-4D97-AF65-F5344CB8AC3E}">
        <p14:creationId xmlns:p14="http://schemas.microsoft.com/office/powerpoint/2010/main" val="7404679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13</a:t>
            </a:fld>
            <a:endParaRPr lang="en-US"/>
          </a:p>
        </p:txBody>
      </p:sp>
    </p:spTree>
    <p:extLst>
      <p:ext uri="{BB962C8B-B14F-4D97-AF65-F5344CB8AC3E}">
        <p14:creationId xmlns:p14="http://schemas.microsoft.com/office/powerpoint/2010/main" val="1133478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https://red-colmena.com/f/JyY1ajY1JmhhZSFpdC91JGcmIyEsYGU/18/08/cw_5g_training_v3_slides.pdf</a:t>
            </a:r>
          </a:p>
          <a:p>
            <a:r>
              <a:rPr lang="en-US" dirty="0" smtClean="0"/>
              <a:t>https://www.youtube.com/watch?v=vF2fV_gJ81g</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15</a:t>
            </a:fld>
            <a:endParaRPr lang="en-US"/>
          </a:p>
        </p:txBody>
      </p:sp>
    </p:spTree>
    <p:extLst>
      <p:ext uri="{BB962C8B-B14F-4D97-AF65-F5344CB8AC3E}">
        <p14:creationId xmlns:p14="http://schemas.microsoft.com/office/powerpoint/2010/main" val="3887511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64259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41384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682307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6D41BCC-AD73-4203-A5A6-E62EB28B0FE6}"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101473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6D41BCC-AD73-4203-A5A6-E62EB28B0FE6}" type="datetimeFigureOut">
              <a:rPr lang="en-US" smtClean="0"/>
              <a:t>10/4/2024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017328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D41BCC-AD73-4203-A5A6-E62EB28B0FE6}" type="datetimeFigureOut">
              <a:rPr lang="en-US" smtClean="0"/>
              <a:t>10/4/2024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815687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D41BCC-AD73-4203-A5A6-E62EB28B0FE6}" type="datetimeFigureOut">
              <a:rPr lang="en-US" smtClean="0"/>
              <a:t>10/4/2024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972406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414349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35635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060920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440342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D41BCC-AD73-4203-A5A6-E62EB28B0FE6}" type="datetimeFigureOut">
              <a:rPr lang="en-US" smtClean="0"/>
              <a:pPr/>
              <a:t>10/4/2024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7F8FC-4B86-4690-8888-22AB2F781BEF}" type="slidenum">
              <a:rPr lang="en-US" smtClean="0"/>
              <a:pPr/>
              <a:t>‹#›</a:t>
            </a:fld>
            <a:endParaRPr lang="en-US"/>
          </a:p>
        </p:txBody>
      </p:sp>
    </p:spTree>
    <p:extLst>
      <p:ext uri="{BB962C8B-B14F-4D97-AF65-F5344CB8AC3E}">
        <p14:creationId xmlns:p14="http://schemas.microsoft.com/office/powerpoint/2010/main" val="870605483"/>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AABCB87-2ECC-4C03-B5BB-6EE11C8A4485}"/>
              </a:ext>
            </a:extLst>
          </p:cNvPr>
          <p:cNvGrpSpPr/>
          <p:nvPr/>
        </p:nvGrpSpPr>
        <p:grpSpPr>
          <a:xfrm>
            <a:off x="81969" y="1169978"/>
            <a:ext cx="3064025" cy="1516520"/>
            <a:chOff x="4853562" y="1589418"/>
            <a:chExt cx="2609520" cy="1291565"/>
          </a:xfrm>
        </p:grpSpPr>
        <p:sp>
          <p:nvSpPr>
            <p:cNvPr id="5" name="Freeform 7">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6" name="Freeform 7">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sp>
        <p:nvSpPr>
          <p:cNvPr id="7" name="Subtitle 2">
            <a:extLst>
              <a:ext uri="{FF2B5EF4-FFF2-40B4-BE49-F238E27FC236}">
                <a16:creationId xmlns:a16="http://schemas.microsoft.com/office/drawing/2014/main" id="{53858C97-DA2F-8866-47CC-CDF4077BBF9D}"/>
              </a:ext>
            </a:extLst>
          </p:cNvPr>
          <p:cNvSpPr txBox="1">
            <a:spLocks/>
          </p:cNvSpPr>
          <p:nvPr/>
        </p:nvSpPr>
        <p:spPr>
          <a:xfrm>
            <a:off x="1240372" y="1978213"/>
            <a:ext cx="1084947"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smtClean="0">
                <a:solidFill>
                  <a:srgbClr val="7030A0"/>
                </a:solidFill>
              </a:rPr>
              <a:t>PDS</a:t>
            </a:r>
            <a:endParaRPr lang="en-US" sz="1600" dirty="0">
              <a:solidFill>
                <a:srgbClr val="7030A0"/>
              </a:solidFill>
            </a:endParaRPr>
          </a:p>
        </p:txBody>
      </p:sp>
      <p:grpSp>
        <p:nvGrpSpPr>
          <p:cNvPr id="8" name="Group 7">
            <a:extLst>
              <a:ext uri="{FF2B5EF4-FFF2-40B4-BE49-F238E27FC236}">
                <a16:creationId xmlns:a16="http://schemas.microsoft.com/office/drawing/2014/main" id="{AB8BC7BC-BF58-402E-9A69-AA9226DE7CAA}"/>
              </a:ext>
            </a:extLst>
          </p:cNvPr>
          <p:cNvGrpSpPr/>
          <p:nvPr/>
        </p:nvGrpSpPr>
        <p:grpSpPr>
          <a:xfrm>
            <a:off x="1115772" y="1747410"/>
            <a:ext cx="1334145" cy="620384"/>
            <a:chOff x="7729280" y="2195997"/>
            <a:chExt cx="2143740" cy="996849"/>
          </a:xfrm>
          <a:solidFill>
            <a:schemeClr val="accent6"/>
          </a:solidFill>
        </p:grpSpPr>
        <p:sp>
          <p:nvSpPr>
            <p:cNvPr id="9"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0"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Rectangle 13"/>
          <p:cNvSpPr/>
          <p:nvPr/>
        </p:nvSpPr>
        <p:spPr>
          <a:xfrm>
            <a:off x="0" y="-24049"/>
            <a:ext cx="12010030" cy="461665"/>
          </a:xfrm>
          <a:prstGeom prst="rect">
            <a:avLst/>
          </a:prstGeom>
        </p:spPr>
        <p:txBody>
          <a:bodyPr wrap="square">
            <a:spAutoFit/>
          </a:bodyPr>
          <a:lstStyle/>
          <a:p>
            <a:r>
              <a:rPr lang="en-US" sz="2400" b="1" dirty="0">
                <a:solidFill>
                  <a:srgbClr val="002060"/>
                </a:solidFill>
              </a:rPr>
              <a:t>Cisco Packet </a:t>
            </a:r>
            <a:r>
              <a:rPr lang="en-US" sz="2400" b="1" dirty="0" smtClean="0">
                <a:solidFill>
                  <a:srgbClr val="002060"/>
                </a:solidFill>
              </a:rPr>
              <a:t>Tracer: </a:t>
            </a:r>
            <a:r>
              <a:rPr lang="en-US" sz="2400" b="1" dirty="0" smtClean="0">
                <a:solidFill>
                  <a:srgbClr val="00B0F0"/>
                </a:solidFill>
              </a:rPr>
              <a:t>Mobile Tower Network 5G LTE Tech</a:t>
            </a:r>
            <a:endParaRPr lang="en-US" sz="2000" b="1" dirty="0">
              <a:solidFill>
                <a:srgbClr val="7030A0"/>
              </a:solidFill>
            </a:endParaRPr>
          </a:p>
        </p:txBody>
      </p:sp>
      <p:pic>
        <p:nvPicPr>
          <p:cNvPr id="20" name="Picture 19"/>
          <p:cNvPicPr>
            <a:picLocks noChangeAspect="1"/>
          </p:cNvPicPr>
          <p:nvPr/>
        </p:nvPicPr>
        <p:blipFill>
          <a:blip r:embed="rId3"/>
          <a:stretch>
            <a:fillRect/>
          </a:stretch>
        </p:blipFill>
        <p:spPr>
          <a:xfrm>
            <a:off x="607197" y="3322733"/>
            <a:ext cx="2174018" cy="1630514"/>
          </a:xfrm>
          <a:prstGeom prst="rect">
            <a:avLst/>
          </a:prstGeom>
        </p:spPr>
      </p:pic>
      <p:pic>
        <p:nvPicPr>
          <p:cNvPr id="22" name="Picture 21"/>
          <p:cNvPicPr>
            <a:picLocks noChangeAspect="1"/>
          </p:cNvPicPr>
          <p:nvPr/>
        </p:nvPicPr>
        <p:blipFill>
          <a:blip r:embed="rId4"/>
          <a:stretch>
            <a:fillRect/>
          </a:stretch>
        </p:blipFill>
        <p:spPr>
          <a:xfrm>
            <a:off x="864610" y="4953247"/>
            <a:ext cx="1659191" cy="1726489"/>
          </a:xfrm>
          <a:prstGeom prst="rect">
            <a:avLst/>
          </a:prstGeom>
        </p:spPr>
      </p:pic>
      <p:sp>
        <p:nvSpPr>
          <p:cNvPr id="26" name="Rectangle 25"/>
          <p:cNvSpPr/>
          <p:nvPr/>
        </p:nvSpPr>
        <p:spPr>
          <a:xfrm>
            <a:off x="3439984" y="3314513"/>
            <a:ext cx="8201555" cy="3139321"/>
          </a:xfrm>
          <a:prstGeom prst="rect">
            <a:avLst/>
          </a:prstGeom>
        </p:spPr>
        <p:txBody>
          <a:bodyPr wrap="square">
            <a:spAutoFit/>
          </a:bodyPr>
          <a:lstStyle/>
          <a:p>
            <a:r>
              <a:rPr lang="en-US" dirty="0"/>
              <a:t> </a:t>
            </a:r>
            <a:r>
              <a:rPr lang="en-US" dirty="0" smtClean="0"/>
              <a:t>Three </a:t>
            </a:r>
            <a:r>
              <a:rPr lang="en-US" dirty="0"/>
              <a:t>frequency bands at the core of 5G networks:</a:t>
            </a:r>
          </a:p>
          <a:p>
            <a:pPr marL="285750" indent="-285750" algn="just">
              <a:buFont typeface="Wingdings" panose="05000000000000000000" pitchFamily="2" charset="2"/>
              <a:buChar char="q"/>
            </a:pPr>
            <a:r>
              <a:rPr lang="en-US" dirty="0"/>
              <a:t>5G high-band (</a:t>
            </a:r>
            <a:r>
              <a:rPr lang="en-US" dirty="0" err="1"/>
              <a:t>mmWave</a:t>
            </a:r>
            <a:r>
              <a:rPr lang="en-US" dirty="0"/>
              <a:t>) delivers the highest frequencies of 5G. These range from 24 GHz to approximately 100 GHz. Because high frequencies cannot easily move through obstacles, high-band 5G is short range by nature. Moreover, </a:t>
            </a:r>
            <a:r>
              <a:rPr lang="en-US" dirty="0" err="1"/>
              <a:t>mmWave</a:t>
            </a:r>
            <a:r>
              <a:rPr lang="en-US" dirty="0"/>
              <a:t> coverage is limited and requires more cellular infrastructure.</a:t>
            </a:r>
          </a:p>
          <a:p>
            <a:pPr marL="285750" indent="-285750" algn="just">
              <a:buFont typeface="Wingdings" panose="05000000000000000000" pitchFamily="2" charset="2"/>
              <a:buChar char="q"/>
            </a:pPr>
            <a:r>
              <a:rPr lang="en-US" dirty="0"/>
              <a:t>5G mid-band operates in the 2-6 GHz range and provides a capacity layer for urban and suburban areas. This frequency band has peak rates in the hundreds of Mbps.</a:t>
            </a:r>
          </a:p>
          <a:p>
            <a:pPr marL="285750" indent="-285750" algn="just">
              <a:buFont typeface="Wingdings" panose="05000000000000000000" pitchFamily="2" charset="2"/>
              <a:buChar char="q"/>
            </a:pPr>
            <a:r>
              <a:rPr lang="en-US" dirty="0"/>
              <a:t>5G low-band operates below 2 GHz and provides a broad coverage. This band uses spectrum that is available and in use today for 4G LTE, essentially providing an LTE 5g architecture for 5G devices that are ready now. Performance of low-band 5G is therefore similar to 4G LTE, and supports use for 5G devices on the market today.</a:t>
            </a:r>
          </a:p>
        </p:txBody>
      </p:sp>
      <p:pic>
        <p:nvPicPr>
          <p:cNvPr id="27" name="Picture 26"/>
          <p:cNvPicPr>
            <a:picLocks noChangeAspect="1"/>
          </p:cNvPicPr>
          <p:nvPr/>
        </p:nvPicPr>
        <p:blipFill>
          <a:blip r:embed="rId5"/>
          <a:stretch>
            <a:fillRect/>
          </a:stretch>
        </p:blipFill>
        <p:spPr>
          <a:xfrm>
            <a:off x="3736815" y="604685"/>
            <a:ext cx="5108812" cy="2718048"/>
          </a:xfrm>
          <a:prstGeom prst="rect">
            <a:avLst/>
          </a:prstGeom>
        </p:spPr>
      </p:pic>
      <p:sp>
        <p:nvSpPr>
          <p:cNvPr id="2" name="Rectangle 1"/>
          <p:cNvSpPr/>
          <p:nvPr/>
        </p:nvSpPr>
        <p:spPr>
          <a:xfrm>
            <a:off x="81969" y="469249"/>
            <a:ext cx="4929363" cy="369332"/>
          </a:xfrm>
          <a:prstGeom prst="rect">
            <a:avLst/>
          </a:prstGeom>
        </p:spPr>
        <p:txBody>
          <a:bodyPr wrap="none">
            <a:spAutoFit/>
          </a:bodyPr>
          <a:lstStyle/>
          <a:p>
            <a:r>
              <a:rPr lang="en-US" dirty="0"/>
              <a:t>https://www.youtube.com/watch?v=vuO7QuaKLIg</a:t>
            </a:r>
          </a:p>
        </p:txBody>
      </p:sp>
    </p:spTree>
    <p:extLst>
      <p:ext uri="{BB962C8B-B14F-4D97-AF65-F5344CB8AC3E}">
        <p14:creationId xmlns:p14="http://schemas.microsoft.com/office/powerpoint/2010/main" val="717908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AABCB87-2ECC-4C03-B5BB-6EE11C8A4485}"/>
              </a:ext>
            </a:extLst>
          </p:cNvPr>
          <p:cNvGrpSpPr/>
          <p:nvPr/>
        </p:nvGrpSpPr>
        <p:grpSpPr>
          <a:xfrm>
            <a:off x="81969" y="1169978"/>
            <a:ext cx="3064025" cy="1516520"/>
            <a:chOff x="4853562" y="1589418"/>
            <a:chExt cx="2609520" cy="1291565"/>
          </a:xfrm>
        </p:grpSpPr>
        <p:sp>
          <p:nvSpPr>
            <p:cNvPr id="5" name="Freeform 7">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6" name="Freeform 7">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sp>
        <p:nvSpPr>
          <p:cNvPr id="7" name="Subtitle 2">
            <a:extLst>
              <a:ext uri="{FF2B5EF4-FFF2-40B4-BE49-F238E27FC236}">
                <a16:creationId xmlns:a16="http://schemas.microsoft.com/office/drawing/2014/main" id="{53858C97-DA2F-8866-47CC-CDF4077BBF9D}"/>
              </a:ext>
            </a:extLst>
          </p:cNvPr>
          <p:cNvSpPr txBox="1">
            <a:spLocks/>
          </p:cNvSpPr>
          <p:nvPr/>
        </p:nvSpPr>
        <p:spPr>
          <a:xfrm>
            <a:off x="1240372" y="1978213"/>
            <a:ext cx="1084947"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smtClean="0">
                <a:solidFill>
                  <a:srgbClr val="7030A0"/>
                </a:solidFill>
              </a:rPr>
              <a:t>PDS</a:t>
            </a:r>
            <a:endParaRPr lang="en-US" sz="1600" dirty="0">
              <a:solidFill>
                <a:srgbClr val="7030A0"/>
              </a:solidFill>
            </a:endParaRPr>
          </a:p>
        </p:txBody>
      </p:sp>
      <p:grpSp>
        <p:nvGrpSpPr>
          <p:cNvPr id="8" name="Group 7">
            <a:extLst>
              <a:ext uri="{FF2B5EF4-FFF2-40B4-BE49-F238E27FC236}">
                <a16:creationId xmlns:a16="http://schemas.microsoft.com/office/drawing/2014/main" id="{AB8BC7BC-BF58-402E-9A69-AA9226DE7CAA}"/>
              </a:ext>
            </a:extLst>
          </p:cNvPr>
          <p:cNvGrpSpPr/>
          <p:nvPr/>
        </p:nvGrpSpPr>
        <p:grpSpPr>
          <a:xfrm>
            <a:off x="1115772" y="1747410"/>
            <a:ext cx="1334145" cy="620384"/>
            <a:chOff x="7729280" y="2195997"/>
            <a:chExt cx="2143740" cy="996849"/>
          </a:xfrm>
          <a:solidFill>
            <a:schemeClr val="accent6"/>
          </a:solidFill>
        </p:grpSpPr>
        <p:sp>
          <p:nvSpPr>
            <p:cNvPr id="9"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0"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Rectangle 13"/>
          <p:cNvSpPr/>
          <p:nvPr/>
        </p:nvSpPr>
        <p:spPr>
          <a:xfrm>
            <a:off x="0" y="-24049"/>
            <a:ext cx="12010030" cy="461665"/>
          </a:xfrm>
          <a:prstGeom prst="rect">
            <a:avLst/>
          </a:prstGeom>
        </p:spPr>
        <p:txBody>
          <a:bodyPr wrap="square">
            <a:spAutoFit/>
          </a:bodyPr>
          <a:lstStyle/>
          <a:p>
            <a:r>
              <a:rPr lang="en-US" sz="2400" b="1" dirty="0">
                <a:solidFill>
                  <a:srgbClr val="002060"/>
                </a:solidFill>
              </a:rPr>
              <a:t>Cisco Packet </a:t>
            </a:r>
            <a:r>
              <a:rPr lang="en-US" sz="2400" b="1" dirty="0" smtClean="0">
                <a:solidFill>
                  <a:srgbClr val="002060"/>
                </a:solidFill>
              </a:rPr>
              <a:t>Tracer: </a:t>
            </a:r>
            <a:r>
              <a:rPr lang="en-US" sz="2400" b="1" dirty="0" smtClean="0">
                <a:solidFill>
                  <a:srgbClr val="00B0F0"/>
                </a:solidFill>
              </a:rPr>
              <a:t>Mobile Tower Network 5G LTE Tech</a:t>
            </a:r>
            <a:endParaRPr lang="en-US" sz="2000" b="1" dirty="0">
              <a:solidFill>
                <a:srgbClr val="7030A0"/>
              </a:solidFill>
            </a:endParaRPr>
          </a:p>
        </p:txBody>
      </p:sp>
      <p:pic>
        <p:nvPicPr>
          <p:cNvPr id="20" name="Picture 19"/>
          <p:cNvPicPr>
            <a:picLocks noChangeAspect="1"/>
          </p:cNvPicPr>
          <p:nvPr/>
        </p:nvPicPr>
        <p:blipFill>
          <a:blip r:embed="rId3"/>
          <a:stretch>
            <a:fillRect/>
          </a:stretch>
        </p:blipFill>
        <p:spPr>
          <a:xfrm>
            <a:off x="607197" y="3322733"/>
            <a:ext cx="2174018" cy="1630514"/>
          </a:xfrm>
          <a:prstGeom prst="rect">
            <a:avLst/>
          </a:prstGeom>
        </p:spPr>
      </p:pic>
      <p:pic>
        <p:nvPicPr>
          <p:cNvPr id="22" name="Picture 21"/>
          <p:cNvPicPr>
            <a:picLocks noChangeAspect="1"/>
          </p:cNvPicPr>
          <p:nvPr/>
        </p:nvPicPr>
        <p:blipFill>
          <a:blip r:embed="rId4"/>
          <a:stretch>
            <a:fillRect/>
          </a:stretch>
        </p:blipFill>
        <p:spPr>
          <a:xfrm>
            <a:off x="864610" y="4953247"/>
            <a:ext cx="1659191" cy="1726489"/>
          </a:xfrm>
          <a:prstGeom prst="rect">
            <a:avLst/>
          </a:prstGeom>
        </p:spPr>
      </p:pic>
      <p:sp>
        <p:nvSpPr>
          <p:cNvPr id="26" name="Rectangle 25"/>
          <p:cNvSpPr/>
          <p:nvPr/>
        </p:nvSpPr>
        <p:spPr>
          <a:xfrm>
            <a:off x="3439984" y="3106587"/>
            <a:ext cx="8201555" cy="3416320"/>
          </a:xfrm>
          <a:prstGeom prst="rect">
            <a:avLst/>
          </a:prstGeom>
        </p:spPr>
        <p:txBody>
          <a:bodyPr wrap="square">
            <a:spAutoFit/>
          </a:bodyPr>
          <a:lstStyle/>
          <a:p>
            <a:pPr marL="285750" indent="-285750">
              <a:buFont typeface="Wingdings" panose="05000000000000000000" pitchFamily="2" charset="2"/>
              <a:buChar char="q"/>
            </a:pPr>
            <a:r>
              <a:rPr lang="en-US" dirty="0"/>
              <a:t>The components of the 5G core architecture include:</a:t>
            </a:r>
          </a:p>
          <a:p>
            <a:pPr marL="285750" indent="-285750">
              <a:buFont typeface="Wingdings" panose="05000000000000000000" pitchFamily="2" charset="2"/>
              <a:buChar char="q"/>
            </a:pPr>
            <a:r>
              <a:rPr lang="en-US" dirty="0" smtClean="0"/>
              <a:t>User </a:t>
            </a:r>
            <a:r>
              <a:rPr lang="en-US" dirty="0"/>
              <a:t>plane Function (UPF)</a:t>
            </a:r>
          </a:p>
          <a:p>
            <a:pPr marL="285750" indent="-285750">
              <a:buFont typeface="Wingdings" panose="05000000000000000000" pitchFamily="2" charset="2"/>
              <a:buChar char="q"/>
            </a:pPr>
            <a:r>
              <a:rPr lang="en-US" dirty="0"/>
              <a:t>Data network (DN), e.g. operator services, Internet access or 3rd party services</a:t>
            </a:r>
          </a:p>
          <a:p>
            <a:pPr marL="285750" indent="-285750">
              <a:buFont typeface="Wingdings" panose="05000000000000000000" pitchFamily="2" charset="2"/>
              <a:buChar char="q"/>
            </a:pPr>
            <a:r>
              <a:rPr lang="en-US" dirty="0"/>
              <a:t>Core Access and Mobility Management Function (AMF)</a:t>
            </a:r>
          </a:p>
          <a:p>
            <a:pPr marL="285750" indent="-285750">
              <a:buFont typeface="Wingdings" panose="05000000000000000000" pitchFamily="2" charset="2"/>
              <a:buChar char="q"/>
            </a:pPr>
            <a:r>
              <a:rPr lang="en-US" dirty="0"/>
              <a:t>Authentication Server Function (AUSF)</a:t>
            </a:r>
          </a:p>
          <a:p>
            <a:pPr marL="285750" indent="-285750">
              <a:buFont typeface="Wingdings" panose="05000000000000000000" pitchFamily="2" charset="2"/>
              <a:buChar char="q"/>
            </a:pPr>
            <a:r>
              <a:rPr lang="en-US" dirty="0"/>
              <a:t>Session Management Function (SMF)</a:t>
            </a:r>
          </a:p>
          <a:p>
            <a:pPr marL="285750" indent="-285750">
              <a:buFont typeface="Wingdings" panose="05000000000000000000" pitchFamily="2" charset="2"/>
              <a:buChar char="q"/>
            </a:pPr>
            <a:r>
              <a:rPr lang="en-US" dirty="0"/>
              <a:t>Network Slice Selection Function (NSSF)</a:t>
            </a:r>
          </a:p>
          <a:p>
            <a:pPr marL="285750" indent="-285750">
              <a:buFont typeface="Wingdings" panose="05000000000000000000" pitchFamily="2" charset="2"/>
              <a:buChar char="q"/>
            </a:pPr>
            <a:r>
              <a:rPr lang="en-US" dirty="0"/>
              <a:t>Network Exposure Function (NEF)</a:t>
            </a:r>
          </a:p>
          <a:p>
            <a:pPr marL="285750" indent="-285750">
              <a:buFont typeface="Wingdings" panose="05000000000000000000" pitchFamily="2" charset="2"/>
              <a:buChar char="q"/>
            </a:pPr>
            <a:r>
              <a:rPr lang="en-US" dirty="0"/>
              <a:t>NF Repository Function (NRF)</a:t>
            </a:r>
          </a:p>
          <a:p>
            <a:pPr marL="285750" indent="-285750">
              <a:buFont typeface="Wingdings" panose="05000000000000000000" pitchFamily="2" charset="2"/>
              <a:buChar char="q"/>
            </a:pPr>
            <a:r>
              <a:rPr lang="en-US" dirty="0"/>
              <a:t>Policy Control function (PCF)</a:t>
            </a:r>
          </a:p>
          <a:p>
            <a:pPr marL="285750" indent="-285750">
              <a:buFont typeface="Wingdings" panose="05000000000000000000" pitchFamily="2" charset="2"/>
              <a:buChar char="q"/>
            </a:pPr>
            <a:r>
              <a:rPr lang="en-US" dirty="0"/>
              <a:t>Unified Data Management (UDM)</a:t>
            </a:r>
          </a:p>
          <a:p>
            <a:pPr marL="285750" indent="-285750">
              <a:buFont typeface="Wingdings" panose="05000000000000000000" pitchFamily="2" charset="2"/>
              <a:buChar char="q"/>
            </a:pPr>
            <a:r>
              <a:rPr lang="en-US" dirty="0"/>
              <a:t>Application Function (AF)</a:t>
            </a:r>
            <a:endParaRPr lang="en-US" dirty="0"/>
          </a:p>
        </p:txBody>
      </p:sp>
      <p:pic>
        <p:nvPicPr>
          <p:cNvPr id="28" name="Picture 27"/>
          <p:cNvPicPr>
            <a:picLocks noChangeAspect="1"/>
          </p:cNvPicPr>
          <p:nvPr/>
        </p:nvPicPr>
        <p:blipFill>
          <a:blip r:embed="rId5"/>
          <a:stretch>
            <a:fillRect/>
          </a:stretch>
        </p:blipFill>
        <p:spPr>
          <a:xfrm>
            <a:off x="3971499" y="437616"/>
            <a:ext cx="6582770" cy="2648536"/>
          </a:xfrm>
          <a:prstGeom prst="rect">
            <a:avLst/>
          </a:prstGeom>
        </p:spPr>
      </p:pic>
    </p:spTree>
    <p:extLst>
      <p:ext uri="{BB962C8B-B14F-4D97-AF65-F5344CB8AC3E}">
        <p14:creationId xmlns:p14="http://schemas.microsoft.com/office/powerpoint/2010/main" val="812697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63772" y="720076"/>
            <a:ext cx="5013279" cy="3720280"/>
          </a:xfrm>
          <a:prstGeom prst="rect">
            <a:avLst/>
          </a:prstGeom>
        </p:spPr>
      </p:pic>
      <p:sp>
        <p:nvSpPr>
          <p:cNvPr id="5" name="Rectangle 4"/>
          <p:cNvSpPr/>
          <p:nvPr/>
        </p:nvSpPr>
        <p:spPr>
          <a:xfrm>
            <a:off x="0" y="-24049"/>
            <a:ext cx="12010030" cy="461665"/>
          </a:xfrm>
          <a:prstGeom prst="rect">
            <a:avLst/>
          </a:prstGeom>
        </p:spPr>
        <p:txBody>
          <a:bodyPr wrap="square">
            <a:spAutoFit/>
          </a:bodyPr>
          <a:lstStyle/>
          <a:p>
            <a:r>
              <a:rPr lang="en-US" sz="2400" b="1" dirty="0">
                <a:solidFill>
                  <a:srgbClr val="002060"/>
                </a:solidFill>
              </a:rPr>
              <a:t>Cisco Packet </a:t>
            </a:r>
            <a:r>
              <a:rPr lang="en-US" sz="2400" b="1" dirty="0" smtClean="0">
                <a:solidFill>
                  <a:srgbClr val="002060"/>
                </a:solidFill>
              </a:rPr>
              <a:t>Tracer: </a:t>
            </a:r>
            <a:r>
              <a:rPr lang="en-US" sz="2400" b="1" dirty="0" smtClean="0">
                <a:solidFill>
                  <a:srgbClr val="00B0F0"/>
                </a:solidFill>
              </a:rPr>
              <a:t>Mobile Tower Network 5G LTE Tech</a:t>
            </a:r>
            <a:endParaRPr lang="en-US" sz="2000" b="1" dirty="0">
              <a:solidFill>
                <a:srgbClr val="7030A0"/>
              </a:solidFill>
            </a:endParaRPr>
          </a:p>
        </p:txBody>
      </p:sp>
      <p:sp>
        <p:nvSpPr>
          <p:cNvPr id="6" name="Rectangle 5"/>
          <p:cNvSpPr/>
          <p:nvPr/>
        </p:nvSpPr>
        <p:spPr>
          <a:xfrm>
            <a:off x="5272585" y="437616"/>
            <a:ext cx="6096000" cy="5909310"/>
          </a:xfrm>
          <a:prstGeom prst="rect">
            <a:avLst/>
          </a:prstGeom>
        </p:spPr>
        <p:txBody>
          <a:bodyPr>
            <a:spAutoFit/>
          </a:bodyPr>
          <a:lstStyle/>
          <a:p>
            <a:r>
              <a:rPr lang="en-US" b="1" dirty="0" smtClean="0"/>
              <a:t>How </a:t>
            </a:r>
            <a:r>
              <a:rPr lang="en-US" b="1" dirty="0"/>
              <a:t>it works:</a:t>
            </a:r>
          </a:p>
          <a:p>
            <a:pPr marL="285750" indent="-285750" algn="just">
              <a:buFont typeface="Wingdings" panose="05000000000000000000" pitchFamily="2" charset="2"/>
              <a:buChar char="q"/>
            </a:pPr>
            <a:r>
              <a:rPr lang="en-US" dirty="0" smtClean="0"/>
              <a:t>User </a:t>
            </a:r>
            <a:r>
              <a:rPr lang="en-US" dirty="0"/>
              <a:t>Equipment (UE) like 5G smartphones or 5G cellular devices connect over the 5G New Radio Access Network to the 5G core and further to Data Networks (DN), like the Internet.</a:t>
            </a:r>
          </a:p>
          <a:p>
            <a:pPr marL="285750" indent="-285750" algn="just">
              <a:buFont typeface="Wingdings" panose="05000000000000000000" pitchFamily="2" charset="2"/>
              <a:buChar char="q"/>
            </a:pPr>
            <a:r>
              <a:rPr lang="en-US" dirty="0"/>
              <a:t>The Access and Mobility Management Function (AMF) acts as a single-entry point for the UE connection.</a:t>
            </a:r>
          </a:p>
          <a:p>
            <a:pPr marL="285750" indent="-285750" algn="just">
              <a:buFont typeface="Wingdings" panose="05000000000000000000" pitchFamily="2" charset="2"/>
              <a:buChar char="q"/>
            </a:pPr>
            <a:r>
              <a:rPr lang="en-US" dirty="0"/>
              <a:t>Based on the service requested by the UE, the AMF selects the respective Session Management Function (SMF) for managing the user session.</a:t>
            </a:r>
          </a:p>
          <a:p>
            <a:pPr marL="285750" indent="-285750" algn="just">
              <a:buFont typeface="Wingdings" panose="05000000000000000000" pitchFamily="2" charset="2"/>
              <a:buChar char="q"/>
            </a:pPr>
            <a:r>
              <a:rPr lang="en-US" dirty="0"/>
              <a:t>The User Plane Function (UPF) transports the IP data traffic (user plane) between the User Equipment (UE) and the external networks.</a:t>
            </a:r>
          </a:p>
          <a:p>
            <a:pPr marL="285750" indent="-285750" algn="just">
              <a:buFont typeface="Wingdings" panose="05000000000000000000" pitchFamily="2" charset="2"/>
              <a:buChar char="q"/>
            </a:pPr>
            <a:r>
              <a:rPr lang="en-US" dirty="0"/>
              <a:t>The Authentication Server Function (AUSF) allows the AMF to authenticate the UE and access services of the 5G core.</a:t>
            </a:r>
          </a:p>
          <a:p>
            <a:pPr marL="285750" indent="-285750" algn="just">
              <a:buFont typeface="Wingdings" panose="05000000000000000000" pitchFamily="2" charset="2"/>
              <a:buChar char="q"/>
            </a:pPr>
            <a:r>
              <a:rPr lang="en-US" dirty="0"/>
              <a:t>Other functions like the Session Management Function (SMF), the Policy Control Function (PCF), the Application Function (AF) and the Unified Data Management (UDM) function provide the policy control framework, applying policy decisions and accessing subscription information, to govern the network behavior.</a:t>
            </a:r>
          </a:p>
        </p:txBody>
      </p:sp>
    </p:spTree>
    <p:extLst>
      <p:ext uri="{BB962C8B-B14F-4D97-AF65-F5344CB8AC3E}">
        <p14:creationId xmlns:p14="http://schemas.microsoft.com/office/powerpoint/2010/main" val="3167189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AABCB87-2ECC-4C03-B5BB-6EE11C8A4485}"/>
              </a:ext>
            </a:extLst>
          </p:cNvPr>
          <p:cNvGrpSpPr/>
          <p:nvPr/>
        </p:nvGrpSpPr>
        <p:grpSpPr>
          <a:xfrm>
            <a:off x="81969" y="1169978"/>
            <a:ext cx="3064025" cy="1516520"/>
            <a:chOff x="4853562" y="1589418"/>
            <a:chExt cx="2609520" cy="1291565"/>
          </a:xfrm>
        </p:grpSpPr>
        <p:sp>
          <p:nvSpPr>
            <p:cNvPr id="5" name="Freeform 7">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6" name="Freeform 7">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sp>
        <p:nvSpPr>
          <p:cNvPr id="7" name="Subtitle 2">
            <a:extLst>
              <a:ext uri="{FF2B5EF4-FFF2-40B4-BE49-F238E27FC236}">
                <a16:creationId xmlns:a16="http://schemas.microsoft.com/office/drawing/2014/main" id="{53858C97-DA2F-8866-47CC-CDF4077BBF9D}"/>
              </a:ext>
            </a:extLst>
          </p:cNvPr>
          <p:cNvSpPr txBox="1">
            <a:spLocks/>
          </p:cNvSpPr>
          <p:nvPr/>
        </p:nvSpPr>
        <p:spPr>
          <a:xfrm>
            <a:off x="1240372" y="1978213"/>
            <a:ext cx="1084947"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smtClean="0">
                <a:solidFill>
                  <a:srgbClr val="7030A0"/>
                </a:solidFill>
              </a:rPr>
              <a:t>PDS</a:t>
            </a:r>
            <a:endParaRPr lang="en-US" sz="1600" dirty="0">
              <a:solidFill>
                <a:srgbClr val="7030A0"/>
              </a:solidFill>
            </a:endParaRPr>
          </a:p>
        </p:txBody>
      </p:sp>
      <p:grpSp>
        <p:nvGrpSpPr>
          <p:cNvPr id="8" name="Group 7">
            <a:extLst>
              <a:ext uri="{FF2B5EF4-FFF2-40B4-BE49-F238E27FC236}">
                <a16:creationId xmlns:a16="http://schemas.microsoft.com/office/drawing/2014/main" id="{AB8BC7BC-BF58-402E-9A69-AA9226DE7CAA}"/>
              </a:ext>
            </a:extLst>
          </p:cNvPr>
          <p:cNvGrpSpPr/>
          <p:nvPr/>
        </p:nvGrpSpPr>
        <p:grpSpPr>
          <a:xfrm>
            <a:off x="1115772" y="1747410"/>
            <a:ext cx="1334145" cy="620384"/>
            <a:chOff x="7729280" y="2195997"/>
            <a:chExt cx="2143740" cy="996849"/>
          </a:xfrm>
          <a:solidFill>
            <a:schemeClr val="accent6"/>
          </a:solidFill>
        </p:grpSpPr>
        <p:sp>
          <p:nvSpPr>
            <p:cNvPr id="9"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0"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Rectangle 13"/>
          <p:cNvSpPr/>
          <p:nvPr/>
        </p:nvSpPr>
        <p:spPr>
          <a:xfrm>
            <a:off x="0" y="-24049"/>
            <a:ext cx="12010030" cy="461665"/>
          </a:xfrm>
          <a:prstGeom prst="rect">
            <a:avLst/>
          </a:prstGeom>
        </p:spPr>
        <p:txBody>
          <a:bodyPr wrap="square">
            <a:spAutoFit/>
          </a:bodyPr>
          <a:lstStyle/>
          <a:p>
            <a:r>
              <a:rPr lang="en-US" sz="2400" b="1" dirty="0">
                <a:solidFill>
                  <a:srgbClr val="002060"/>
                </a:solidFill>
              </a:rPr>
              <a:t>Cisco Packet </a:t>
            </a:r>
            <a:r>
              <a:rPr lang="en-US" sz="2400" b="1" dirty="0" smtClean="0">
                <a:solidFill>
                  <a:srgbClr val="002060"/>
                </a:solidFill>
              </a:rPr>
              <a:t>Tracer: </a:t>
            </a:r>
            <a:r>
              <a:rPr lang="en-US" sz="2400" b="1" dirty="0" smtClean="0">
                <a:solidFill>
                  <a:srgbClr val="00B0F0"/>
                </a:solidFill>
              </a:rPr>
              <a:t>Mobile Tower Network 5G LTE Tech</a:t>
            </a:r>
            <a:endParaRPr lang="en-US" sz="2000" b="1" dirty="0">
              <a:solidFill>
                <a:srgbClr val="7030A0"/>
              </a:solidFill>
            </a:endParaRPr>
          </a:p>
        </p:txBody>
      </p:sp>
      <p:pic>
        <p:nvPicPr>
          <p:cNvPr id="20" name="Picture 19"/>
          <p:cNvPicPr>
            <a:picLocks noChangeAspect="1"/>
          </p:cNvPicPr>
          <p:nvPr/>
        </p:nvPicPr>
        <p:blipFill>
          <a:blip r:embed="rId3"/>
          <a:stretch>
            <a:fillRect/>
          </a:stretch>
        </p:blipFill>
        <p:spPr>
          <a:xfrm>
            <a:off x="597396" y="2603603"/>
            <a:ext cx="2174018" cy="1630514"/>
          </a:xfrm>
          <a:prstGeom prst="rect">
            <a:avLst/>
          </a:prstGeom>
        </p:spPr>
      </p:pic>
      <p:pic>
        <p:nvPicPr>
          <p:cNvPr id="22" name="Picture 21"/>
          <p:cNvPicPr>
            <a:picLocks noChangeAspect="1"/>
          </p:cNvPicPr>
          <p:nvPr/>
        </p:nvPicPr>
        <p:blipFill>
          <a:blip r:embed="rId4"/>
          <a:stretch>
            <a:fillRect/>
          </a:stretch>
        </p:blipFill>
        <p:spPr>
          <a:xfrm>
            <a:off x="666128" y="4148872"/>
            <a:ext cx="1659191" cy="2306519"/>
          </a:xfrm>
          <a:prstGeom prst="rect">
            <a:avLst/>
          </a:prstGeom>
        </p:spPr>
      </p:pic>
      <p:sp>
        <p:nvSpPr>
          <p:cNvPr id="23" name="Rectangle 22"/>
          <p:cNvSpPr/>
          <p:nvPr/>
        </p:nvSpPr>
        <p:spPr>
          <a:xfrm>
            <a:off x="3016155" y="452462"/>
            <a:ext cx="2265529" cy="461665"/>
          </a:xfrm>
          <a:prstGeom prst="rect">
            <a:avLst/>
          </a:prstGeom>
        </p:spPr>
        <p:txBody>
          <a:bodyPr wrap="square">
            <a:spAutoFit/>
          </a:bodyPr>
          <a:lstStyle/>
          <a:p>
            <a:r>
              <a:rPr lang="en-US" sz="2400" b="1" dirty="0" smtClean="0">
                <a:solidFill>
                  <a:srgbClr val="002060"/>
                </a:solidFill>
              </a:rPr>
              <a:t>Radio Remotes</a:t>
            </a:r>
            <a:endParaRPr lang="en-US" sz="2000" b="1" dirty="0">
              <a:solidFill>
                <a:srgbClr val="7030A0"/>
              </a:solidFill>
            </a:endParaRPr>
          </a:p>
        </p:txBody>
      </p:sp>
      <p:pic>
        <p:nvPicPr>
          <p:cNvPr id="24" name="Picture 23"/>
          <p:cNvPicPr>
            <a:picLocks noChangeAspect="1"/>
          </p:cNvPicPr>
          <p:nvPr/>
        </p:nvPicPr>
        <p:blipFill>
          <a:blip r:embed="rId5"/>
          <a:stretch>
            <a:fillRect/>
          </a:stretch>
        </p:blipFill>
        <p:spPr>
          <a:xfrm>
            <a:off x="3451887" y="898142"/>
            <a:ext cx="7584601" cy="2923097"/>
          </a:xfrm>
          <a:prstGeom prst="rect">
            <a:avLst/>
          </a:prstGeom>
        </p:spPr>
      </p:pic>
      <p:sp>
        <p:nvSpPr>
          <p:cNvPr id="26" name="Rectangle 25"/>
          <p:cNvSpPr/>
          <p:nvPr/>
        </p:nvSpPr>
        <p:spPr>
          <a:xfrm>
            <a:off x="3658349" y="3870068"/>
            <a:ext cx="7827518" cy="2585323"/>
          </a:xfrm>
          <a:prstGeom prst="rect">
            <a:avLst/>
          </a:prstGeom>
        </p:spPr>
        <p:txBody>
          <a:bodyPr wrap="square">
            <a:spAutoFit/>
          </a:bodyPr>
          <a:lstStyle/>
          <a:p>
            <a:pPr algn="just"/>
            <a:r>
              <a:rPr lang="en-US" dirty="0" err="1"/>
              <a:t>Jaringan</a:t>
            </a:r>
            <a:r>
              <a:rPr lang="en-US" dirty="0"/>
              <a:t> </a:t>
            </a:r>
            <a:r>
              <a:rPr lang="en-US" dirty="0" smtClean="0"/>
              <a:t>private LTE/ 5G : </a:t>
            </a:r>
            <a:r>
              <a:rPr lang="en-US" dirty="0" err="1" smtClean="0"/>
              <a:t>Sistem</a:t>
            </a:r>
            <a:r>
              <a:rPr lang="en-US" dirty="0" smtClean="0"/>
              <a:t> </a:t>
            </a:r>
            <a:r>
              <a:rPr lang="en-US" dirty="0" err="1"/>
              <a:t>terlokalisasi</a:t>
            </a:r>
            <a:r>
              <a:rPr lang="en-US" dirty="0"/>
              <a:t> </a:t>
            </a:r>
            <a:r>
              <a:rPr lang="en-US" dirty="0" err="1"/>
              <a:t>khusus</a:t>
            </a:r>
            <a:r>
              <a:rPr lang="en-US" dirty="0"/>
              <a:t> yang </a:t>
            </a:r>
            <a:r>
              <a:rPr lang="en-US" dirty="0" err="1"/>
              <a:t>menyediakan</a:t>
            </a:r>
            <a:r>
              <a:rPr lang="en-US" dirty="0"/>
              <a:t> </a:t>
            </a:r>
            <a:r>
              <a:rPr lang="en-US" dirty="0" err="1"/>
              <a:t>konektivitas</a:t>
            </a:r>
            <a:r>
              <a:rPr lang="en-US" dirty="0"/>
              <a:t> </a:t>
            </a:r>
            <a:r>
              <a:rPr lang="en-US" dirty="0" err="1"/>
              <a:t>nirkabel</a:t>
            </a:r>
            <a:r>
              <a:rPr lang="en-US" dirty="0"/>
              <a:t> </a:t>
            </a:r>
            <a:r>
              <a:rPr lang="en-US" dirty="0" err="1"/>
              <a:t>masing-masing</a:t>
            </a:r>
            <a:r>
              <a:rPr lang="en-US" dirty="0"/>
              <a:t> </a:t>
            </a:r>
            <a:r>
              <a:rPr lang="en-US" dirty="0" err="1"/>
              <a:t>melalui</a:t>
            </a:r>
            <a:r>
              <a:rPr lang="en-US" dirty="0"/>
              <a:t> </a:t>
            </a:r>
            <a:r>
              <a:rPr lang="en-US" dirty="0" err="1"/>
              <a:t>standar</a:t>
            </a:r>
            <a:r>
              <a:rPr lang="en-US" dirty="0"/>
              <a:t> LTE </a:t>
            </a:r>
            <a:r>
              <a:rPr lang="en-US" dirty="0" err="1"/>
              <a:t>dan</a:t>
            </a:r>
            <a:r>
              <a:rPr lang="en-US" dirty="0"/>
              <a:t> 5G. </a:t>
            </a:r>
            <a:r>
              <a:rPr lang="en-US" dirty="0" err="1"/>
              <a:t>Berbeda</a:t>
            </a:r>
            <a:r>
              <a:rPr lang="en-US" dirty="0"/>
              <a:t> </a:t>
            </a:r>
            <a:r>
              <a:rPr lang="en-US" dirty="0" err="1"/>
              <a:t>dengan</a:t>
            </a:r>
            <a:r>
              <a:rPr lang="en-US" dirty="0"/>
              <a:t> </a:t>
            </a:r>
            <a:r>
              <a:rPr lang="en-US" dirty="0" err="1"/>
              <a:t>jaringan</a:t>
            </a:r>
            <a:r>
              <a:rPr lang="en-US" dirty="0"/>
              <a:t> </a:t>
            </a:r>
            <a:r>
              <a:rPr lang="en-US" dirty="0" err="1"/>
              <a:t>publik</a:t>
            </a:r>
            <a:r>
              <a:rPr lang="en-US" dirty="0"/>
              <a:t> yang </a:t>
            </a:r>
            <a:r>
              <a:rPr lang="en-US" dirty="0" err="1"/>
              <a:t>dioperasikan</a:t>
            </a:r>
            <a:r>
              <a:rPr lang="en-US" dirty="0"/>
              <a:t> </a:t>
            </a:r>
            <a:r>
              <a:rPr lang="en-US" dirty="0" err="1"/>
              <a:t>oleh</a:t>
            </a:r>
            <a:r>
              <a:rPr lang="en-US" dirty="0"/>
              <a:t> operator </a:t>
            </a:r>
            <a:r>
              <a:rPr lang="en-US" dirty="0" err="1"/>
              <a:t>seluler</a:t>
            </a:r>
            <a:r>
              <a:rPr lang="en-US" dirty="0"/>
              <a:t> </a:t>
            </a:r>
            <a:r>
              <a:rPr lang="en-US" dirty="0" err="1"/>
              <a:t>komersial</a:t>
            </a:r>
            <a:r>
              <a:rPr lang="en-US" dirty="0"/>
              <a:t>, </a:t>
            </a:r>
            <a:r>
              <a:rPr lang="en-US" dirty="0" err="1"/>
              <a:t>jaringan</a:t>
            </a:r>
            <a:r>
              <a:rPr lang="en-US" dirty="0"/>
              <a:t> </a:t>
            </a:r>
            <a:r>
              <a:rPr lang="en-US" dirty="0" err="1"/>
              <a:t>pribadi</a:t>
            </a:r>
            <a:r>
              <a:rPr lang="en-US" dirty="0"/>
              <a:t> </a:t>
            </a:r>
            <a:r>
              <a:rPr lang="en-US" dirty="0" err="1"/>
              <a:t>memberikan</a:t>
            </a:r>
            <a:r>
              <a:rPr lang="en-US" dirty="0"/>
              <a:t> </a:t>
            </a:r>
            <a:r>
              <a:rPr lang="en-US" dirty="0" err="1"/>
              <a:t>kendali</a:t>
            </a:r>
            <a:r>
              <a:rPr lang="en-US" dirty="0"/>
              <a:t> </a:t>
            </a:r>
            <a:r>
              <a:rPr lang="en-US" dirty="0" err="1"/>
              <a:t>penuh</a:t>
            </a:r>
            <a:r>
              <a:rPr lang="en-US" dirty="0"/>
              <a:t> </a:t>
            </a:r>
            <a:r>
              <a:rPr lang="en-US" dirty="0" err="1"/>
              <a:t>kepada</a:t>
            </a:r>
            <a:r>
              <a:rPr lang="en-US" dirty="0"/>
              <a:t> </a:t>
            </a:r>
            <a:r>
              <a:rPr lang="en-US" dirty="0" err="1"/>
              <a:t>organisasi</a:t>
            </a:r>
            <a:r>
              <a:rPr lang="en-US" dirty="0"/>
              <a:t> – </a:t>
            </a:r>
            <a:r>
              <a:rPr lang="en-US" dirty="0" err="1"/>
              <a:t>dari</a:t>
            </a:r>
            <a:r>
              <a:rPr lang="en-US" dirty="0"/>
              <a:t> </a:t>
            </a:r>
            <a:r>
              <a:rPr lang="en-US" dirty="0" err="1"/>
              <a:t>awal</a:t>
            </a:r>
            <a:r>
              <a:rPr lang="en-US" dirty="0"/>
              <a:t> </a:t>
            </a:r>
            <a:r>
              <a:rPr lang="en-US" dirty="0" err="1"/>
              <a:t>hingga</a:t>
            </a:r>
            <a:r>
              <a:rPr lang="en-US" dirty="0"/>
              <a:t> </a:t>
            </a:r>
            <a:r>
              <a:rPr lang="en-US" dirty="0" err="1"/>
              <a:t>akhir</a:t>
            </a:r>
            <a:r>
              <a:rPr lang="en-US" dirty="0"/>
              <a:t> – </a:t>
            </a:r>
            <a:r>
              <a:rPr lang="en-US" dirty="0" err="1"/>
              <a:t>atas</a:t>
            </a:r>
            <a:r>
              <a:rPr lang="en-US" dirty="0"/>
              <a:t> </a:t>
            </a:r>
            <a:r>
              <a:rPr lang="en-US" dirty="0" err="1"/>
              <a:t>operasi</a:t>
            </a:r>
            <a:r>
              <a:rPr lang="en-US" dirty="0"/>
              <a:t> </a:t>
            </a:r>
            <a:r>
              <a:rPr lang="en-US" dirty="0" err="1"/>
              <a:t>nirkabel</a:t>
            </a:r>
            <a:r>
              <a:rPr lang="en-US" dirty="0"/>
              <a:t> end-to-end </a:t>
            </a:r>
            <a:r>
              <a:rPr lang="en-US" dirty="0" err="1"/>
              <a:t>mereka</a:t>
            </a:r>
            <a:r>
              <a:rPr lang="en-US" dirty="0"/>
              <a:t>. </a:t>
            </a:r>
            <a:r>
              <a:rPr lang="en-US" dirty="0" err="1"/>
              <a:t>Saat</a:t>
            </a:r>
            <a:r>
              <a:rPr lang="en-US" dirty="0"/>
              <a:t> </a:t>
            </a:r>
            <a:r>
              <a:rPr lang="en-US" dirty="0" err="1"/>
              <a:t>ini</a:t>
            </a:r>
            <a:r>
              <a:rPr lang="en-US" dirty="0"/>
              <a:t>, </a:t>
            </a:r>
            <a:r>
              <a:rPr lang="en-US" dirty="0" err="1"/>
              <a:t>terdapat</a:t>
            </a:r>
            <a:r>
              <a:rPr lang="en-US" dirty="0"/>
              <a:t> </a:t>
            </a:r>
            <a:r>
              <a:rPr lang="en-US" dirty="0" err="1"/>
              <a:t>sekitar</a:t>
            </a:r>
            <a:r>
              <a:rPr lang="en-US" dirty="0"/>
              <a:t> 2.200 </a:t>
            </a:r>
            <a:r>
              <a:rPr lang="en-US" dirty="0" err="1"/>
              <a:t>jaringan</a:t>
            </a:r>
            <a:r>
              <a:rPr lang="en-US" dirty="0"/>
              <a:t> 4G LTE </a:t>
            </a:r>
            <a:r>
              <a:rPr lang="en-US" dirty="0" err="1"/>
              <a:t>pribadi</a:t>
            </a:r>
            <a:r>
              <a:rPr lang="en-US" dirty="0"/>
              <a:t> </a:t>
            </a:r>
            <a:r>
              <a:rPr lang="en-US" dirty="0" err="1"/>
              <a:t>secara</a:t>
            </a:r>
            <a:r>
              <a:rPr lang="en-US" dirty="0"/>
              <a:t> global, </a:t>
            </a:r>
            <a:r>
              <a:rPr lang="en-US" dirty="0" err="1"/>
              <a:t>dan</a:t>
            </a:r>
            <a:r>
              <a:rPr lang="en-US" dirty="0"/>
              <a:t> </a:t>
            </a:r>
            <a:r>
              <a:rPr lang="en-US" dirty="0" err="1"/>
              <a:t>menurut</a:t>
            </a:r>
            <a:r>
              <a:rPr lang="en-US" dirty="0"/>
              <a:t> </a:t>
            </a:r>
            <a:r>
              <a:rPr lang="en-US" dirty="0" err="1"/>
              <a:t>laporan</a:t>
            </a:r>
            <a:r>
              <a:rPr lang="en-US" dirty="0"/>
              <a:t> </a:t>
            </a:r>
            <a:r>
              <a:rPr lang="en-US" dirty="0" err="1"/>
              <a:t>Jaringan</a:t>
            </a:r>
            <a:r>
              <a:rPr lang="en-US" dirty="0"/>
              <a:t> LTE/5G </a:t>
            </a:r>
            <a:r>
              <a:rPr lang="en-US" dirty="0" err="1"/>
              <a:t>Pribadi</a:t>
            </a:r>
            <a:r>
              <a:rPr lang="en-US" dirty="0"/>
              <a:t> </a:t>
            </a:r>
            <a:r>
              <a:rPr lang="en-US" dirty="0" err="1"/>
              <a:t>untuk</a:t>
            </a:r>
            <a:r>
              <a:rPr lang="en-US" dirty="0"/>
              <a:t> </a:t>
            </a:r>
            <a:r>
              <a:rPr lang="en-US" dirty="0" err="1"/>
              <a:t>Aplikasi</a:t>
            </a:r>
            <a:r>
              <a:rPr lang="en-US" dirty="0"/>
              <a:t> </a:t>
            </a:r>
            <a:r>
              <a:rPr lang="en-US" dirty="0" err="1"/>
              <a:t>IoT</a:t>
            </a:r>
            <a:r>
              <a:rPr lang="en-US" dirty="0"/>
              <a:t> </a:t>
            </a:r>
            <a:r>
              <a:rPr lang="en-US" dirty="0" err="1"/>
              <a:t>dari</a:t>
            </a:r>
            <a:r>
              <a:rPr lang="en-US" dirty="0"/>
              <a:t> Berg Insights, </a:t>
            </a:r>
            <a:r>
              <a:rPr lang="en-US" dirty="0" err="1"/>
              <a:t>jaringan</a:t>
            </a:r>
            <a:r>
              <a:rPr lang="en-US" dirty="0"/>
              <a:t> LTE/5G </a:t>
            </a:r>
            <a:r>
              <a:rPr lang="en-US" dirty="0" err="1"/>
              <a:t>pribadi</a:t>
            </a:r>
            <a:r>
              <a:rPr lang="en-US" dirty="0"/>
              <a:t> </a:t>
            </a:r>
            <a:r>
              <a:rPr lang="en-US" dirty="0" err="1"/>
              <a:t>akan</a:t>
            </a:r>
            <a:r>
              <a:rPr lang="en-US" dirty="0"/>
              <a:t> </a:t>
            </a:r>
            <a:r>
              <a:rPr lang="en-US" dirty="0" err="1"/>
              <a:t>tumbuh</a:t>
            </a:r>
            <a:r>
              <a:rPr lang="en-US" dirty="0"/>
              <a:t> </a:t>
            </a:r>
            <a:r>
              <a:rPr lang="en-US" dirty="0" err="1"/>
              <a:t>menjadi</a:t>
            </a:r>
            <a:r>
              <a:rPr lang="en-US" dirty="0"/>
              <a:t> 11.900 </a:t>
            </a:r>
            <a:r>
              <a:rPr lang="en-US" dirty="0" err="1"/>
              <a:t>pada</a:t>
            </a:r>
            <a:r>
              <a:rPr lang="en-US" dirty="0"/>
              <a:t> </a:t>
            </a:r>
            <a:r>
              <a:rPr lang="en-US" dirty="0" err="1"/>
              <a:t>tahun</a:t>
            </a:r>
            <a:r>
              <a:rPr lang="en-US" dirty="0"/>
              <a:t> 2028, </a:t>
            </a:r>
            <a:r>
              <a:rPr lang="en-US" dirty="0" err="1"/>
              <a:t>dengan</a:t>
            </a:r>
            <a:r>
              <a:rPr lang="en-US" dirty="0"/>
              <a:t> </a:t>
            </a:r>
            <a:r>
              <a:rPr lang="en-US" dirty="0" err="1"/>
              <a:t>tingkat</a:t>
            </a:r>
            <a:r>
              <a:rPr lang="en-US" dirty="0"/>
              <a:t> </a:t>
            </a:r>
            <a:r>
              <a:rPr lang="en-US" dirty="0" err="1"/>
              <a:t>pertumbuhan</a:t>
            </a:r>
            <a:r>
              <a:rPr lang="en-US" dirty="0"/>
              <a:t> </a:t>
            </a:r>
            <a:r>
              <a:rPr lang="en-US" dirty="0" err="1"/>
              <a:t>tahunan</a:t>
            </a:r>
            <a:r>
              <a:rPr lang="en-US" dirty="0"/>
              <a:t> </a:t>
            </a:r>
            <a:r>
              <a:rPr lang="en-US" dirty="0" err="1"/>
              <a:t>gabungan</a:t>
            </a:r>
            <a:r>
              <a:rPr lang="en-US" dirty="0"/>
              <a:t> (CAGR) </a:t>
            </a:r>
            <a:r>
              <a:rPr lang="en-US" dirty="0" err="1"/>
              <a:t>sebesar</a:t>
            </a:r>
            <a:r>
              <a:rPr lang="en-US" dirty="0"/>
              <a:t> 33. </a:t>
            </a:r>
            <a:r>
              <a:rPr lang="en-US" dirty="0" err="1"/>
              <a:t>persen</a:t>
            </a:r>
            <a:r>
              <a:rPr lang="en-US" dirty="0"/>
              <a:t>.</a:t>
            </a:r>
          </a:p>
        </p:txBody>
      </p:sp>
    </p:spTree>
    <p:extLst>
      <p:ext uri="{BB962C8B-B14F-4D97-AF65-F5344CB8AC3E}">
        <p14:creationId xmlns:p14="http://schemas.microsoft.com/office/powerpoint/2010/main" val="2819846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7530" y="78052"/>
            <a:ext cx="2682529" cy="461665"/>
          </a:xfrm>
          <a:prstGeom prst="rect">
            <a:avLst/>
          </a:prstGeom>
        </p:spPr>
        <p:txBody>
          <a:bodyPr wrap="none">
            <a:spAutoFit/>
          </a:bodyPr>
          <a:lstStyle/>
          <a:p>
            <a:r>
              <a:rPr lang="en-US" sz="2400" b="1" dirty="0">
                <a:solidFill>
                  <a:schemeClr val="accent5">
                    <a:lumMod val="60000"/>
                    <a:lumOff val="40000"/>
                  </a:schemeClr>
                </a:solidFill>
              </a:rPr>
              <a:t>The Evolution of 5G</a:t>
            </a:r>
          </a:p>
        </p:txBody>
      </p:sp>
      <p:pic>
        <p:nvPicPr>
          <p:cNvPr id="5" name="Picture 4"/>
          <p:cNvPicPr>
            <a:picLocks noChangeAspect="1"/>
          </p:cNvPicPr>
          <p:nvPr/>
        </p:nvPicPr>
        <p:blipFill>
          <a:blip r:embed="rId2"/>
          <a:stretch>
            <a:fillRect/>
          </a:stretch>
        </p:blipFill>
        <p:spPr>
          <a:xfrm>
            <a:off x="208332" y="539717"/>
            <a:ext cx="3506338" cy="1202869"/>
          </a:xfrm>
          <a:prstGeom prst="rect">
            <a:avLst/>
          </a:prstGeom>
        </p:spPr>
      </p:pic>
      <p:sp>
        <p:nvSpPr>
          <p:cNvPr id="6" name="Rectangle 5"/>
          <p:cNvSpPr/>
          <p:nvPr/>
        </p:nvSpPr>
        <p:spPr>
          <a:xfrm>
            <a:off x="279117" y="2356673"/>
            <a:ext cx="3364767" cy="461665"/>
          </a:xfrm>
          <a:prstGeom prst="rect">
            <a:avLst/>
          </a:prstGeom>
        </p:spPr>
        <p:txBody>
          <a:bodyPr wrap="none">
            <a:spAutoFit/>
          </a:bodyPr>
          <a:lstStyle/>
          <a:p>
            <a:r>
              <a:rPr lang="en-US" sz="2400" b="1" dirty="0">
                <a:solidFill>
                  <a:schemeClr val="accent5">
                    <a:lumMod val="60000"/>
                    <a:lumOff val="40000"/>
                  </a:schemeClr>
                </a:solidFill>
              </a:rPr>
              <a:t>5G Network Architecture</a:t>
            </a:r>
          </a:p>
        </p:txBody>
      </p:sp>
      <p:pic>
        <p:nvPicPr>
          <p:cNvPr id="7" name="Picture 6"/>
          <p:cNvPicPr>
            <a:picLocks noChangeAspect="1"/>
          </p:cNvPicPr>
          <p:nvPr/>
        </p:nvPicPr>
        <p:blipFill>
          <a:blip r:embed="rId3"/>
          <a:stretch>
            <a:fillRect/>
          </a:stretch>
        </p:blipFill>
        <p:spPr>
          <a:xfrm>
            <a:off x="437998" y="2818338"/>
            <a:ext cx="4243538" cy="3121854"/>
          </a:xfrm>
          <a:prstGeom prst="rect">
            <a:avLst/>
          </a:prstGeom>
        </p:spPr>
      </p:pic>
      <p:pic>
        <p:nvPicPr>
          <p:cNvPr id="8" name="Picture 7"/>
          <p:cNvPicPr>
            <a:picLocks noChangeAspect="1"/>
          </p:cNvPicPr>
          <p:nvPr/>
        </p:nvPicPr>
        <p:blipFill>
          <a:blip r:embed="rId4"/>
          <a:stretch>
            <a:fillRect/>
          </a:stretch>
        </p:blipFill>
        <p:spPr>
          <a:xfrm>
            <a:off x="5036024" y="308884"/>
            <a:ext cx="6782938" cy="3784731"/>
          </a:xfrm>
          <a:prstGeom prst="rect">
            <a:avLst/>
          </a:prstGeom>
        </p:spPr>
      </p:pic>
      <p:sp>
        <p:nvSpPr>
          <p:cNvPr id="9" name="Rectangle 8"/>
          <p:cNvSpPr/>
          <p:nvPr/>
        </p:nvSpPr>
        <p:spPr>
          <a:xfrm>
            <a:off x="7318550" y="5997019"/>
            <a:ext cx="4873450" cy="584775"/>
          </a:xfrm>
          <a:prstGeom prst="rect">
            <a:avLst/>
          </a:prstGeom>
        </p:spPr>
        <p:txBody>
          <a:bodyPr wrap="none">
            <a:spAutoFit/>
          </a:bodyPr>
          <a:lstStyle/>
          <a:p>
            <a:r>
              <a:rPr lang="en-US" sz="800" b="1" dirty="0" smtClean="0"/>
              <a:t>Ref:</a:t>
            </a:r>
          </a:p>
          <a:p>
            <a:r>
              <a:rPr lang="en-US" sz="800" b="1" dirty="0"/>
              <a:t>https://www.scribd.com/presentation/356417588/LTE-Long-Term-Evolution-rev-pptx</a:t>
            </a:r>
          </a:p>
          <a:p>
            <a:r>
              <a:rPr lang="en-US" sz="800" b="1" dirty="0"/>
              <a:t>https://www.itu.int/en/ITU-D/Regional-Presence/AsiaPacific/SiteAssets/Pages/Events/2016/Oct-CandI2016</a:t>
            </a:r>
            <a:r>
              <a:rPr lang="en-US" sz="800" b="1" dirty="0" smtClean="0"/>
              <a:t>/</a:t>
            </a:r>
          </a:p>
          <a:p>
            <a:r>
              <a:rPr lang="en-US" sz="800" b="1" dirty="0"/>
              <a:t>https://www.digi.com/blog/post/5g-network-architecture</a:t>
            </a:r>
          </a:p>
        </p:txBody>
      </p:sp>
    </p:spTree>
    <p:extLst>
      <p:ext uri="{BB962C8B-B14F-4D97-AF65-F5344CB8AC3E}">
        <p14:creationId xmlns:p14="http://schemas.microsoft.com/office/powerpoint/2010/main" val="1337134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4049"/>
            <a:ext cx="12010030" cy="461665"/>
          </a:xfrm>
          <a:prstGeom prst="rect">
            <a:avLst/>
          </a:prstGeom>
        </p:spPr>
        <p:txBody>
          <a:bodyPr wrap="square">
            <a:spAutoFit/>
          </a:bodyPr>
          <a:lstStyle/>
          <a:p>
            <a:r>
              <a:rPr lang="en-US" sz="2400" b="1" dirty="0">
                <a:solidFill>
                  <a:srgbClr val="002060"/>
                </a:solidFill>
              </a:rPr>
              <a:t>Cisco Packet </a:t>
            </a:r>
            <a:r>
              <a:rPr lang="en-US" sz="2400" b="1" dirty="0" smtClean="0">
                <a:solidFill>
                  <a:srgbClr val="002060"/>
                </a:solidFill>
              </a:rPr>
              <a:t>Tracer: </a:t>
            </a:r>
            <a:r>
              <a:rPr lang="en-US" sz="2400" b="1" dirty="0" smtClean="0">
                <a:solidFill>
                  <a:srgbClr val="00B0F0"/>
                </a:solidFill>
              </a:rPr>
              <a:t>Mobile Tower Network 5G LTE Tech</a:t>
            </a:r>
            <a:endParaRPr lang="en-US" sz="2000" b="1" dirty="0">
              <a:solidFill>
                <a:srgbClr val="7030A0"/>
              </a:solidFill>
            </a:endParaRPr>
          </a:p>
        </p:txBody>
      </p:sp>
      <p:pic>
        <p:nvPicPr>
          <p:cNvPr id="5" name="Picture 4"/>
          <p:cNvPicPr>
            <a:picLocks noChangeAspect="1"/>
          </p:cNvPicPr>
          <p:nvPr/>
        </p:nvPicPr>
        <p:blipFill>
          <a:blip r:embed="rId2"/>
          <a:stretch>
            <a:fillRect/>
          </a:stretch>
        </p:blipFill>
        <p:spPr>
          <a:xfrm>
            <a:off x="190073" y="2475434"/>
            <a:ext cx="6401795" cy="3200898"/>
          </a:xfrm>
          <a:prstGeom prst="rect">
            <a:avLst/>
          </a:prstGeom>
        </p:spPr>
      </p:pic>
      <p:sp>
        <p:nvSpPr>
          <p:cNvPr id="6" name="Rectangle 5"/>
          <p:cNvSpPr/>
          <p:nvPr/>
        </p:nvSpPr>
        <p:spPr>
          <a:xfrm>
            <a:off x="371664" y="1203199"/>
            <a:ext cx="4624792" cy="369332"/>
          </a:xfrm>
          <a:prstGeom prst="rect">
            <a:avLst/>
          </a:prstGeom>
        </p:spPr>
        <p:txBody>
          <a:bodyPr wrap="none">
            <a:spAutoFit/>
          </a:bodyPr>
          <a:lstStyle/>
          <a:p>
            <a:r>
              <a:rPr lang="en-US" dirty="0"/>
              <a:t>Focus area for different technology generations</a:t>
            </a:r>
          </a:p>
        </p:txBody>
      </p:sp>
      <p:sp>
        <p:nvSpPr>
          <p:cNvPr id="7" name="Rectangle 6"/>
          <p:cNvSpPr/>
          <p:nvPr/>
        </p:nvSpPr>
        <p:spPr>
          <a:xfrm>
            <a:off x="5684506" y="1203199"/>
            <a:ext cx="4125745" cy="369332"/>
          </a:xfrm>
          <a:prstGeom prst="rect">
            <a:avLst/>
          </a:prstGeom>
        </p:spPr>
        <p:txBody>
          <a:bodyPr wrap="none">
            <a:spAutoFit/>
          </a:bodyPr>
          <a:lstStyle/>
          <a:p>
            <a:r>
              <a:rPr lang="en-US" dirty="0"/>
              <a:t>5G High Level Requirements and Wish List</a:t>
            </a:r>
          </a:p>
        </p:txBody>
      </p:sp>
      <p:pic>
        <p:nvPicPr>
          <p:cNvPr id="8" name="Picture 7"/>
          <p:cNvPicPr>
            <a:picLocks noChangeAspect="1"/>
          </p:cNvPicPr>
          <p:nvPr/>
        </p:nvPicPr>
        <p:blipFill>
          <a:blip r:embed="rId3"/>
          <a:stretch>
            <a:fillRect/>
          </a:stretch>
        </p:blipFill>
        <p:spPr>
          <a:xfrm>
            <a:off x="6466408" y="2475434"/>
            <a:ext cx="5400675" cy="2476500"/>
          </a:xfrm>
          <a:prstGeom prst="rect">
            <a:avLst/>
          </a:prstGeom>
        </p:spPr>
      </p:pic>
    </p:spTree>
    <p:extLst>
      <p:ext uri="{BB962C8B-B14F-4D97-AF65-F5344CB8AC3E}">
        <p14:creationId xmlns:p14="http://schemas.microsoft.com/office/powerpoint/2010/main" val="1773300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4049"/>
            <a:ext cx="12010030" cy="461665"/>
          </a:xfrm>
          <a:prstGeom prst="rect">
            <a:avLst/>
          </a:prstGeom>
        </p:spPr>
        <p:txBody>
          <a:bodyPr wrap="square">
            <a:spAutoFit/>
          </a:bodyPr>
          <a:lstStyle/>
          <a:p>
            <a:r>
              <a:rPr lang="en-US" sz="2400" b="1" dirty="0">
                <a:solidFill>
                  <a:srgbClr val="002060"/>
                </a:solidFill>
              </a:rPr>
              <a:t>Cisco Packet </a:t>
            </a:r>
            <a:r>
              <a:rPr lang="en-US" sz="2400" b="1" dirty="0" smtClean="0">
                <a:solidFill>
                  <a:srgbClr val="002060"/>
                </a:solidFill>
              </a:rPr>
              <a:t>Tracer: </a:t>
            </a:r>
            <a:r>
              <a:rPr lang="en-US" sz="2400" b="1" dirty="0" smtClean="0">
                <a:solidFill>
                  <a:srgbClr val="00B0F0"/>
                </a:solidFill>
              </a:rPr>
              <a:t>Mobile Tower Network 5G LTE Tech</a:t>
            </a:r>
            <a:endParaRPr lang="en-US" sz="2000" b="1" dirty="0">
              <a:solidFill>
                <a:srgbClr val="7030A0"/>
              </a:solidFill>
            </a:endParaRPr>
          </a:p>
        </p:txBody>
      </p:sp>
      <p:sp>
        <p:nvSpPr>
          <p:cNvPr id="2" name="Rectangle 1"/>
          <p:cNvSpPr/>
          <p:nvPr/>
        </p:nvSpPr>
        <p:spPr>
          <a:xfrm>
            <a:off x="0" y="437616"/>
            <a:ext cx="4159344" cy="369332"/>
          </a:xfrm>
          <a:prstGeom prst="rect">
            <a:avLst/>
          </a:prstGeom>
        </p:spPr>
        <p:txBody>
          <a:bodyPr wrap="none">
            <a:spAutoFit/>
          </a:bodyPr>
          <a:lstStyle/>
          <a:p>
            <a:r>
              <a:rPr lang="en-US" dirty="0"/>
              <a:t>Evolution of Speeds: Fixed, Wi-Fi &amp; Mobile</a:t>
            </a:r>
          </a:p>
        </p:txBody>
      </p:sp>
      <p:pic>
        <p:nvPicPr>
          <p:cNvPr id="3" name="Picture 2"/>
          <p:cNvPicPr>
            <a:picLocks noChangeAspect="1"/>
          </p:cNvPicPr>
          <p:nvPr/>
        </p:nvPicPr>
        <p:blipFill>
          <a:blip r:embed="rId2"/>
          <a:stretch>
            <a:fillRect/>
          </a:stretch>
        </p:blipFill>
        <p:spPr>
          <a:xfrm>
            <a:off x="101504" y="806948"/>
            <a:ext cx="3390900" cy="1847850"/>
          </a:xfrm>
          <a:prstGeom prst="rect">
            <a:avLst/>
          </a:prstGeom>
        </p:spPr>
      </p:pic>
      <p:pic>
        <p:nvPicPr>
          <p:cNvPr id="5" name="Picture 4"/>
          <p:cNvPicPr>
            <a:picLocks noChangeAspect="1"/>
          </p:cNvPicPr>
          <p:nvPr/>
        </p:nvPicPr>
        <p:blipFill>
          <a:blip r:embed="rId3"/>
          <a:stretch>
            <a:fillRect/>
          </a:stretch>
        </p:blipFill>
        <p:spPr>
          <a:xfrm>
            <a:off x="344391" y="2654798"/>
            <a:ext cx="2905125" cy="2781300"/>
          </a:xfrm>
          <a:prstGeom prst="rect">
            <a:avLst/>
          </a:prstGeom>
        </p:spPr>
      </p:pic>
      <p:sp>
        <p:nvSpPr>
          <p:cNvPr id="6" name="Rectangle 5"/>
          <p:cNvSpPr/>
          <p:nvPr/>
        </p:nvSpPr>
        <p:spPr>
          <a:xfrm>
            <a:off x="4492637" y="437616"/>
            <a:ext cx="3315908" cy="369332"/>
          </a:xfrm>
          <a:prstGeom prst="rect">
            <a:avLst/>
          </a:prstGeom>
        </p:spPr>
        <p:txBody>
          <a:bodyPr wrap="none">
            <a:spAutoFit/>
          </a:bodyPr>
          <a:lstStyle/>
          <a:p>
            <a:r>
              <a:rPr lang="en-US" dirty="0"/>
              <a:t>Wi-Fi Spectrum around the world</a:t>
            </a:r>
          </a:p>
        </p:txBody>
      </p:sp>
      <p:pic>
        <p:nvPicPr>
          <p:cNvPr id="7" name="Picture 6"/>
          <p:cNvPicPr>
            <a:picLocks noChangeAspect="1"/>
          </p:cNvPicPr>
          <p:nvPr/>
        </p:nvPicPr>
        <p:blipFill>
          <a:blip r:embed="rId4"/>
          <a:stretch>
            <a:fillRect/>
          </a:stretch>
        </p:blipFill>
        <p:spPr>
          <a:xfrm>
            <a:off x="4159344" y="899281"/>
            <a:ext cx="5886450" cy="3028950"/>
          </a:xfrm>
          <a:prstGeom prst="rect">
            <a:avLst/>
          </a:prstGeom>
        </p:spPr>
      </p:pic>
    </p:spTree>
    <p:extLst>
      <p:ext uri="{BB962C8B-B14F-4D97-AF65-F5344CB8AC3E}">
        <p14:creationId xmlns:p14="http://schemas.microsoft.com/office/powerpoint/2010/main" val="1392937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4049"/>
            <a:ext cx="12010030" cy="461665"/>
          </a:xfrm>
          <a:prstGeom prst="rect">
            <a:avLst/>
          </a:prstGeom>
        </p:spPr>
        <p:txBody>
          <a:bodyPr wrap="square">
            <a:spAutoFit/>
          </a:bodyPr>
          <a:lstStyle/>
          <a:p>
            <a:r>
              <a:rPr lang="en-US" sz="2400" b="1" dirty="0">
                <a:solidFill>
                  <a:srgbClr val="002060"/>
                </a:solidFill>
              </a:rPr>
              <a:t>Cisco Packet </a:t>
            </a:r>
            <a:r>
              <a:rPr lang="en-US" sz="2400" b="1" dirty="0" smtClean="0">
                <a:solidFill>
                  <a:srgbClr val="002060"/>
                </a:solidFill>
              </a:rPr>
              <a:t>Tracer: </a:t>
            </a:r>
            <a:r>
              <a:rPr lang="en-US" sz="2400" b="1" dirty="0" smtClean="0">
                <a:solidFill>
                  <a:srgbClr val="00B0F0"/>
                </a:solidFill>
              </a:rPr>
              <a:t>Mobile Tower Network 5G LTE Tech</a:t>
            </a:r>
            <a:endParaRPr lang="en-US" sz="2000" b="1" dirty="0">
              <a:solidFill>
                <a:srgbClr val="7030A0"/>
              </a:solidFill>
            </a:endParaRPr>
          </a:p>
        </p:txBody>
      </p:sp>
      <p:sp>
        <p:nvSpPr>
          <p:cNvPr id="2" name="Rectangle 1"/>
          <p:cNvSpPr/>
          <p:nvPr/>
        </p:nvSpPr>
        <p:spPr>
          <a:xfrm>
            <a:off x="127379" y="590603"/>
            <a:ext cx="4280848" cy="4801314"/>
          </a:xfrm>
          <a:prstGeom prst="rect">
            <a:avLst/>
          </a:prstGeom>
        </p:spPr>
        <p:txBody>
          <a:bodyPr wrap="square">
            <a:spAutoFit/>
          </a:bodyPr>
          <a:lstStyle/>
          <a:p>
            <a:pPr algn="just"/>
            <a:r>
              <a:rPr lang="en-US" dirty="0"/>
              <a:t>Bandwidth in mobile networks</a:t>
            </a:r>
          </a:p>
          <a:p>
            <a:r>
              <a:rPr lang="en-US" dirty="0"/>
              <a:t> The simplest way to understand bandwidth is to think of them as pipes. </a:t>
            </a:r>
            <a:endParaRPr lang="en-US" dirty="0" smtClean="0"/>
          </a:p>
          <a:p>
            <a:r>
              <a:rPr lang="en-US" dirty="0" smtClean="0"/>
              <a:t>The fatter </a:t>
            </a:r>
            <a:r>
              <a:rPr lang="en-US" dirty="0"/>
              <a:t>the pipe, the more the </a:t>
            </a:r>
            <a:r>
              <a:rPr lang="en-US" dirty="0" smtClean="0"/>
              <a:t>bandwidth: </a:t>
            </a:r>
          </a:p>
          <a:p>
            <a:r>
              <a:rPr lang="en-US" dirty="0"/>
              <a:t>Latency is generally defined as the time it takes for a source to send a packet of data to a receiver. In simple terms, half of Ping time. </a:t>
            </a:r>
            <a:endParaRPr lang="en-US" dirty="0" smtClean="0"/>
          </a:p>
          <a:p>
            <a:r>
              <a:rPr lang="en-US" dirty="0" smtClean="0"/>
              <a:t>This </a:t>
            </a:r>
            <a:r>
              <a:rPr lang="en-US" dirty="0"/>
              <a:t>is also referred to as one way latency. Sometimes the term Round trip latency or round trip time (RTT) is also used to define latency. </a:t>
            </a:r>
            <a:endParaRPr lang="en-US" dirty="0" smtClean="0"/>
          </a:p>
          <a:p>
            <a:r>
              <a:rPr lang="en-US" dirty="0" smtClean="0"/>
              <a:t>This </a:t>
            </a:r>
            <a:r>
              <a:rPr lang="en-US" dirty="0"/>
              <a:t>is the same as ping time. Jitter is defined as the variation in the delay (or latency) of received packets. It is also referred to as ‘delay jitter’</a:t>
            </a:r>
          </a:p>
        </p:txBody>
      </p:sp>
      <p:pic>
        <p:nvPicPr>
          <p:cNvPr id="3" name="Picture 2"/>
          <p:cNvPicPr>
            <a:picLocks noChangeAspect="1"/>
          </p:cNvPicPr>
          <p:nvPr/>
        </p:nvPicPr>
        <p:blipFill>
          <a:blip r:embed="rId2"/>
          <a:stretch>
            <a:fillRect/>
          </a:stretch>
        </p:blipFill>
        <p:spPr>
          <a:xfrm>
            <a:off x="4408227" y="590603"/>
            <a:ext cx="4848225" cy="2667000"/>
          </a:xfrm>
          <a:prstGeom prst="rect">
            <a:avLst/>
          </a:prstGeom>
        </p:spPr>
      </p:pic>
    </p:spTree>
    <p:extLst>
      <p:ext uri="{BB962C8B-B14F-4D97-AF65-F5344CB8AC3E}">
        <p14:creationId xmlns:p14="http://schemas.microsoft.com/office/powerpoint/2010/main" val="3296441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4049"/>
            <a:ext cx="12010030" cy="461665"/>
          </a:xfrm>
          <a:prstGeom prst="rect">
            <a:avLst/>
          </a:prstGeom>
        </p:spPr>
        <p:txBody>
          <a:bodyPr wrap="square">
            <a:spAutoFit/>
          </a:bodyPr>
          <a:lstStyle/>
          <a:p>
            <a:r>
              <a:rPr lang="en-US" sz="2400" b="1" dirty="0">
                <a:solidFill>
                  <a:srgbClr val="002060"/>
                </a:solidFill>
              </a:rPr>
              <a:t>Cisco Packet </a:t>
            </a:r>
            <a:r>
              <a:rPr lang="en-US" sz="2400" b="1" dirty="0" smtClean="0">
                <a:solidFill>
                  <a:srgbClr val="002060"/>
                </a:solidFill>
              </a:rPr>
              <a:t>Tracer: </a:t>
            </a:r>
            <a:r>
              <a:rPr lang="en-US" sz="2400" b="1" dirty="0" smtClean="0">
                <a:solidFill>
                  <a:srgbClr val="00B0F0"/>
                </a:solidFill>
              </a:rPr>
              <a:t>Mobile Tower Network 5G LTE Tech</a:t>
            </a:r>
            <a:endParaRPr lang="en-US" sz="2000" b="1" dirty="0">
              <a:solidFill>
                <a:srgbClr val="7030A0"/>
              </a:solidFill>
            </a:endParaRPr>
          </a:p>
        </p:txBody>
      </p:sp>
      <p:sp>
        <p:nvSpPr>
          <p:cNvPr id="2" name="Rectangle 1"/>
          <p:cNvSpPr/>
          <p:nvPr/>
        </p:nvSpPr>
        <p:spPr>
          <a:xfrm>
            <a:off x="314456" y="760441"/>
            <a:ext cx="2009653" cy="369332"/>
          </a:xfrm>
          <a:prstGeom prst="rect">
            <a:avLst/>
          </a:prstGeom>
        </p:spPr>
        <p:txBody>
          <a:bodyPr wrap="none">
            <a:spAutoFit/>
          </a:bodyPr>
          <a:lstStyle/>
          <a:p>
            <a:r>
              <a:rPr lang="en-US" dirty="0"/>
              <a:t>Types of Small Cells</a:t>
            </a:r>
          </a:p>
        </p:txBody>
      </p:sp>
      <p:pic>
        <p:nvPicPr>
          <p:cNvPr id="3" name="Picture 2"/>
          <p:cNvPicPr>
            <a:picLocks noChangeAspect="1"/>
          </p:cNvPicPr>
          <p:nvPr/>
        </p:nvPicPr>
        <p:blipFill>
          <a:blip r:embed="rId2"/>
          <a:stretch>
            <a:fillRect/>
          </a:stretch>
        </p:blipFill>
        <p:spPr>
          <a:xfrm>
            <a:off x="138823" y="1452598"/>
            <a:ext cx="4162425" cy="2667000"/>
          </a:xfrm>
          <a:prstGeom prst="rect">
            <a:avLst/>
          </a:prstGeom>
        </p:spPr>
      </p:pic>
      <p:pic>
        <p:nvPicPr>
          <p:cNvPr id="5" name="Picture 4"/>
          <p:cNvPicPr>
            <a:picLocks noChangeAspect="1"/>
          </p:cNvPicPr>
          <p:nvPr/>
        </p:nvPicPr>
        <p:blipFill>
          <a:blip r:embed="rId3"/>
          <a:stretch>
            <a:fillRect/>
          </a:stretch>
        </p:blipFill>
        <p:spPr>
          <a:xfrm>
            <a:off x="4716935" y="437616"/>
            <a:ext cx="4181540" cy="4009990"/>
          </a:xfrm>
          <a:prstGeom prst="rect">
            <a:avLst/>
          </a:prstGeom>
        </p:spPr>
      </p:pic>
    </p:spTree>
    <p:extLst>
      <p:ext uri="{BB962C8B-B14F-4D97-AF65-F5344CB8AC3E}">
        <p14:creationId xmlns:p14="http://schemas.microsoft.com/office/powerpoint/2010/main" val="3685234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4049"/>
            <a:ext cx="12010030" cy="461665"/>
          </a:xfrm>
          <a:prstGeom prst="rect">
            <a:avLst/>
          </a:prstGeom>
        </p:spPr>
        <p:txBody>
          <a:bodyPr wrap="square">
            <a:spAutoFit/>
          </a:bodyPr>
          <a:lstStyle/>
          <a:p>
            <a:r>
              <a:rPr lang="en-US" sz="2400" b="1" dirty="0">
                <a:solidFill>
                  <a:srgbClr val="002060"/>
                </a:solidFill>
              </a:rPr>
              <a:t>Cisco Packet </a:t>
            </a:r>
            <a:r>
              <a:rPr lang="en-US" sz="2400" b="1" dirty="0" smtClean="0">
                <a:solidFill>
                  <a:srgbClr val="002060"/>
                </a:solidFill>
              </a:rPr>
              <a:t>Tracer: </a:t>
            </a:r>
            <a:r>
              <a:rPr lang="en-US" sz="2400" b="1" dirty="0" smtClean="0">
                <a:solidFill>
                  <a:srgbClr val="00B0F0"/>
                </a:solidFill>
              </a:rPr>
              <a:t>Mobile Tower Network 5G LTE Tech</a:t>
            </a:r>
            <a:endParaRPr lang="en-US" sz="2000" b="1" dirty="0">
              <a:solidFill>
                <a:srgbClr val="7030A0"/>
              </a:solidFill>
            </a:endParaRPr>
          </a:p>
        </p:txBody>
      </p:sp>
      <p:sp>
        <p:nvSpPr>
          <p:cNvPr id="2" name="Rectangle 1"/>
          <p:cNvSpPr/>
          <p:nvPr/>
        </p:nvSpPr>
        <p:spPr>
          <a:xfrm>
            <a:off x="136441" y="705850"/>
            <a:ext cx="2147319" cy="369332"/>
          </a:xfrm>
          <a:prstGeom prst="rect">
            <a:avLst/>
          </a:prstGeom>
        </p:spPr>
        <p:txBody>
          <a:bodyPr wrap="none">
            <a:spAutoFit/>
          </a:bodyPr>
          <a:lstStyle/>
          <a:p>
            <a:r>
              <a:rPr lang="en-US" dirty="0"/>
              <a:t>Cellular V2X Concept</a:t>
            </a:r>
          </a:p>
        </p:txBody>
      </p:sp>
      <p:pic>
        <p:nvPicPr>
          <p:cNvPr id="3" name="Picture 2"/>
          <p:cNvPicPr>
            <a:picLocks noChangeAspect="1"/>
          </p:cNvPicPr>
          <p:nvPr/>
        </p:nvPicPr>
        <p:blipFill>
          <a:blip r:embed="rId2"/>
          <a:stretch>
            <a:fillRect/>
          </a:stretch>
        </p:blipFill>
        <p:spPr>
          <a:xfrm>
            <a:off x="282551" y="1075182"/>
            <a:ext cx="8664075" cy="3865308"/>
          </a:xfrm>
          <a:prstGeom prst="rect">
            <a:avLst/>
          </a:prstGeom>
        </p:spPr>
      </p:pic>
    </p:spTree>
    <p:extLst>
      <p:ext uri="{BB962C8B-B14F-4D97-AF65-F5344CB8AC3E}">
        <p14:creationId xmlns:p14="http://schemas.microsoft.com/office/powerpoint/2010/main" val="895336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4049"/>
            <a:ext cx="12010030" cy="461665"/>
          </a:xfrm>
          <a:prstGeom prst="rect">
            <a:avLst/>
          </a:prstGeom>
        </p:spPr>
        <p:txBody>
          <a:bodyPr wrap="square">
            <a:spAutoFit/>
          </a:bodyPr>
          <a:lstStyle/>
          <a:p>
            <a:r>
              <a:rPr lang="en-US" sz="2400" b="1" dirty="0">
                <a:solidFill>
                  <a:srgbClr val="002060"/>
                </a:solidFill>
              </a:rPr>
              <a:t>Cisco Packet </a:t>
            </a:r>
            <a:r>
              <a:rPr lang="en-US" sz="2400" b="1" dirty="0" smtClean="0">
                <a:solidFill>
                  <a:srgbClr val="002060"/>
                </a:solidFill>
              </a:rPr>
              <a:t>Tracer: </a:t>
            </a:r>
            <a:r>
              <a:rPr lang="en-US" sz="2400" b="1" dirty="0" smtClean="0">
                <a:solidFill>
                  <a:srgbClr val="00B0F0"/>
                </a:solidFill>
              </a:rPr>
              <a:t>Mobile Tower Network 5G LTE Tech</a:t>
            </a:r>
            <a:endParaRPr lang="en-US" sz="2000" b="1" dirty="0">
              <a:solidFill>
                <a:srgbClr val="7030A0"/>
              </a:solidFill>
            </a:endParaRPr>
          </a:p>
        </p:txBody>
      </p:sp>
      <p:sp>
        <p:nvSpPr>
          <p:cNvPr id="2" name="Rectangle 1"/>
          <p:cNvSpPr/>
          <p:nvPr/>
        </p:nvSpPr>
        <p:spPr>
          <a:xfrm>
            <a:off x="159996" y="651259"/>
            <a:ext cx="4174669" cy="369332"/>
          </a:xfrm>
          <a:prstGeom prst="rect">
            <a:avLst/>
          </a:prstGeom>
        </p:spPr>
        <p:txBody>
          <a:bodyPr wrap="none">
            <a:spAutoFit/>
          </a:bodyPr>
          <a:lstStyle/>
          <a:p>
            <a:r>
              <a:rPr lang="en-US" dirty="0"/>
              <a:t>5G Connected Car: In-vehicle infotainment</a:t>
            </a:r>
          </a:p>
        </p:txBody>
      </p:sp>
      <p:pic>
        <p:nvPicPr>
          <p:cNvPr id="3" name="Picture 2"/>
          <p:cNvPicPr>
            <a:picLocks noChangeAspect="1"/>
          </p:cNvPicPr>
          <p:nvPr/>
        </p:nvPicPr>
        <p:blipFill>
          <a:blip r:embed="rId2"/>
          <a:stretch>
            <a:fillRect/>
          </a:stretch>
        </p:blipFill>
        <p:spPr>
          <a:xfrm>
            <a:off x="787945" y="1122386"/>
            <a:ext cx="8144373" cy="3818104"/>
          </a:xfrm>
          <a:prstGeom prst="rect">
            <a:avLst/>
          </a:prstGeom>
        </p:spPr>
      </p:pic>
    </p:spTree>
    <p:extLst>
      <p:ext uri="{BB962C8B-B14F-4D97-AF65-F5344CB8AC3E}">
        <p14:creationId xmlns:p14="http://schemas.microsoft.com/office/powerpoint/2010/main" val="2659358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4049"/>
            <a:ext cx="12010030" cy="461665"/>
          </a:xfrm>
          <a:prstGeom prst="rect">
            <a:avLst/>
          </a:prstGeom>
        </p:spPr>
        <p:txBody>
          <a:bodyPr wrap="square">
            <a:spAutoFit/>
          </a:bodyPr>
          <a:lstStyle/>
          <a:p>
            <a:r>
              <a:rPr lang="en-US" sz="2400" b="1" dirty="0">
                <a:solidFill>
                  <a:srgbClr val="002060"/>
                </a:solidFill>
              </a:rPr>
              <a:t>Cisco Packet </a:t>
            </a:r>
            <a:r>
              <a:rPr lang="en-US" sz="2400" b="1" dirty="0" smtClean="0">
                <a:solidFill>
                  <a:srgbClr val="002060"/>
                </a:solidFill>
              </a:rPr>
              <a:t>Tracer: </a:t>
            </a:r>
            <a:r>
              <a:rPr lang="en-US" sz="2400" b="1" dirty="0" smtClean="0">
                <a:solidFill>
                  <a:srgbClr val="00B0F0"/>
                </a:solidFill>
              </a:rPr>
              <a:t>Mobile Tower Network 5G LTE Tech</a:t>
            </a:r>
            <a:endParaRPr lang="en-US" sz="2000" b="1" dirty="0">
              <a:solidFill>
                <a:srgbClr val="7030A0"/>
              </a:solidFill>
            </a:endParaRPr>
          </a:p>
        </p:txBody>
      </p:sp>
      <p:sp>
        <p:nvSpPr>
          <p:cNvPr id="2" name="Rectangle 1"/>
          <p:cNvSpPr/>
          <p:nvPr/>
        </p:nvSpPr>
        <p:spPr>
          <a:xfrm>
            <a:off x="117811" y="637611"/>
            <a:ext cx="3549177" cy="369332"/>
          </a:xfrm>
          <a:prstGeom prst="rect">
            <a:avLst/>
          </a:prstGeom>
        </p:spPr>
        <p:txBody>
          <a:bodyPr wrap="none">
            <a:spAutoFit/>
          </a:bodyPr>
          <a:lstStyle/>
          <a:p>
            <a:r>
              <a:rPr lang="en-US" dirty="0"/>
              <a:t>5G Autonomous Driving: </a:t>
            </a:r>
            <a:r>
              <a:rPr lang="en-US" dirty="0" smtClean="0"/>
              <a:t>Platooning</a:t>
            </a:r>
            <a:endParaRPr lang="en-US" dirty="0"/>
          </a:p>
        </p:txBody>
      </p:sp>
      <p:sp>
        <p:nvSpPr>
          <p:cNvPr id="3" name="Rectangle 2"/>
          <p:cNvSpPr/>
          <p:nvPr/>
        </p:nvSpPr>
        <p:spPr>
          <a:xfrm>
            <a:off x="222913" y="6211669"/>
            <a:ext cx="11787117" cy="646331"/>
          </a:xfrm>
          <a:prstGeom prst="rect">
            <a:avLst/>
          </a:prstGeom>
        </p:spPr>
        <p:txBody>
          <a:bodyPr wrap="square">
            <a:spAutoFit/>
          </a:bodyPr>
          <a:lstStyle/>
          <a:p>
            <a:pPr algn="just"/>
            <a:r>
              <a:rPr lang="en-US" dirty="0"/>
              <a:t>5G is the most promising enabler of truck platooning in which long convoys of trucks are automatically governed and require only a single driver in the lead vehicle </a:t>
            </a:r>
          </a:p>
        </p:txBody>
      </p:sp>
      <p:pic>
        <p:nvPicPr>
          <p:cNvPr id="5" name="Picture 4"/>
          <p:cNvPicPr>
            <a:picLocks noChangeAspect="1"/>
          </p:cNvPicPr>
          <p:nvPr/>
        </p:nvPicPr>
        <p:blipFill>
          <a:blip r:embed="rId2"/>
          <a:stretch>
            <a:fillRect/>
          </a:stretch>
        </p:blipFill>
        <p:spPr>
          <a:xfrm>
            <a:off x="755095" y="1206938"/>
            <a:ext cx="10499839" cy="4737050"/>
          </a:xfrm>
          <a:prstGeom prst="rect">
            <a:avLst/>
          </a:prstGeom>
        </p:spPr>
      </p:pic>
    </p:spTree>
    <p:extLst>
      <p:ext uri="{BB962C8B-B14F-4D97-AF65-F5344CB8AC3E}">
        <p14:creationId xmlns:p14="http://schemas.microsoft.com/office/powerpoint/2010/main" val="1404493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4049"/>
            <a:ext cx="12010030" cy="461665"/>
          </a:xfrm>
          <a:prstGeom prst="rect">
            <a:avLst/>
          </a:prstGeom>
        </p:spPr>
        <p:txBody>
          <a:bodyPr wrap="square">
            <a:spAutoFit/>
          </a:bodyPr>
          <a:lstStyle/>
          <a:p>
            <a:r>
              <a:rPr lang="en-US" sz="2400" b="1" dirty="0">
                <a:solidFill>
                  <a:srgbClr val="002060"/>
                </a:solidFill>
              </a:rPr>
              <a:t>Cisco Packet </a:t>
            </a:r>
            <a:r>
              <a:rPr lang="en-US" sz="2400" b="1" dirty="0" smtClean="0">
                <a:solidFill>
                  <a:srgbClr val="002060"/>
                </a:solidFill>
              </a:rPr>
              <a:t>Tracer: </a:t>
            </a:r>
            <a:r>
              <a:rPr lang="en-US" sz="2400" b="1" dirty="0" smtClean="0">
                <a:solidFill>
                  <a:srgbClr val="00B0F0"/>
                </a:solidFill>
              </a:rPr>
              <a:t>Mobile Tower Network 5G LTE Tech</a:t>
            </a:r>
            <a:endParaRPr lang="en-US" sz="2000" b="1" dirty="0">
              <a:solidFill>
                <a:srgbClr val="7030A0"/>
              </a:solidFill>
            </a:endParaRPr>
          </a:p>
        </p:txBody>
      </p:sp>
      <p:sp>
        <p:nvSpPr>
          <p:cNvPr id="2" name="Rectangle 1"/>
          <p:cNvSpPr/>
          <p:nvPr/>
        </p:nvSpPr>
        <p:spPr>
          <a:xfrm>
            <a:off x="155343" y="651259"/>
            <a:ext cx="3665362" cy="369332"/>
          </a:xfrm>
          <a:prstGeom prst="rect">
            <a:avLst/>
          </a:prstGeom>
        </p:spPr>
        <p:txBody>
          <a:bodyPr wrap="none">
            <a:spAutoFit/>
          </a:bodyPr>
          <a:lstStyle/>
          <a:p>
            <a:r>
              <a:rPr lang="en-US" dirty="0"/>
              <a:t>5GS Service Based Architecture (SBA)</a:t>
            </a:r>
          </a:p>
        </p:txBody>
      </p:sp>
      <p:pic>
        <p:nvPicPr>
          <p:cNvPr id="5" name="Picture 4"/>
          <p:cNvPicPr>
            <a:picLocks noChangeAspect="1"/>
          </p:cNvPicPr>
          <p:nvPr/>
        </p:nvPicPr>
        <p:blipFill>
          <a:blip r:embed="rId3"/>
          <a:stretch>
            <a:fillRect/>
          </a:stretch>
        </p:blipFill>
        <p:spPr>
          <a:xfrm>
            <a:off x="442558" y="922281"/>
            <a:ext cx="3760953" cy="2248231"/>
          </a:xfrm>
          <a:prstGeom prst="rect">
            <a:avLst/>
          </a:prstGeom>
        </p:spPr>
      </p:pic>
      <p:sp>
        <p:nvSpPr>
          <p:cNvPr id="6" name="Rectangle 5"/>
          <p:cNvSpPr/>
          <p:nvPr/>
        </p:nvSpPr>
        <p:spPr>
          <a:xfrm>
            <a:off x="155342" y="5100429"/>
            <a:ext cx="1796287" cy="584775"/>
          </a:xfrm>
          <a:prstGeom prst="rect">
            <a:avLst/>
          </a:prstGeom>
        </p:spPr>
        <p:txBody>
          <a:bodyPr wrap="square">
            <a:spAutoFit/>
          </a:bodyPr>
          <a:lstStyle/>
          <a:p>
            <a:r>
              <a:rPr lang="en-US" sz="800" dirty="0"/>
              <a:t>NF – Network Function SBI – Service Based Interface SBA – Service Based </a:t>
            </a:r>
            <a:r>
              <a:rPr lang="en-US" sz="800" dirty="0" smtClean="0"/>
              <a:t>Architecture</a:t>
            </a:r>
          </a:p>
          <a:p>
            <a:r>
              <a:rPr lang="en-US" sz="800" dirty="0" smtClean="0"/>
              <a:t>Baseband </a:t>
            </a:r>
            <a:r>
              <a:rPr lang="en-US" sz="800" dirty="0"/>
              <a:t>Unit (BBU)</a:t>
            </a:r>
          </a:p>
        </p:txBody>
      </p:sp>
      <p:pic>
        <p:nvPicPr>
          <p:cNvPr id="7" name="Picture 6"/>
          <p:cNvPicPr>
            <a:picLocks noChangeAspect="1"/>
          </p:cNvPicPr>
          <p:nvPr/>
        </p:nvPicPr>
        <p:blipFill>
          <a:blip r:embed="rId4"/>
          <a:stretch>
            <a:fillRect/>
          </a:stretch>
        </p:blipFill>
        <p:spPr>
          <a:xfrm>
            <a:off x="5903819" y="1106947"/>
            <a:ext cx="3801683" cy="1717664"/>
          </a:xfrm>
          <a:prstGeom prst="rect">
            <a:avLst/>
          </a:prstGeom>
        </p:spPr>
      </p:pic>
      <p:sp>
        <p:nvSpPr>
          <p:cNvPr id="8" name="Rectangle 7"/>
          <p:cNvSpPr/>
          <p:nvPr/>
        </p:nvSpPr>
        <p:spPr>
          <a:xfrm>
            <a:off x="5903819" y="737615"/>
            <a:ext cx="4069256" cy="369332"/>
          </a:xfrm>
          <a:prstGeom prst="rect">
            <a:avLst/>
          </a:prstGeom>
        </p:spPr>
        <p:txBody>
          <a:bodyPr wrap="none">
            <a:spAutoFit/>
          </a:bodyPr>
          <a:lstStyle/>
          <a:p>
            <a:r>
              <a:rPr lang="en-US" dirty="0"/>
              <a:t>Centralized RAN (C-RAN) / BBU </a:t>
            </a:r>
            <a:r>
              <a:rPr lang="en-US" dirty="0" err="1"/>
              <a:t>Hostelling</a:t>
            </a:r>
            <a:endParaRPr lang="en-US" dirty="0"/>
          </a:p>
        </p:txBody>
      </p:sp>
      <p:pic>
        <p:nvPicPr>
          <p:cNvPr id="9" name="Picture 8"/>
          <p:cNvPicPr>
            <a:picLocks noChangeAspect="1"/>
          </p:cNvPicPr>
          <p:nvPr/>
        </p:nvPicPr>
        <p:blipFill>
          <a:blip r:embed="rId5"/>
          <a:stretch>
            <a:fillRect/>
          </a:stretch>
        </p:blipFill>
        <p:spPr>
          <a:xfrm>
            <a:off x="2077897" y="3879305"/>
            <a:ext cx="5514975" cy="2238375"/>
          </a:xfrm>
          <a:prstGeom prst="rect">
            <a:avLst/>
          </a:prstGeom>
        </p:spPr>
      </p:pic>
    </p:spTree>
    <p:extLst>
      <p:ext uri="{BB962C8B-B14F-4D97-AF65-F5344CB8AC3E}">
        <p14:creationId xmlns:p14="http://schemas.microsoft.com/office/powerpoint/2010/main" val="3240499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22172" y="828602"/>
            <a:ext cx="9066036" cy="4644150"/>
          </a:xfrm>
          <a:prstGeom prst="rect">
            <a:avLst/>
          </a:prstGeom>
        </p:spPr>
      </p:pic>
      <p:sp>
        <p:nvSpPr>
          <p:cNvPr id="5" name="Rectangle 4"/>
          <p:cNvSpPr/>
          <p:nvPr/>
        </p:nvSpPr>
        <p:spPr>
          <a:xfrm>
            <a:off x="0" y="-24049"/>
            <a:ext cx="12010030" cy="461665"/>
          </a:xfrm>
          <a:prstGeom prst="rect">
            <a:avLst/>
          </a:prstGeom>
        </p:spPr>
        <p:txBody>
          <a:bodyPr wrap="square">
            <a:spAutoFit/>
          </a:bodyPr>
          <a:lstStyle/>
          <a:p>
            <a:r>
              <a:rPr lang="en-US" sz="2400" b="1" dirty="0">
                <a:solidFill>
                  <a:srgbClr val="002060"/>
                </a:solidFill>
              </a:rPr>
              <a:t>Cisco Packet </a:t>
            </a:r>
            <a:r>
              <a:rPr lang="en-US" sz="2400" b="1" dirty="0" smtClean="0">
                <a:solidFill>
                  <a:srgbClr val="002060"/>
                </a:solidFill>
              </a:rPr>
              <a:t>Tracer: </a:t>
            </a:r>
            <a:r>
              <a:rPr lang="en-US" sz="2400" b="1" dirty="0" smtClean="0">
                <a:solidFill>
                  <a:srgbClr val="00B0F0"/>
                </a:solidFill>
              </a:rPr>
              <a:t>Mobile Tower Network 5G LTE Tech</a:t>
            </a:r>
            <a:endParaRPr lang="en-US" sz="2000" b="1" dirty="0">
              <a:solidFill>
                <a:srgbClr val="7030A0"/>
              </a:solidFill>
            </a:endParaRPr>
          </a:p>
        </p:txBody>
      </p:sp>
      <p:sp>
        <p:nvSpPr>
          <p:cNvPr id="6" name="Rectangle 5"/>
          <p:cNvSpPr/>
          <p:nvPr/>
        </p:nvSpPr>
        <p:spPr>
          <a:xfrm>
            <a:off x="1075652" y="5960239"/>
            <a:ext cx="4929363" cy="646331"/>
          </a:xfrm>
          <a:prstGeom prst="rect">
            <a:avLst/>
          </a:prstGeom>
        </p:spPr>
        <p:txBody>
          <a:bodyPr wrap="none">
            <a:spAutoFit/>
          </a:bodyPr>
          <a:lstStyle/>
          <a:p>
            <a:r>
              <a:rPr lang="en-US" dirty="0" err="1" smtClean="0"/>
              <a:t>Youtube</a:t>
            </a:r>
            <a:r>
              <a:rPr lang="en-US" dirty="0" smtClean="0"/>
              <a:t> L @</a:t>
            </a:r>
            <a:r>
              <a:rPr lang="en-US" dirty="0" err="1" smtClean="0"/>
              <a:t>AmelOline</a:t>
            </a:r>
            <a:endParaRPr lang="en-US" dirty="0" smtClean="0"/>
          </a:p>
          <a:p>
            <a:r>
              <a:rPr lang="en-US" dirty="0" smtClean="0"/>
              <a:t>https</a:t>
            </a:r>
            <a:r>
              <a:rPr lang="en-US" dirty="0"/>
              <a:t>://www.youtube.com/watch?v=vuO7QuaKLIg</a:t>
            </a:r>
          </a:p>
        </p:txBody>
      </p:sp>
    </p:spTree>
    <p:extLst>
      <p:ext uri="{BB962C8B-B14F-4D97-AF65-F5344CB8AC3E}">
        <p14:creationId xmlns:p14="http://schemas.microsoft.com/office/powerpoint/2010/main" val="2719302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4B310-956B-4986-B649-6C84FE0800FB}"/>
              </a:ext>
            </a:extLst>
          </p:cNvPr>
          <p:cNvSpPr>
            <a:spLocks noGrp="1"/>
          </p:cNvSpPr>
          <p:nvPr>
            <p:ph type="title"/>
          </p:nvPr>
        </p:nvSpPr>
        <p:spPr>
          <a:xfrm>
            <a:off x="1086643" y="2286000"/>
            <a:ext cx="10018713" cy="1752599"/>
          </a:xfrm>
        </p:spPr>
        <p:txBody>
          <a:bodyPr>
            <a:normAutofit/>
          </a:bodyPr>
          <a:lstStyle/>
          <a:p>
            <a:r>
              <a:rPr lang="en-IN" sz="6600" dirty="0">
                <a:solidFill>
                  <a:schemeClr val="accent4"/>
                </a:solidFill>
              </a:rPr>
              <a:t>Thank You</a:t>
            </a:r>
          </a:p>
        </p:txBody>
      </p:sp>
    </p:spTree>
    <p:extLst>
      <p:ext uri="{BB962C8B-B14F-4D97-AF65-F5344CB8AC3E}">
        <p14:creationId xmlns:p14="http://schemas.microsoft.com/office/powerpoint/2010/main" val="40910085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6141</TotalTime>
  <Words>785</Words>
  <Application>Microsoft Office PowerPoint</Application>
  <PresentationFormat>Widescreen</PresentationFormat>
  <Paragraphs>78</Paragraphs>
  <Slides>15</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Malgun Gothic</vt: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7  Uncertainty Estimation in Medical Image Deep Learning w/ Dr. Brattain</dc:title>
  <dc:creator>pds</dc:creator>
  <cp:lastModifiedBy>Gde</cp:lastModifiedBy>
  <cp:revision>40</cp:revision>
  <dcterms:created xsi:type="dcterms:W3CDTF">2024-07-11T17:06:45Z</dcterms:created>
  <dcterms:modified xsi:type="dcterms:W3CDTF">2024-10-08T06:18:19Z</dcterms:modified>
</cp:coreProperties>
</file>